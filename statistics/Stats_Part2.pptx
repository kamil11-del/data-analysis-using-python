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2h</c:v>
                </c:pt>
                <c:pt idx="1">
                  <c:v>3h</c:v>
                </c:pt>
                <c:pt idx="2">
                  <c:v>4h</c:v>
                </c:pt>
                <c:pt idx="3">
                  <c:v>5h</c:v>
                </c:pt>
                <c:pt idx="4">
                  <c:v>6h</c:v>
                </c:pt>
                <c:pt idx="5">
                  <c:v>7h</c:v>
                </c:pt>
                <c:pt idx="6">
                  <c:v>8h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45</c:v>
                </c:pt>
                <c:pt idx="1">
                  <c:v>55</c:v>
                </c:pt>
                <c:pt idx="2">
                  <c:v>62</c:v>
                </c:pt>
                <c:pt idx="3">
                  <c:v>70</c:v>
                </c:pt>
                <c:pt idx="4">
                  <c:v>75</c:v>
                </c:pt>
                <c:pt idx="5">
                  <c:v>82</c:v>
                </c:pt>
                <c:pt idx="6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6B-4F84-81FC-99F2E263C8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AFA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38</c:v>
                </c:pt>
                <c:pt idx="1">
                  <c:v>39</c:v>
                </c:pt>
                <c:pt idx="2">
                  <c:v>40</c:v>
                </c:pt>
                <c:pt idx="3">
                  <c:v>41</c:v>
                </c:pt>
                <c:pt idx="4">
                  <c:v>42</c:v>
                </c:pt>
                <c:pt idx="5">
                  <c:v>43</c:v>
                </c:pt>
                <c:pt idx="6">
                  <c:v>44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</c:v>
                </c:pt>
                <c:pt idx="1">
                  <c:v>55</c:v>
                </c:pt>
                <c:pt idx="2">
                  <c:v>82</c:v>
                </c:pt>
                <c:pt idx="3">
                  <c:v>48</c:v>
                </c:pt>
                <c:pt idx="4">
                  <c:v>75</c:v>
                </c:pt>
                <c:pt idx="5">
                  <c:v>61</c:v>
                </c:pt>
                <c:pt idx="6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97-49A0-84A9-FC9C483087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AFA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43F5E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90</c:v>
                </c:pt>
                <c:pt idx="1">
                  <c:v>82</c:v>
                </c:pt>
                <c:pt idx="2">
                  <c:v>74</c:v>
                </c:pt>
                <c:pt idx="3">
                  <c:v>65</c:v>
                </c:pt>
                <c:pt idx="4">
                  <c:v>55</c:v>
                </c:pt>
                <c:pt idx="5">
                  <c:v>45</c:v>
                </c:pt>
                <c:pt idx="6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6A-4779-A8A1-20A54828D9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AFAF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</c:v>
                </c:pt>
                <c:pt idx="1">
                  <c:v>78</c:v>
                </c:pt>
                <c:pt idx="2">
                  <c:v>80</c:v>
                </c:pt>
                <c:pt idx="3">
                  <c:v>75</c:v>
                </c:pt>
                <c:pt idx="4">
                  <c:v>82</c:v>
                </c:pt>
                <c:pt idx="5">
                  <c:v>79</c:v>
                </c:pt>
                <c:pt idx="6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F1-4E0A-B4AB-38A4A7B35F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  <c:pt idx="6">
                  <c:v>S7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65</c:v>
                </c:pt>
                <c:pt idx="1">
                  <c:v>68</c:v>
                </c:pt>
                <c:pt idx="2">
                  <c:v>70</c:v>
                </c:pt>
                <c:pt idx="3">
                  <c:v>63</c:v>
                </c:pt>
                <c:pt idx="4">
                  <c:v>72</c:v>
                </c:pt>
                <c:pt idx="5">
                  <c:v>68</c:v>
                </c:pt>
                <c:pt idx="6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13-4580-BB0A-D2941382E3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Lower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90% CI</c:v>
                </c:pt>
                <c:pt idx="1">
                  <c:v>95% CI</c:v>
                </c:pt>
                <c:pt idx="2">
                  <c:v>99% CI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3.95</c:v>
                </c:pt>
                <c:pt idx="1">
                  <c:v>3.9</c:v>
                </c:pt>
                <c:pt idx="2">
                  <c:v>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44-441B-ABF0-D840437911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90% CI</c:v>
                </c:pt>
                <c:pt idx="1">
                  <c:v>95% CI</c:v>
                </c:pt>
                <c:pt idx="2">
                  <c:v>99% CI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4.2</c:v>
                </c:pt>
                <c:pt idx="1">
                  <c:v>4.2</c:v>
                </c:pt>
                <c:pt idx="2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D44-441B-ABF0-D840437911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90% CI</c:v>
                </c:pt>
                <c:pt idx="1">
                  <c:v>95% CI</c:v>
                </c:pt>
                <c:pt idx="2">
                  <c:v>99% CI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4.45</c:v>
                </c:pt>
                <c:pt idx="1">
                  <c:v>4.5</c:v>
                </c:pt>
                <c:pt idx="2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D44-441B-ABF0-D840437911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3.5"/>
        </c:scaling>
        <c:delete val="0"/>
        <c:axPos val="l"/>
        <c:majorGridlines>
          <c:spPr>
            <a:ln w="6350" cap="flat">
              <a:solidFill>
                <a:srgbClr val="1D346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3A6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399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873" y="-498348"/>
            <a:ext cx="3492061" cy="3378708"/>
          </a:xfrm>
          <a:prstGeom prst="ellipse">
            <a:avLst/>
          </a:prstGeom>
          <a:solidFill>
            <a:schemeClr val="tx1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" y="4545199"/>
            <a:ext cx="897940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320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NAVTTC  ·  Data Analytics Using Python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048" y="7772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</a:t>
            </a:r>
            <a:endParaRPr lang="en-US" sz="5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84048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—  From Data Patterns to Business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363016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65350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2314" y="3644273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3612585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81728" y="3653503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36369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30568" y="3636948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91625" y="3653503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3474" y="4110762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" y="41148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91740" y="4122113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32888" y="4133163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81728" y="4110703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2302" y="41349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1142" y="4091074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1142" y="4094777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95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C65F115-76E6-7ED3-D77B-77B62A395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683" y="60636"/>
            <a:ext cx="2494529" cy="2271614"/>
          </a:xfrm>
          <a:prstGeom prst="rect">
            <a:avLst/>
          </a:prstGeom>
        </p:spPr>
      </p:pic>
      <p:sp>
        <p:nvSpPr>
          <p:cNvPr id="28" name="Shape 1">
            <a:extLst>
              <a:ext uri="{FF2B5EF4-FFF2-40B4-BE49-F238E27FC236}">
                <a16:creationId xmlns:a16="http://schemas.microsoft.com/office/drawing/2014/main" id="{E33A5F99-1ED0-039E-1606-0A4708DCE087}"/>
              </a:ext>
            </a:extLst>
          </p:cNvPr>
          <p:cNvSpPr/>
          <p:nvPr/>
        </p:nvSpPr>
        <p:spPr>
          <a:xfrm>
            <a:off x="4061456" y="741940"/>
            <a:ext cx="2616505" cy="262312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1A3A6E"/>
            </a:solidFill>
            <a:prstDash val="solid"/>
          </a:ln>
        </p:spPr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FEC0301-1E2E-B2F5-5C86-31C2B843D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1" y="880458"/>
            <a:ext cx="2285528" cy="2253722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7EE261F7-9BED-9C0C-BFF9-FC1F0BB05F89}"/>
              </a:ext>
            </a:extLst>
          </p:cNvPr>
          <p:cNvSpPr txBox="1"/>
          <p:nvPr/>
        </p:nvSpPr>
        <p:spPr>
          <a:xfrm>
            <a:off x="246888" y="4608003"/>
            <a:ext cx="5072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Instructure: Muhammad Kamil</a:t>
            </a:r>
          </a:p>
          <a:p>
            <a:pPr marL="0" indent="0">
              <a:buNone/>
            </a:pPr>
            <a:r>
              <a:rPr lang="en-US" sz="18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Assistant DIP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 — WHERE DOES YOUR VALUE STAND?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566928"/>
          </a:xfrm>
          <a:prstGeom prst="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Z-score tells you: </a:t>
            </a: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standard deviations is this value from the mean?"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3200400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81328"/>
            <a:ext cx="32004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81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FORMULA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" y="19202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 =  (X − μ) ÷ σ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" y="2450592"/>
            <a:ext cx="28346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your data value
</a:t>
            </a: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mean of the dataset
</a:t>
            </a: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 </a:t>
            </a: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standard deviation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11880" y="1488948"/>
            <a:ext cx="5303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11880" y="1481328"/>
            <a:ext cx="530352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481328"/>
            <a:ext cx="5303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NAVTTC Exam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703320" y="1938528"/>
            <a:ext cx="51206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193852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Mean (μ)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0" y="1938528"/>
            <a:ext cx="14173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03320" y="2286000"/>
            <a:ext cx="51206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28600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 (σ)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2286000"/>
            <a:ext cx="14173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703320" y="2633472"/>
            <a:ext cx="512064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94760" y="26334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Ahmed's score (X)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0" y="2633472"/>
            <a:ext cx="14173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03320" y="2980944"/>
            <a:ext cx="5120640" cy="310896"/>
          </a:xfrm>
          <a:prstGeom prst="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29809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(85 − 70) ÷ 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2980944"/>
            <a:ext cx="141732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+1.5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11880" y="3328416"/>
            <a:ext cx="5303520" cy="29260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332841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+1.5  →  Ahmed scored 1.5 std devs ABOVE the mean — better than ~93% of the class.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694176"/>
            <a:ext cx="8686800" cy="1115568"/>
          </a:xfrm>
          <a:prstGeom prst="rect">
            <a:avLst/>
          </a:prstGeom>
          <a:solidFill>
            <a:srgbClr val="1E3A5F"/>
          </a:solidFill>
          <a:ln w="12700">
            <a:solidFill>
              <a:srgbClr val="1A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" y="37307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INTERPRETATION GUIDE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05072"/>
            <a:ext cx="1664208" cy="713232"/>
          </a:xfrm>
          <a:prstGeom prst="rect">
            <a:avLst/>
          </a:prstGeom>
          <a:solidFill>
            <a:srgbClr val="1A3A6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02336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&lt; −2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2793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(bottom 2.5%)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11680" y="4005072"/>
            <a:ext cx="1664208" cy="713232"/>
          </a:xfrm>
          <a:prstGeom prst="rect">
            <a:avLst/>
          </a:prstGeom>
          <a:solidFill>
            <a:srgbClr val="1A3A6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11680" y="402336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 to −1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11680" y="42793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average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749040" y="4005072"/>
            <a:ext cx="1664208" cy="713232"/>
          </a:xfrm>
          <a:prstGeom prst="rect">
            <a:avLst/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49040" y="402336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to +1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749040" y="42793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range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(middle 68%)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86400" y="4005072"/>
            <a:ext cx="1664208" cy="713232"/>
          </a:xfrm>
          <a:prstGeom prst="rect">
            <a:avLst/>
          </a:prstGeom>
          <a:solidFill>
            <a:srgbClr val="1A3A6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402336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to +2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0" y="42793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average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23760" y="4005072"/>
            <a:ext cx="1664208" cy="713232"/>
          </a:xfrm>
          <a:prstGeom prst="rect">
            <a:avLst/>
          </a:prstGeom>
          <a:solidFill>
            <a:srgbClr val="1A3A6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23760" y="4023360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&gt; +2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42793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Unusually HIGH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2.5%)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— You Cannot Survey Everyone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draw conclusions about a large population from a small, representative group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932688"/>
            <a:ext cx="416052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32688"/>
            <a:ext cx="416052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32688"/>
            <a:ext cx="4160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POPULATION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" y="14081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group you want to know about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92608" y="17556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 in Pakistan (35 million+)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" y="22128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who ever bought from your shop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92608" y="26700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517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mobile phone users in Karachi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2608" y="31272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batch of medicine produced in a factory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3493008"/>
            <a:ext cx="397764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493008"/>
            <a:ext cx="39776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Surveying the full population is often impossible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407408" y="2212848"/>
            <a:ext cx="347472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2212848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70832" y="257860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28032" y="932688"/>
            <a:ext cx="411480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28032" y="932688"/>
            <a:ext cx="411480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932688"/>
            <a:ext cx="4114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SAMPLE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14081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carefully chosen SUBSET of the population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19472" y="17556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17373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randomly selected students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19472" y="22128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21945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customers from purchase records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919472" y="26700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6517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Karachi residents surveyed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19472" y="31272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66360" y="31089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randomly selected medicine batches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19472" y="3493008"/>
            <a:ext cx="3931920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93008"/>
            <a:ext cx="39319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Fast, affordable, and often just as accurate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1168" y="4005072"/>
            <a:ext cx="8741664" cy="713232"/>
          </a:xfrm>
          <a:prstGeom prst="rect">
            <a:avLst/>
          </a:prstGeom>
          <a:solidFill>
            <a:srgbClr val="1A3A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005072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must be 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and REPRESENTATIVE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otherwise your conclusions will be wrong.
</a:t>
            </a: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Asking only university students about Pakistan's education system will NOT represent all Pakistanis.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— Do Two Variables Move Together?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solidFill>
            <a:srgbClr val="F3E8FF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868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measures the </a:t>
            </a:r>
            <a:r>
              <a:rPr lang="en-US" sz="12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and direction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relationship between two numerical variables.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1417320"/>
            <a:ext cx="2560320" cy="1325880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417320"/>
            <a:ext cx="2560320" cy="3474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417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Pearson's 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ranges from  −1  to  +1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1214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 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perfect positive
</a:t>
            </a: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  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no relationship
</a:t>
            </a: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 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perfect negative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07792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07792" y="1417320"/>
            <a:ext cx="196596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07792" y="141732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CORRELATION</a:t>
            </a:r>
            <a:endParaRPr lang="en-US" sz="85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2953512" y="1783080"/>
          <a:ext cx="18745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/>
          <p:nvPr/>
        </p:nvSpPr>
        <p:spPr>
          <a:xfrm>
            <a:off x="2907792" y="3273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+0.92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2962656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hours vs Exam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study → Higher score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962656" y="4059936"/>
            <a:ext cx="1874520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62656" y="4059936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 X goes UP, Y goes UP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974336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974336" y="1417320"/>
            <a:ext cx="19659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74336" y="141732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CORRELATION</a:t>
            </a:r>
            <a:endParaRPr lang="en-US" sz="850" dirty="0"/>
          </a:p>
        </p:txBody>
      </p:sp>
      <p:graphicFrame>
        <p:nvGraphicFramePr>
          <p:cNvPr id="23" name="Chart 1"/>
          <p:cNvGraphicFramePr/>
          <p:nvPr/>
        </p:nvGraphicFramePr>
        <p:xfrm>
          <a:off x="5020056" y="1783080"/>
          <a:ext cx="18745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4974336" y="3273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≈ 0.0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029200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Shoe size vs Exam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connection at all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5029200" y="4059936"/>
            <a:ext cx="1874520" cy="640080"/>
          </a:xfrm>
          <a:prstGeom prst="rect">
            <a:avLst/>
          </a:prstGeom>
          <a:solidFill>
            <a:srgbClr val="F1F5F9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29200" y="4059936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X and Y have no pattern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7040880" y="1417320"/>
            <a:ext cx="19659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040880" y="1417320"/>
            <a:ext cx="1965960" cy="3291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040880" y="1417320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CORRELATION</a:t>
            </a:r>
            <a:endParaRPr lang="en-US" sz="850" dirty="0"/>
          </a:p>
        </p:txBody>
      </p:sp>
      <p:graphicFrame>
        <p:nvGraphicFramePr>
          <p:cNvPr id="31" name="Chart 2"/>
          <p:cNvGraphicFramePr/>
          <p:nvPr/>
        </p:nvGraphicFramePr>
        <p:xfrm>
          <a:off x="7086600" y="1783080"/>
          <a:ext cx="1874520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2" name="Text 27"/>
          <p:cNvSpPr/>
          <p:nvPr/>
        </p:nvSpPr>
        <p:spPr>
          <a:xfrm>
            <a:off x="7040880" y="32735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−0.88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095744" y="35661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 vs Exam score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absent → Lower score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7095744" y="4059936"/>
            <a:ext cx="1874520" cy="640080"/>
          </a:xfrm>
          <a:prstGeom prst="rect">
            <a:avLst/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095744" y="4059936"/>
            <a:ext cx="18745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As X goes UP, Y goes DOWN</a:t>
            </a:r>
            <a:endParaRPr lang="en-US" sz="850" dirty="0"/>
          </a:p>
        </p:txBody>
      </p:sp>
      <p:sp>
        <p:nvSpPr>
          <p:cNvPr id="36" name="Shape 31"/>
          <p:cNvSpPr/>
          <p:nvPr/>
        </p:nvSpPr>
        <p:spPr>
          <a:xfrm>
            <a:off x="228600" y="2816352"/>
            <a:ext cx="2560320" cy="1984248"/>
          </a:xfrm>
          <a:prstGeom prst="rect">
            <a:avLst/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Shape 32"/>
          <p:cNvSpPr/>
          <p:nvPr/>
        </p:nvSpPr>
        <p:spPr>
          <a:xfrm>
            <a:off x="228600" y="2816352"/>
            <a:ext cx="25603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28600" y="28163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BIG WARNING</a:t>
            </a:r>
            <a:endParaRPr lang="en-US" sz="1150" dirty="0"/>
          </a:p>
        </p:txBody>
      </p:sp>
      <p:sp>
        <p:nvSpPr>
          <p:cNvPr id="39" name="Text 34"/>
          <p:cNvSpPr/>
          <p:nvPr/>
        </p:nvSpPr>
        <p:spPr>
          <a:xfrm>
            <a:off x="292608" y="32186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292608" y="3547872"/>
            <a:ext cx="2432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cream sales and drowning rates are highly correlated — but ice cream does NOT cause drowning. Both rise in summer.</a:t>
            </a:r>
            <a:endParaRPr lang="en-US" sz="900" dirty="0"/>
          </a:p>
        </p:txBody>
      </p:sp>
      <p:sp>
        <p:nvSpPr>
          <p:cNvPr id="41" name="Text 36"/>
          <p:cNvSpPr/>
          <p:nvPr/>
        </p:nvSpPr>
        <p:spPr>
          <a:xfrm>
            <a:off x="292608" y="4334256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ask: is there a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reason for this?</a:t>
            </a:r>
            <a:endParaRPr lang="en-US" sz="950" dirty="0"/>
          </a:p>
        </p:txBody>
      </p:sp>
      <p:sp>
        <p:nvSpPr>
          <p:cNvPr id="42" name="Shape 37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Proving Things with Data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 scientists, doctors, and data analysts use to make decisions they can defend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932688"/>
            <a:ext cx="3657600" cy="2834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32688"/>
            <a:ext cx="365760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32688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THE COURT ANALOGY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389888"/>
            <a:ext cx="3511296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389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court of law: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993392" y="138988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hypothesis testing: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73936"/>
            <a:ext cx="3511296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773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Accused is INNOCENT until proven guilty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93392" y="1773936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 hypothesis) is TRUE until proven otherwise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157984"/>
            <a:ext cx="3511296" cy="347472"/>
          </a:xfrm>
          <a:prstGeom prst="rect">
            <a:avLst/>
          </a:prstGeom>
          <a:solidFill>
            <a:srgbClr val="1D346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15798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Prosecutor presents evidence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93392" y="215798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collect and analyse 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42032"/>
            <a:ext cx="3511296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" y="25420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weighs the evidence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93392" y="2542032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calculate a p-value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3511296" cy="347472"/>
          </a:xfrm>
          <a:prstGeom prst="rect">
            <a:avLst/>
          </a:prstGeom>
          <a:solidFill>
            <a:srgbClr val="1D3461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" y="2926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Guilty verdict = strong evidence against innocence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93392" y="2926080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= strong evidence against 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310128"/>
            <a:ext cx="3511296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" y="331012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"Beyond reasonable doubt"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93392" y="331012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&lt; 0.05 (significance level)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041648" y="932688"/>
            <a:ext cx="4892040" cy="28346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41648" y="932688"/>
            <a:ext cx="489204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41648" y="932688"/>
            <a:ext cx="4892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5-STEP PROCESS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33088" y="140817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33088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62272" y="1408176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H₀ and H₁: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462272" y="15910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(null): 'New teaching method has NO effect on scores'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(alt):  'New teaching method DOES improve scores'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133088" y="186537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33088" y="1865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462272" y="1865376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significance level (α):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62272" y="20482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α = 0.05  (5% chance of being wrong)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33088" y="232257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33088" y="23225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62272" y="2322576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 and run the test: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62272" y="25054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actual scores. Run a t-test or other test.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133088" y="277977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33088" y="2779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462272" y="2779776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p-value: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62272" y="29626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probability of getting this result IF H₀ were true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133088" y="323697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33088" y="32369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462272" y="3236976"/>
            <a:ext cx="44074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decision: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462272" y="341985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&lt; 0.05  →  Reject H₀  (the effect is real)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 ≥ 0.05  →  Fail to reject H₀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01168" y="3858768"/>
            <a:ext cx="8741664" cy="804672"/>
          </a:xfrm>
          <a:prstGeom prst="rect">
            <a:avLst/>
          </a:prstGeom>
          <a:solidFill>
            <a:srgbClr val="1A3A6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858768"/>
            <a:ext cx="8503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Two types of error: 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 (False Positive): Rejecting H₀ when it's actually true  |  Type II (False Negative): Failing to reject H₀ when it's actually false.
</a:t>
            </a: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medical test: False Positive = healthy person diagnosed sick  /  False Negative = sick person told they're healthy.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— The Most Misunderstood Number in Statistics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658368"/>
          </a:xfrm>
          <a:prstGeom prst="rect">
            <a:avLst/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</a:t>
            </a:r>
            <a:r>
              <a:rPr lang="en-US" sz="13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probability of getting a result THIS extreme (or more extreme) IF the null hypothesis were true.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572768"/>
            <a:ext cx="2084832" cy="1719072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60934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01752" y="20665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evidence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" y="2560320"/>
            <a:ext cx="1965960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256032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 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04872" y="1572768"/>
            <a:ext cx="2084832" cy="1719072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04872" y="160934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78024" y="20665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evidence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H₀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78024" y="2560320"/>
            <a:ext cx="196596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256032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 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81144" y="1572768"/>
            <a:ext cx="2084832" cy="1719072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81144" y="160934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54296" y="20665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evidence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H₀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54296" y="2560320"/>
            <a:ext cx="196596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256032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  ❌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57416" y="1572768"/>
            <a:ext cx="2084832" cy="1719072"/>
          </a:xfrm>
          <a:prstGeom prst="rect">
            <a:avLst/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57416" y="1609344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0.45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30568" y="206654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H₀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830568" y="2560320"/>
            <a:ext cx="1965960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0568" y="2560320"/>
            <a:ext cx="1965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 H₀  ❌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401568"/>
            <a:ext cx="8686800" cy="7315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310128"/>
            <a:ext cx="173736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5960" y="3310128"/>
            <a:ext cx="17373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03320" y="3310128"/>
            <a:ext cx="17373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40680" y="3310128"/>
            <a:ext cx="3474720" cy="2743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3602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965960" y="3602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0.01–0.05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703320" y="36027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0.05–0.10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440680" y="3602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0.10  →  Not significant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64592" y="32918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251960" y="32918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33088" y="30175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threshold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887968" y="32918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023360"/>
            <a:ext cx="868680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02336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COMMON MISCONCEPTION:  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 = 0.03 means there is a 97% chance our result is true."  </a:t>
            </a: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WRONG!
</a:t>
            </a: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CORRECT:  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0.03 means: IF H₀ were true, there is only a 3% chance of observing data this extreme by random chance alone.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t-TEST — Comparing Two Group Means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these two groups actually different, or just different by random chance?"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932688"/>
            <a:ext cx="2834640" cy="2578608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32688"/>
            <a:ext cx="283464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326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t-test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13533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class average different from the national average?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" y="1847088"/>
            <a:ext cx="26517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83664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exam mean = 65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class mean = 72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class genuinely better?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2608" y="2706624"/>
            <a:ext cx="2651760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2706624"/>
            <a:ext cx="265176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Compare one group's mean to a known value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932688"/>
            <a:ext cx="2834640" cy="257860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932688"/>
            <a:ext cx="28346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9326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73552" y="13533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two separate groups have different means?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3552" y="1847088"/>
            <a:ext cx="26517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1883664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(new teaching) vs Group B (old teaching)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their scores genuinely different?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73552" y="2706624"/>
            <a:ext cx="265176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73552" y="2706624"/>
            <a:ext cx="265176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Compare means of two separate, unrelated groups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63056" y="932688"/>
            <a:ext cx="2834640" cy="2578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932688"/>
            <a:ext cx="283464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9326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54496" y="13533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same group change before vs after?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4496" y="1847088"/>
            <a:ext cx="2651760" cy="82296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883664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students: test BEFORE training vs AFTER training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training genuinely help?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54496" y="2706624"/>
            <a:ext cx="265176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706624"/>
            <a:ext cx="265176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Compare the same group measured twice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3602736"/>
            <a:ext cx="8741664" cy="144475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01168" y="3621024"/>
            <a:ext cx="8741664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3639312"/>
            <a:ext cx="87416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Independent t-test (scipy.stats)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74320" y="4041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(new method)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4261104"/>
            <a:ext cx="2084832" cy="512064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" y="426110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72, 78, 80, 75, 82, 79, 85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479145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78.7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50592" y="4041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(old method)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50592" y="4261104"/>
            <a:ext cx="2084832" cy="512064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05456" y="426110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65, 68, 70, 63, 72, 68, 66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50592" y="479145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67.4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26864" y="4041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26864" y="4261104"/>
            <a:ext cx="2084832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426110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 import stats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t, p = stats.ttest_ind(groupA, groupB)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803136" y="4041648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803136" y="4261104"/>
            <a:ext cx="2084832" cy="512064"/>
          </a:xfrm>
          <a:prstGeom prst="rect">
            <a:avLst/>
          </a:prstGeom>
          <a:solidFill>
            <a:srgbClr val="1A3A6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426110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 = 4.21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0.002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03136" y="4791456"/>
            <a:ext cx="2084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→ Reject H₀ ✅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46304" y="498119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CHART: Visualising the t-Test Result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— New Teaching Method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28600" y="109728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28600" y="3438144"/>
            <a:ext cx="4023360" cy="384048"/>
          </a:xfrm>
          <a:prstGeom prst="roundRect">
            <a:avLst/>
          </a:prstGeom>
          <a:solidFill>
            <a:srgbClr val="E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34381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78.7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92040" y="8046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— Old Teaching Method</a:t>
            </a:r>
            <a:endParaRPr lang="en-US" sz="11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892040" y="1097280"/>
          <a:ext cx="402336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Shape 7"/>
          <p:cNvSpPr/>
          <p:nvPr/>
        </p:nvSpPr>
        <p:spPr>
          <a:xfrm>
            <a:off x="4892040" y="3438144"/>
            <a:ext cx="4023360" cy="384048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92040" y="3438144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67.4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28600" y="3913632"/>
            <a:ext cx="86868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365760" y="391363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 = 4.21   |   p-value = 0.002   |   α = 0.05
</a:t>
            </a: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p (0.002) &lt; α (0.05)  →  We REJECT H₀.  </a:t>
            </a: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new teaching method significantly improved scores. This is NOT random chance.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CHI-SQUARED TEST — For Categorical Data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there a real relationship between these two categories, or is it just random?"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274320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" y="914400"/>
            <a:ext cx="27432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9144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" y="13716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Chi-squared when BOTH variables are CATEGORICAL: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" y="1783080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647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vs Subject preference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92608" y="2221992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037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vs Product bought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2660904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4261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vs Disease (yes/no)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92608" y="3099816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8152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(morning/evening) vs Sales performance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92608" y="3493008"/>
            <a:ext cx="2578608" cy="274320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493008"/>
            <a:ext cx="257860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numerical data — use t-test instead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27248" y="914400"/>
            <a:ext cx="580644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27248" y="914400"/>
            <a:ext cx="58064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914400"/>
            <a:ext cx="5806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Does gender affect choice of Python vs Excel?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1371600"/>
            <a:ext cx="1335024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18688" y="1371600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08576" y="1371600"/>
            <a:ext cx="1335024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08576" y="1371600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Python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98464" y="1371600"/>
            <a:ext cx="1335024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8464" y="1371600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Excel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88352" y="1371600"/>
            <a:ext cx="1335024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88352" y="1371600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18688" y="1755648"/>
            <a:ext cx="1335024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1755648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08576" y="1755648"/>
            <a:ext cx="133502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576" y="1755648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98464" y="1755648"/>
            <a:ext cx="133502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98464" y="1755648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88352" y="1755648"/>
            <a:ext cx="1335024" cy="347472"/>
          </a:xfrm>
          <a:prstGeom prst="rect">
            <a:avLst/>
          </a:prstGeom>
          <a:solidFill>
            <a:srgbClr val="1D3461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88352" y="1755648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18688" y="2139696"/>
            <a:ext cx="1335024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18688" y="2139696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08576" y="2139696"/>
            <a:ext cx="133502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08576" y="2139696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98464" y="2139696"/>
            <a:ext cx="1335024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98464" y="2139696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88352" y="2139696"/>
            <a:ext cx="1335024" cy="347472"/>
          </a:xfrm>
          <a:prstGeom prst="rect">
            <a:avLst/>
          </a:prstGeom>
          <a:solidFill>
            <a:srgbClr val="1D3461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2139696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18688" y="2523744"/>
            <a:ext cx="1335024" cy="34747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18688" y="2523744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08576" y="2523744"/>
            <a:ext cx="1335024" cy="347472"/>
          </a:xfrm>
          <a:prstGeom prst="rect">
            <a:avLst/>
          </a:prstGeom>
          <a:solidFill>
            <a:srgbClr val="1D3461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08576" y="2523744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98464" y="2523744"/>
            <a:ext cx="1335024" cy="347472"/>
          </a:xfrm>
          <a:prstGeom prst="rect">
            <a:avLst/>
          </a:prstGeom>
          <a:solidFill>
            <a:srgbClr val="1D3461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98464" y="2523744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388352" y="2523744"/>
            <a:ext cx="1335024" cy="347472"/>
          </a:xfrm>
          <a:prstGeom prst="rect">
            <a:avLst/>
          </a:prstGeom>
          <a:solidFill>
            <a:srgbClr val="1D3461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88352" y="2523744"/>
            <a:ext cx="1335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18688" y="2999232"/>
            <a:ext cx="565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tool preference are INDEPENDENT (no relationship)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218688" y="3273552"/>
            <a:ext cx="5650992" cy="457200"/>
          </a:xfrm>
          <a:prstGeom prst="rect">
            <a:avLst/>
          </a:prstGeom>
          <a:solidFill>
            <a:srgbClr val="1A3A6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91840" y="3273552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Chi² = 6.74  |  p = 0.009  →  </a:t>
            </a: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 ✅  — Gender IS related to tool preference!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01168" y="3913632"/>
            <a:ext cx="8741664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347472" y="3931920"/>
            <a:ext cx="83941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scipy.stats import chi2_contingency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observed = [[45, 20], [30, 35]]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chi2, p, dof, expected = chi2_contingency(observed)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print(f'Chi2={chi2:.2f}, p={p:.3f}')   # Chi2=6.74, p=0.009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— The Range of Truth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8686800" cy="621792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04672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95% Confidence Interval means: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95% confident the TRUE population value lies somewhere inside this range."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28600" y="1536192"/>
            <a:ext cx="4160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536192"/>
            <a:ext cx="416052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536192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20040" y="19385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Average daily screen time of NAVTTC students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2128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50 students   |   Sample mean: 4.2 hours   |   Std Dev: 1.1 hours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99232"/>
            <a:ext cx="374904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871216"/>
            <a:ext cx="2468880" cy="256032"/>
          </a:xfrm>
          <a:prstGeom prst="rect">
            <a:avLst/>
          </a:prstGeom>
          <a:solidFill>
            <a:srgbClr val="BAE6FD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76272" y="2816352"/>
            <a:ext cx="182880" cy="1828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12724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(Lower)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29968" y="312724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4.2h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(Mean)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10128" y="312724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(Upper)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" y="3584448"/>
            <a:ext cx="3931920" cy="493776"/>
          </a:xfrm>
          <a:prstGeom prst="rect">
            <a:avLst/>
          </a:prstGeom>
          <a:solidFill>
            <a:srgbClr val="E0F2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60273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[3.9 hours , 4.5 hours]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true average screen time of all students is most likely between 3.9 and 4.5 hours"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4133088"/>
            <a:ext cx="3931920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4151376"/>
            <a:ext cx="3822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scipy.stats as stats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 = stats.t.interval(0.95, df=49, loc=mean, scale=stats.sem(data))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1536192"/>
            <a:ext cx="43434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536192"/>
            <a:ext cx="434340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53619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AFFECTS THE WIDTH?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663440" y="1956816"/>
            <a:ext cx="416052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1956816"/>
            <a:ext cx="73152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0116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 (n)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9744" y="22311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Larger sample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03136" y="2029968"/>
            <a:ext cx="1938528" cy="676656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2029968"/>
            <a:ext cx="19385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interval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precise)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871216"/>
            <a:ext cx="416052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871216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9744" y="29260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Level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09744" y="31455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99% vs 95%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803136" y="2944368"/>
            <a:ext cx="1938528" cy="676656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03136" y="2944368"/>
            <a:ext cx="19385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interval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cautious)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3785616"/>
            <a:ext cx="416052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785616"/>
            <a:ext cx="73152" cy="8229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3840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Variability (σ)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09744" y="40599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More variation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03136" y="3858768"/>
            <a:ext cx="1938528" cy="676656"/>
          </a:xfrm>
          <a:prstGeom prst="rect">
            <a:avLst/>
          </a:prstGeom>
          <a:solidFill>
            <a:srgbClr val="FFF1F2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3858768"/>
            <a:ext cx="193852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interval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(more uncertainty)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 — 90% vs 95% vs 99%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confidence = wider interval = less precision. Choose based on how much certainty your business decision requires.</a:t>
            </a:r>
            <a:endParaRPr lang="en-US" sz="1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28600" y="896112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28600" y="4059936"/>
            <a:ext cx="1627632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4059936"/>
            <a:ext cx="1627632" cy="292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405993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CI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83464" y="43891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[3.95 – 4.45]  width: 0.5h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83464" y="460857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research,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reports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947672" y="4059936"/>
            <a:ext cx="1627632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947672" y="4059936"/>
            <a:ext cx="1627632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947672" y="405993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02536" y="43891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[3.90 – 4.50]  width: 0.6h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002536" y="460857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 data analysis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business decisions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666744" y="4059936"/>
            <a:ext cx="1627632" cy="804672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66744" y="4059936"/>
            <a:ext cx="1627632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66744" y="4059936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CI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21608" y="438912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[3.80 – 4.60]  width: 0.8h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721608" y="4608576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trials, safety</a:t>
            </a:r>
            <a:endParaRPr lang="en-US" sz="750" dirty="0"/>
          </a:p>
          <a:p>
            <a:pPr marL="0" indent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440680" y="896112"/>
            <a:ext cx="3474720" cy="3054096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40680" y="896112"/>
            <a:ext cx="3474720" cy="3840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40680" y="89611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32120" y="1353312"/>
            <a:ext cx="3291840" cy="420624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96128" y="1371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Medical trials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629400" y="1371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reduces blood pressure by 5–8 mmHg (95% CI)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32120" y="1847088"/>
            <a:ext cx="329184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96128" y="18653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🗳️  Election polls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629400" y="186537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leads by 48% ± 3% — CI tells margin of error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532120" y="2340864"/>
            <a:ext cx="3291840" cy="420624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96128" y="235915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Manufacturing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629400" y="235915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weight: 498–502g — quality control CI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532120" y="2834640"/>
            <a:ext cx="3291840" cy="42062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96128" y="28529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Sales forecast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629400" y="285292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revenue between Rs. 2.1M–2.6M (95% CI)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32120" y="3328416"/>
            <a:ext cx="3291840" cy="420624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96128" y="334670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Education research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629400" y="334670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improves scores by 6–14 points (CI)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TEST DO I USE? — The Decision Cheatsheet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practical guide you'll use as an analyst — save this slide.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115568"/>
            <a:ext cx="274320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" y="11155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1115568"/>
            <a:ext cx="155448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08376" y="1115568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Type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115568"/>
            <a:ext cx="100584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115568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1115568"/>
            <a:ext cx="3566160" cy="32918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68696" y="1115568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1463040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463040"/>
            <a:ext cx="73152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48132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of my data?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99232" y="148132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53712" y="1481328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59552" y="1499616"/>
            <a:ext cx="331012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96128" y="149961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df.mean()  /  df.median()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8600" y="1938528"/>
            <a:ext cx="8686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1938528"/>
            <a:ext cx="73152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95681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class mean different from 65?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999232" y="195681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t-test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53712" y="1956816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59552" y="1975104"/>
            <a:ext cx="331012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6128" y="197510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stats.ttest_1samp(data, 65)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" y="2414016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414016"/>
            <a:ext cx="73152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432304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Group A and Group B have different means?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99232" y="243230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53712" y="2432304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59552" y="2450592"/>
            <a:ext cx="331012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245059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stats.ttest_ind(a, b)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28600" y="2889504"/>
            <a:ext cx="8686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8600" y="2889504"/>
            <a:ext cx="73152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907792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same group improve before vs after?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999232" y="290779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53712" y="2907792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59552" y="2926080"/>
            <a:ext cx="331012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2926080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stats.ttest_rel(before, after)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28600" y="3364992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3364992"/>
            <a:ext cx="73152" cy="43891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3383280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gender related to product choice?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999232" y="3383280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553712" y="3383280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559552" y="3401568"/>
            <a:ext cx="331012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96128" y="3401568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stats.chi2_contingency(table)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28600" y="3840480"/>
            <a:ext cx="8686800" cy="43891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3840480"/>
            <a:ext cx="73152" cy="43891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3858768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do study hours relate to marks?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999232" y="3858768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53712" y="3858768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59552" y="3877056"/>
            <a:ext cx="331012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96128" y="387705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stats.pearsonr(x, y)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" y="4315968"/>
            <a:ext cx="8686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28600" y="4315968"/>
            <a:ext cx="73152" cy="43891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334256"/>
            <a:ext cx="2578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true population mean range?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999232" y="4334256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553712" y="4334256"/>
            <a:ext cx="969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559552" y="4352544"/>
            <a:ext cx="3310128" cy="3657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96128" y="4352544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stats.t.interval(0.95, df, loc, scale)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EXAMPLE — A Real Business Question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2004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everything from Part 1 + Part 2 in one complete analysis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8741664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8458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 </a:t>
            </a: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Pakistani e-commerce company asks: "Does offering free delivery significantly increase order value?"  They test on 200 customers: 100 with free delivery, 100 without.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1168" y="1572768"/>
            <a:ext cx="28346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572768"/>
            <a:ext cx="28346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72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Descriptive Stats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938528"/>
            <a:ext cx="2651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delivery group: Mean = Rs.2,850, Std Dev = 420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free delivery: Mean = Rs.2,340, Std Dev = 510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different — but is it real?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1572768"/>
            <a:ext cx="28346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8BD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82112" y="1572768"/>
            <a:ext cx="2834640" cy="3291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572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Check Distribution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73552" y="1938528"/>
            <a:ext cx="2651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histograms for both groups.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approximately normally distributed.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use a t-test.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1572768"/>
            <a:ext cx="28346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1572768"/>
            <a:ext cx="28346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6208" y="157276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State Hypothesis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54496" y="1938528"/>
            <a:ext cx="2651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Free delivery has NO effect on order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Free delivery DOES increase order value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= 0.05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3145536"/>
            <a:ext cx="28346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3145536"/>
            <a:ext cx="2834640" cy="3291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Independent t-test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511296"/>
            <a:ext cx="2651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 import stats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t, p = stats.ttest_ind(free_del, no_free_del)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7.82,  p = 0.00003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182112" y="3145536"/>
            <a:ext cx="28346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82112" y="3145536"/>
            <a:ext cx="283464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55264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Calculate 95% CI for difference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73552" y="3511296"/>
            <a:ext cx="2651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difference = Rs.510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CI: [Rs.380 , Rs.640]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effect is likely between Rs.380 and Rs.640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3145536"/>
            <a:ext cx="283464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43F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3145536"/>
            <a:ext cx="2834640" cy="3291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314553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Business Decision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54496" y="3511296"/>
            <a:ext cx="2651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0.00003 &lt;&lt; 0.05  →  Reject H₀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delivery genuinely increases order value.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Offer free delivery above Rs.2,000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617720"/>
            <a:ext cx="897940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STATISTICS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84048" y="58521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now know as a data analyst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39776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Foundations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39776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984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What statistics is — Descriptive vs Inferential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3977640" cy="402336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7556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Types of data — Numerical, Categorical, Ordinal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94560"/>
            <a:ext cx="39776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2128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Central Tendency — Mean, Median, Mode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51760"/>
            <a:ext cx="3977640" cy="402336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6700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Spread — Range, Variance, Std Dev, IQR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39776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1272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Normal Distribution — Bell curve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3977640" cy="402336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844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68–95–99.7 Empirical Rule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397764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41648"/>
            <a:ext cx="3822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↗️  Skewness — Positive, Negative, Symmetric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914400"/>
            <a:ext cx="43434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914400"/>
            <a:ext cx="4343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Inference &amp; Testing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1280160"/>
            <a:ext cx="4343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129844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Z-scores — standard position in distribution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0" y="1719072"/>
            <a:ext cx="434340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1728" y="17373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Sampling — population vs representative sample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2157984"/>
            <a:ext cx="4343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217627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Correlation — r coefficient, ≠ causation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2596896"/>
            <a:ext cx="434340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615184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Hypothesis Testing — H₀, H₁, α, 5-step process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0" y="3035808"/>
            <a:ext cx="4343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30540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p-values — what they mean (and don't mean)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0" y="3474720"/>
            <a:ext cx="434340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1728" y="3493008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t-test — one sample, independent, paired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0" y="3913632"/>
            <a:ext cx="4343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39319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Chi-squared — categorical relationships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4352544"/>
            <a:ext cx="4343400" cy="384048"/>
          </a:xfrm>
          <a:prstGeom prst="rect">
            <a:avLst/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81728" y="4370832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Confidence Intervals — 90%, 95%, 99%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0" y="4681728"/>
            <a:ext cx="9144000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4681728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You are now statistically literate. Next: apply these in Python with real datasets!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" y="4901184"/>
            <a:ext cx="8778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Analysis  ·  Part 2  ·  NAVTTC — Data Analytics Using Python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2529</Words>
  <Application>Microsoft Office PowerPoint</Application>
  <PresentationFormat>On-screen Show (16:9)</PresentationFormat>
  <Paragraphs>384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for Data Analysis — Part 2</dc:title>
  <dc:subject>PptxGenJS Presentation</dc:subject>
  <dc:creator>PptxGenJS</dc:creator>
  <cp:lastModifiedBy>kamil khan</cp:lastModifiedBy>
  <cp:revision>4</cp:revision>
  <dcterms:created xsi:type="dcterms:W3CDTF">2026-03-13T22:12:09Z</dcterms:created>
  <dcterms:modified xsi:type="dcterms:W3CDTF">2026-04-06T11:44:42Z</dcterms:modified>
</cp:coreProperties>
</file>