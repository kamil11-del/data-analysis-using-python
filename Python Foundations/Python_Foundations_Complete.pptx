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133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-457200"/>
            <a:ext cx="1645920" cy="1645920"/>
          </a:xfrm>
          <a:prstGeom prst="ellipse">
            <a:avLst/>
          </a:prstGeom>
          <a:solidFill>
            <a:srgbClr val="0D1B2A">
              <a:alpha val="60000"/>
            </a:srgbClr>
          </a:solidFill>
          <a:ln w="12700">
            <a:solidFill>
              <a:srgbClr val="0D1B2A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CODING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" y="35661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Code — Let's Understand the World of Programming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0058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Using Python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Module — Session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0" y="2194560"/>
            <a:ext cx="45720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242316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What is a Computer &amp; How It Works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80720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Why Python? Why Now?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319125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Tools, IDEs &amp; Environments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357530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Command Line Basics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395935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Libraries &amp; Virtual Environments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43434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Setting Up for Data Analytics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4709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NAVTTC | Prime Minister Youth Skills Development Program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— The Real World of Data &amp; Code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060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686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572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Language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92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ranked #1 globally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(TIOBE Index 2024)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6060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8686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54680" y="1572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Require Coding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4680" y="1892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roles expect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 SQL skills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822960"/>
            <a:ext cx="26060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8686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989320" y="1572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Boost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1892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Python-skilled analysts earn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more than Excel-only users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4688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Python in Pakistan?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80360"/>
            <a:ext cx="64008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90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Banks &amp; Finance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HBL, UBL, Meezan Bank — fraud detection, risk analysis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331720" y="288036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331720" y="2880360"/>
            <a:ext cx="64008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2990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Telecom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68880" y="33375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Jazz, Zong, Telenor — customer analytics, churn prediction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43400" y="288036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43400" y="2880360"/>
            <a:ext cx="64008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2990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E-Commerce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80560" y="33375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Daraz, Foodpanda — recommendation engines, pricing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0" y="288036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2880360"/>
            <a:ext cx="64008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2990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Healthcare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37960" y="33375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GSK, Siemens — clinical data, drug efficacy analysis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— The Basics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code, let's understand the machine we're working 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Computer? — Breaking It Down Simply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6583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Think of a Computer as a very fast, very obedient assistant — it does exactly what you tell it, nothing more, nothing less.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0020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9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CPU (Brain)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Processing Unit. Executes instructions. Faster CPU = faster programs.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31720" y="160020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31720" y="160020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709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RAM (Short Memory)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057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memory for running programs. Like your desk workspace.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160020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60020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709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📀  Storage (Long Memory)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2057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HDD/SSD saves files permanently. Like a filing cabinet.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160020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60020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1709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OS (Manager)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2057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(Windows/Linux/Mac) manages all hardware &amp; software.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" y="3154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Computer Runs a Program: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56616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" y="35478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code (instructions) in a file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423160" y="356616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2316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852928" y="35478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translates your code into machine language (0s and 1s)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26280" y="356616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56048" y="35478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processes each instruction one by one at millions/second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629400" y="356616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59168" y="35478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displayed on screen, saved to file, or sent over network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41605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Terms: Software = programs/apps | Hardware = physical components | Bit = smallest data unit | Byte = 8 bits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&amp; Paths — Where Does Your Code Live?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on your computer has an address called a PATH. Understanding paths is critical for coding.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384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Path Example: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52372"/>
            <a:ext cx="40233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72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C:\Users\Ahmed\Documents\project.py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17720" y="11384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 Path Example: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64564"/>
            <a:ext cx="41148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965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/home/ahmed/documents/project.py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07873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2304288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Directory  ( C:\ on Windows, / on Linux )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top of the file system — all files live inside this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Path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address from root: C:\Users\Ahmed\file.py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Path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relative to where you currently are: .\data\file.csv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Directory (.)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(.) means 'the folder I am in right now'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Directory (..)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dots (..) means 'go one folder up'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Line (Terminal)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directly to your computer — no mouse needed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— Your Power Tool as a Developer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95528"/>
            <a:ext cx="850392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terminal (command line) lets you control your computer by typing text commands. Every professional developer uses it daily.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Open It: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393192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Windows: Start → search 'cmd' or 'PowerShell' → Enter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393192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Mac: Spotlight (Cmd+Space) → type 'Terminal' → 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560320"/>
            <a:ext cx="393192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60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Linux: Ctrl + Alt + T (or right-click desktop → Terminal)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14630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Commands: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828800"/>
          <a:ext cx="4206240" cy="243230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pwd / 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/ Change current folder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/ dir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files in folder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mkdir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folder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up one folder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file.py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 Python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cls / clear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the screen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0" y="1828800"/>
            <a:ext cx="4206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18562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                        What it does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0" y="2176272"/>
            <a:ext cx="42062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63440" y="2203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 / cd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72200" y="22037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/ Change current folder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0" y="2514600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/ dir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72200" y="25420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files in folder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0" y="2852928"/>
            <a:ext cx="42062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6344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name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172200" y="2880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folder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0" y="319125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0" y="3218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172200" y="32186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up one folder level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572000" y="3529584"/>
            <a:ext cx="42062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63440" y="35570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file.py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172200" y="35570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Python file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572000" y="3867912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63440" y="3895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cls / clear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172200" y="38953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screen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Programming / Coding?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that tell a computer exactly what to do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— Instructions for a Very Literal Machine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95528"/>
            <a:ext cx="850392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Programming = writing step-by-step instructions in a language the computer can understand. If you can write a recipe, you can learn to code.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Programming Languages: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251460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9019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(Human-Readable)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4414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Java, JavaScript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English. Easier to write &amp; understand.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0" y="1828800"/>
            <a:ext cx="2514600" cy="13716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19019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(Machine-Close)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24414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Assembly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execution but harder to write. Closer to machine language.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32120" y="1828800"/>
            <a:ext cx="251460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19019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23560" y="24414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Bash, 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automating tasks &amp; data processing.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33375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Programming Mindset: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6576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every problem into small, simple steps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do exactly what you say — be precise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(bugs) are normal — fixing them is part of the job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memorize everything — learning to search is a skill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Why It's Perfect for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most beginner-friendly, powerful language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Python? — The Language of Data Science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95528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95528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052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Easy to Read &amp; Write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looks almost like English. No complex symbols, no confusing punctuation. Perfect for beginners.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795528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795528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052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Most Popular for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2527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Google, Netflix, NASA, Facebook. Ranked #1 in data science &amp; AI globally.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0574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57400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67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Huge Library Ecosystem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Matplotlib — thousands of free tools built by the community, ready to use.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20574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057400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167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Free &amp; Open Source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25146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100% free. No license fees. Runs on Windows, Mac, and Linux.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319272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19272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Versatile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764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Analysis, Web Development, AI/ML, Automation, Game Dev — one language for everything.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0" y="3319272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3319272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Huge Community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37764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developers worldwide. Stack Overflow, YouTube, Kaggle — help is always available.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Syntax at a Glance — Your First Look at Code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9552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diving in, let's understand what Python code looks like (don't worry — we'll learn each line step by step):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66344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43891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This is a comment — Python ignores it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 (storing a value)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"Ahmed"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 something on screen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print("Hello,", name)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simple calculation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age *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print("Double age:", result)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list of items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subjects = ["Math", "Python", "Stats"]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4920" y="1481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Comments start with  #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83480" y="1636776"/>
            <a:ext cx="9144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Variables store 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83480" y="2167128"/>
            <a:ext cx="9144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633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print() shows output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83480" y="2788920"/>
            <a:ext cx="9144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Maths works as expected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83480" y="3310128"/>
            <a:ext cx="9144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9044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Lists hold multiple values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83480" y="4059936"/>
            <a:ext cx="9144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4480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Key takeaway: Python reads top to bottom, one line at a time — just like reading a recipe!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IDEs — Your Coding Workspace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apps and software you'll use every day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— Integrated Development Environment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95528"/>
            <a:ext cx="850392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An IDE is like Microsoft Word — but for writing code. It helps you write, run, and fix code in one place.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344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IDE gives you: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94104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Highlighting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different parts of code — makes it readable at a glance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Auto-Complete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code as you type — saves time, reduces errors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Highlighting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Underlines mistakes before you even run the code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Terminal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without switching windows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Explorer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project files in one place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IDEs for Python: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828800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874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 ⭐ Recommended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6592" y="21488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lightweight, powerful. Best for beginners and professionals alike. Microsoft-made.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578608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2578608"/>
            <a:ext cx="6400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624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28986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data analysis. Run code cell by cell, see charts inline. Used in this course.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3328416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3328416"/>
            <a:ext cx="64008" cy="6858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33741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36484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Professional-grade IDE by JetBrains. Great for large projects.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4078224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4078224"/>
            <a:ext cx="64008" cy="685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4123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36592" y="43982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with Python. Very basic — good only for learning absolute basics.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— A Quick Tour of Your Workspace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9552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95528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052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Activity Bar (Far Left)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 for Explorer, Search, Source Control, Extensions. Click to switch panels.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79552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795528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9052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Side Panel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2527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explorer shows your project folders and files. Open, rename, create files here.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9320" y="79552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795528"/>
            <a:ext cx="64008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9052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Editor Area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2527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area where you write code. Multiple files open as tabs at the top.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37744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77440"/>
            <a:ext cx="64008" cy="1417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87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Terminal Panel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terminal. Press Ctrl+` to open. Run Python code directly here.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54680" y="237744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377440"/>
            <a:ext cx="64008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487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Status Bar (Bottom)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2834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Python version, current branch, errors/warnings count. Very useful!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237744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2377440"/>
            <a:ext cx="64008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487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Extensions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2834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extension by Microsoft. Adds IntelliSense, linting, and debugging.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0040" y="39319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Must-Install VS Code Extensions for This Course: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" y="42793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Python (Microsoft) — core Python support          ✅  Pylance — better code completion          ✅  Jupyter — run notebooks inside VS Code          ✅  Rainbow CSV — view data files more easily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— Your Data Analysis Playground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Jupyter Notebook is a special tool where code, results, and notes all live in one document — perfect for data analysis.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Jupyter for Data Analysis?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one block at a time (called 'cells')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charts and graphs directly below your code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code with written notes and explanations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analysis as a readable document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tool used by data scientists worldwide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417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Cells in Jupyter: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7830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783080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Cell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6592" y="2130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run Python code. Output appears directly below.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6974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269748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Cell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3044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formatted notes, headings, explanations using Markdown text.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36118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3611880"/>
            <a:ext cx="64008" cy="7772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Cell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3959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— not executed. Used for data not meant to run.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023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Shortcuts: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Shift+Enter — Run cell &amp; go to next     ⌨️  Ctrl+Enter — Run cell (stay)     ⌨️  A/B — Insert cell above/below     ⌨️  M — Change to Markdown     ⌨️  Esc — Command mode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&amp; Python Environment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Python, packages, and virtual environments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— The All-in-One Data Science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Anaconda is a free distribution of Python that comes pre-loaded with 250+ data science libraries. Install once, get everything you need.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With Anaconda: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64792"/>
            <a:ext cx="17830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80136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Interpreter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03911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runs your Python code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31720" y="1764792"/>
            <a:ext cx="17830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95728" y="180136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95728" y="203911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Pre-installed data analysis notebook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59152"/>
            <a:ext cx="17830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39572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Spyder IDE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263347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built specifically for scientific Python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31720" y="2359152"/>
            <a:ext cx="17830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395728" y="239572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 Libraries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95728" y="263347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Matplotlib, Scikit-learn...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53512"/>
            <a:ext cx="1783080" cy="502920"/>
          </a:xfrm>
          <a:prstGeom prst="rect">
            <a:avLst/>
          </a:prstGeom>
          <a:solidFill>
            <a:srgbClr val="475569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299008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322783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&amp; environment manager (like pip but better)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31720" y="2953512"/>
            <a:ext cx="1783080" cy="502920"/>
          </a:xfrm>
          <a:prstGeom prst="rect">
            <a:avLst/>
          </a:prstGeom>
          <a:solidFill>
            <a:srgbClr val="475569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395728" y="299008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Navigator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95728" y="322783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launcher for all your tools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0" y="1417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vs Plain Python — When to Use What: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0" y="1764792"/>
            <a:ext cx="4206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801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Anaconda                Plain Python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112264"/>
            <a:ext cx="42062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2139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70448" y="2139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(all-in-one)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78624" y="21396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(manual installs)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2450592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2478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70448" y="2478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 pre-installed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278624" y="24780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manually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0" y="2788920"/>
            <a:ext cx="42062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2816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Science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70448" y="2816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Perfect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78624" y="2816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but tedious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0" y="3127248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Web Dev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870448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278624" y="3154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Better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0" y="3465576"/>
            <a:ext cx="42062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45152" y="3493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Space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870448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GB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278624" y="34930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MB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Download Anaconda free at: anaconda.com/download  |  Choose Python 3.x version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Packages — Don't Reinvent the Wheel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library is a collection of pre-written code you can use. Instead of coding from scratch, you 'import' and use what others have built.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Libraries for This Course: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83080"/>
            <a:ext cx="26060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196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35000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math operations on large arrays of numbers. The backbone of all data libraries.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178308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63240" y="1783080"/>
            <a:ext cx="2606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8196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54680" y="2075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54680" y="235000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clean, filter, and transform data in tables (DataFrames). Used in every analysis.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06440" y="178308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6440" y="1783080"/>
            <a:ext cx="26060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18196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97880" y="2075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97880" y="235000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charts: line, bar, pie, scatter. The standard plotting library in Python.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24612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246120"/>
            <a:ext cx="26060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82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" y="35387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81304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statistical charts built on top of Matplotlib. Heatmaps, violin plots, more.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063240" y="324612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063240" y="3246120"/>
            <a:ext cx="260604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3282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154680" y="35387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54680" y="381304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web-ready charts that users can zoom, hover, and filter.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06440" y="324612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806440" y="3246120"/>
            <a:ext cx="2606040" cy="5029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3282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97880" y="35387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97880" y="381304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basic ML models: classification, regression, clustering. Advanced topic.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&amp; conda — Installing Python Packages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pip is Python's package installer — like an app store for code libraries. Type one command and the library is ready to use.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Commands: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64792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922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7922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a package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203704"/>
            <a:ext cx="402336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311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pandas==1.5.0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23113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specific version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642616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uninstall pandas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26700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 a package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81528"/>
            <a:ext cx="402336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list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3108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See all installed packages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520440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47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show pandas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35478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See package details/version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959352"/>
            <a:ext cx="402336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867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398678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from a list file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1417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Commands (Anaconda):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0" y="1764792"/>
            <a:ext cx="4206240" cy="384048"/>
          </a:xfrm>
          <a:prstGeom prst="rect">
            <a:avLst/>
          </a:prstGeom>
          <a:solidFill>
            <a:srgbClr val="1A334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7922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pandas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17922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with conda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203704"/>
            <a:ext cx="420624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2311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update pandas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22311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 a package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2642616"/>
            <a:ext cx="4206240" cy="384048"/>
          </a:xfrm>
          <a:prstGeom prst="rect">
            <a:avLst/>
          </a:prstGeom>
          <a:solidFill>
            <a:srgbClr val="1A334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670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list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26700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installed packages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3081528"/>
            <a:ext cx="420624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create -n myenv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23760" y="3108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virtual environment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3520440"/>
            <a:ext cx="4206240" cy="384048"/>
          </a:xfrm>
          <a:prstGeom prst="rect">
            <a:avLst/>
          </a:prstGeom>
          <a:solidFill>
            <a:srgbClr val="1A334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547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myenv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23760" y="35478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Activate environment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3959352"/>
            <a:ext cx="420624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9867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deactivate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23760" y="39867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Deactivate environment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" y="4526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pip vs conda:  Use conda when on Anaconda (better compatibility). Use pip when outside Anaconda.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 — Keeping Projects Isolated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95528"/>
            <a:ext cx="850392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virtual environment is like a separate room for each project — each room has its own set of tools, so projects never interfere with each other.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Virtual Environments Matter: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needs Pandas 1.3, Project B needs Pandas 2.0 — no conflict!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system-wide library pollution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share exact library versions with teammates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— all professional projects use environments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352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&amp; Using a Virtual Environment: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733800"/>
            <a:ext cx="4114800" cy="1383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359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Create environment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myproject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Activate (Windows)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myproject\Scripts\activate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Activate (Mac/Linux)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myproject/bin/activate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Install packages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 matplotlib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47260" y="14843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Visually: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874520"/>
            <a:ext cx="40233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Computer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240280"/>
            <a:ext cx="1691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🌿 env_project1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1.3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1.21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 3.4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2240280"/>
            <a:ext cx="1691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🌿 env_project2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2.0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1.24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 0.12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520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in its own isolated environment — no conflicts!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3950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Professional practice in every team &amp; company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Complete Setup Guide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your machine ready for data analytics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Complete Setup — From Zero to Ready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93268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Anaconda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anaconda.com/download → Choose Windows/Mac/Linux → Run installer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82296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6012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76472" y="93268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Anaconda Navigator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4173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'Anaconda Navigator' → Launch the visual dashboard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82296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96012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11112" y="93268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Jupyter Notebook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4173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'Launch' under Jupyter Notebook → Browser opens automatically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28600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42316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" y="239572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First Notebook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28803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'New' → Python 3 → A blank notebook opens ready to code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228600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42316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776472" y="239572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28803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code.visualstudio.com → Download → Install → Add Python extension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228600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42316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611112" y="239572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Setup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28803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 → type: python --version → Should show Python 3.x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3794760"/>
            <a:ext cx="850392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Verify Everything Works — Run This in Jupyter: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413308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print("All libraries loaded! You're ready!")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0" y="4160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red errors appear — your setup is complete! 🎉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Beginners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separate good developers from great ones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— Build Good Habits from Day One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95528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95528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052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Organize Your Files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folder per project. Keep data in /data, code in /notebooks, outputs in /outputs. Never put everything on Desktop.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795528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795528"/>
            <a:ext cx="64008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052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Comment Your Code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2527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# comments explaining what each section does. Your future self will thank you. Comments are for humans, not computers.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103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0312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12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Use Meaningful Names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variables clearly: student_grades not x. Name files clearly: week1_analysis.ipynb not untitled1.ipynb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2103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103120"/>
            <a:ext cx="64008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212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Save Often &amp; Backup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2560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Ctrl+S constantly. Use Google Drive or GitHub to backup your work. Hardware fails — your code shouldn't be lost.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41071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410712"/>
            <a:ext cx="64008" cy="1188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Embrace Errors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8679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 tell you exactly what went wrong. Read them carefully. Google the error message — someone already solved it.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0" y="341071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3410712"/>
            <a:ext cx="64008" cy="1188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Learn to Search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38679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Overflow, Google, and Kaggle are your best friends. Knowing how to search is more valuable than memorizing syntax.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Beginner Mistakes — Avoid These Pitfalls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95528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9552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50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Copy-Paste Without Understanding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17957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 type code manually when learning. Understanding beats memorizing.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09928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0992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647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Skipping Error Messages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209397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Read the last line of the error — it tells you exactly what went wrong.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624328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62432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679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Testing Code in Small Steps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" y="300837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Run small pieces of code frequently. Don't write 50 lines before testing.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538728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3872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593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Wrong Indentation in Python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392277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Python uses spaces/tabs for structure. Inconsistent indentation breaks your code.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361688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36168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4165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Working Without a Virtual Environment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" y="4745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 create a project-specific environment before installing packages.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 — Your Toolkit Outside Class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955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Resources to Supercharge Your Learning: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71016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Documentation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docs.python.org — Official Python docs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pandas.pydata.org — Pandas documentation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numpy.org/doc — NumPy documentation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34440"/>
            <a:ext cx="4114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271016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Learning Platforms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719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Kaggle.com/learn — Free Python &amp; Data courses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103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W3Schools.com — Quick Python reference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4871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 Python (realpython.com) — Tutorials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546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54680"/>
            <a:ext cx="41148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191256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 YouTube Channels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639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Sentdex — Python for beginners &amp; data science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023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Corey Schafer — Excellent Python tutorials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407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Tech With Tim — Beginner-friendly projects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1546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54680"/>
            <a:ext cx="4114800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191256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Community Help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639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stackoverflow.com — Ask &amp; search coding questions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023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reddit.com/r/learnpython — Supportive community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407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Kaggle Discussions — Data science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What You Learned Today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14800" cy="1005840"/>
          </a:xfrm>
          <a:prstGeom prst="rect">
            <a:avLst/>
          </a:prstGeom>
          <a:solidFill>
            <a:srgbClr val="0F253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89611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96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8961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2070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processes instructions, RAM is working memory, OS manages everything. Files live at specific paths.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114800" cy="1005840"/>
          </a:xfrm>
          <a:prstGeom prst="rect">
            <a:avLst/>
          </a:prstGeom>
          <a:solidFill>
            <a:srgbClr val="0F253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73752" y="896112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896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8961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2070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terminal is how professionals control computers. Essential commands: cd, ls, mkdir, python file.py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920240"/>
            <a:ext cx="4114800" cy="1005840"/>
          </a:xfrm>
          <a:prstGeom prst="rect">
            <a:avLst/>
          </a:prstGeom>
          <a:solidFill>
            <a:srgbClr val="0F253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201168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011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3225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= step-by-step instructions. Break problems into steps. Errors are normal and fixable.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920240"/>
            <a:ext cx="4114800" cy="1005840"/>
          </a:xfrm>
          <a:prstGeom prst="rect">
            <a:avLst/>
          </a:prstGeom>
          <a:solidFill>
            <a:srgbClr val="0F253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73752" y="2011680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011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23225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language for data science. Readable, free, huge community. We'll use it throughout this course.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035808"/>
            <a:ext cx="4114800" cy="1005840"/>
          </a:xfrm>
          <a:prstGeom prst="rect">
            <a:avLst/>
          </a:prstGeom>
          <a:solidFill>
            <a:srgbClr val="0F253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312724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1272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IDEs &amp; Tools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34381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for coding. Jupyter Notebook for data analysis. Both are industry-standard tools.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035808"/>
            <a:ext cx="4114800" cy="1005840"/>
          </a:xfrm>
          <a:prstGeom prst="rect">
            <a:avLst/>
          </a:prstGeom>
          <a:solidFill>
            <a:srgbClr val="0F2537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73752" y="3127248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1272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&amp; Libraries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0" y="34381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= Python + 250 libraries. pip/conda installs packages. Virtual environments keep projects clean.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0040" y="45079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Python Basics — Variables, Data Types, Loops &amp; Functions  🐍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3147</Words>
  <Application>Microsoft Office PowerPoint</Application>
  <PresentationFormat>On-screen Show (16:9)</PresentationFormat>
  <Paragraphs>466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Data Analytics – Foundations</dc:title>
  <dc:subject>PptxGenJS Presentation</dc:subject>
  <dc:creator>Data Analytics Course</dc:creator>
  <cp:lastModifiedBy>kamil khan</cp:lastModifiedBy>
  <cp:revision>5</cp:revision>
  <dcterms:created xsi:type="dcterms:W3CDTF">2026-02-18T18:30:34Z</dcterms:created>
  <dcterms:modified xsi:type="dcterms:W3CDTF">2026-02-19T09:01:49Z</dcterms:modified>
</cp:coreProperties>
</file>