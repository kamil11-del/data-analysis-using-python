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2840" y="0"/>
            <a:ext cx="899160" cy="6858000"/>
          </a:xfrm>
          <a:custGeom>
            <a:avLst/>
            <a:gdLst/>
            <a:ahLst/>
            <a:cxnLst/>
            <a:rect l="l" t="t" r="r" b="b"/>
            <a:pathLst>
              <a:path w="899159" h="6858000">
                <a:moveTo>
                  <a:pt x="0" y="0"/>
                </a:moveTo>
                <a:lnTo>
                  <a:pt x="0" y="6858000"/>
                </a:lnTo>
                <a:lnTo>
                  <a:pt x="899159" y="6858000"/>
                </a:lnTo>
                <a:lnTo>
                  <a:pt x="899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787" y="1449851"/>
            <a:ext cx="7907600" cy="47565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0"/>
            <a:ext cx="11734800" cy="6858000"/>
          </a:xfrm>
          <a:custGeom>
            <a:avLst/>
            <a:gdLst/>
            <a:ahLst/>
            <a:cxnLst/>
            <a:rect l="l" t="t" r="r" b="b"/>
            <a:pathLst>
              <a:path w="11734800" h="6858000">
                <a:moveTo>
                  <a:pt x="0" y="6858000"/>
                </a:moveTo>
                <a:lnTo>
                  <a:pt x="11734800" y="6858000"/>
                </a:lnTo>
                <a:lnTo>
                  <a:pt x="117348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57200" cy="6858000"/>
          </a:xfrm>
          <a:custGeom>
            <a:avLst/>
            <a:gdLst/>
            <a:ahLst/>
            <a:cxnLst/>
            <a:rect l="l" t="t" r="r" b="b"/>
            <a:pathLst>
              <a:path w="457200" h="6858000">
                <a:moveTo>
                  <a:pt x="4572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" y="6858000"/>
                </a:lnTo>
                <a:lnTo>
                  <a:pt x="45720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2840" y="0"/>
            <a:ext cx="899160" cy="6858000"/>
          </a:xfrm>
          <a:custGeom>
            <a:avLst/>
            <a:gdLst/>
            <a:ahLst/>
            <a:cxnLst/>
            <a:rect l="l" t="t" r="r" b="b"/>
            <a:pathLst>
              <a:path w="899159" h="6858000">
                <a:moveTo>
                  <a:pt x="0" y="0"/>
                </a:moveTo>
                <a:lnTo>
                  <a:pt x="0" y="6858000"/>
                </a:lnTo>
                <a:lnTo>
                  <a:pt x="899159" y="6858000"/>
                </a:lnTo>
                <a:lnTo>
                  <a:pt x="899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9805" y="436244"/>
            <a:ext cx="378015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9805" y="2216657"/>
            <a:ext cx="5824855" cy="412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" y="0"/>
              <a:ext cx="11734800" cy="6858000"/>
            </a:xfrm>
            <a:custGeom>
              <a:avLst/>
              <a:gdLst/>
              <a:ahLst/>
              <a:cxnLst/>
              <a:rect l="l" t="t" r="r" b="b"/>
              <a:pathLst>
                <a:path w="11734800" h="6858000">
                  <a:moveTo>
                    <a:pt x="0" y="6858000"/>
                  </a:moveTo>
                  <a:lnTo>
                    <a:pt x="11734800" y="6858000"/>
                  </a:lnTo>
                  <a:lnTo>
                    <a:pt x="1173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53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6858000"/>
            </a:xfrm>
            <a:custGeom>
              <a:avLst/>
              <a:gdLst/>
              <a:ahLst/>
              <a:cxnLst/>
              <a:rect l="l" t="t" r="r" b="b"/>
              <a:pathLst>
                <a:path w="457200" h="6858000">
                  <a:moveTo>
                    <a:pt x="457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" y="68580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31032" y="2262072"/>
            <a:ext cx="6974968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795"/>
              </a:lnSpc>
              <a:spcBef>
                <a:spcPts val="95"/>
              </a:spcBef>
            </a:pPr>
            <a:r>
              <a:rPr lang="en-GB" sz="5400" b="0" spc="-25" dirty="0">
                <a:solidFill>
                  <a:srgbClr val="FFFFFF"/>
                </a:solidFill>
                <a:latin typeface="Tahoma"/>
                <a:cs typeface="Tahoma"/>
              </a:rPr>
              <a:t>Data Analysis Using Python</a:t>
            </a:r>
            <a:endParaRPr sz="5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0766" y="3552063"/>
            <a:ext cx="8144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lang="en-GB" sz="4000" spc="-35" dirty="0">
                <a:solidFill>
                  <a:srgbClr val="FFFFFF"/>
                </a:solidFill>
                <a:latin typeface="Tahoma"/>
                <a:cs typeface="Tahoma"/>
              </a:rPr>
              <a:t>Visualization &amp; Different types</a:t>
            </a:r>
            <a:r>
              <a:rPr sz="4000" spc="-1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5833" y="4706239"/>
            <a:ext cx="38354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</a:pP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Instructor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ts val="2460"/>
              </a:lnSpc>
            </a:pPr>
            <a:r>
              <a:rPr lang="en-GB" sz="2200" b="1" dirty="0">
                <a:solidFill>
                  <a:srgbClr val="BEBEBE"/>
                </a:solidFill>
                <a:latin typeface="Tahoma"/>
                <a:cs typeface="Tahoma"/>
              </a:rPr>
              <a:t>Muhammad Kamil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ts val="2645"/>
              </a:lnSpc>
            </a:pPr>
            <a:r>
              <a:rPr sz="2200" b="1" dirty="0">
                <a:solidFill>
                  <a:srgbClr val="BEBEBE"/>
                </a:solidFill>
                <a:latin typeface="Tahoma"/>
                <a:cs typeface="Tahoma"/>
              </a:rPr>
              <a:t>-</a:t>
            </a:r>
            <a:r>
              <a:rPr sz="2200" b="1" spc="-2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300" spc="-45" dirty="0">
                <a:solidFill>
                  <a:srgbClr val="BEBEBE"/>
                </a:solidFill>
                <a:latin typeface="Tahoma"/>
                <a:cs typeface="Tahoma"/>
              </a:rPr>
              <a:t>Research</a:t>
            </a:r>
            <a:r>
              <a:rPr sz="2300" spc="-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300" spc="-35" dirty="0">
                <a:solidFill>
                  <a:srgbClr val="BEBEBE"/>
                </a:solidFill>
                <a:latin typeface="Tahoma"/>
                <a:cs typeface="Tahoma"/>
              </a:rPr>
              <a:t>Assistant</a:t>
            </a:r>
            <a:r>
              <a:rPr sz="2300" spc="-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(DIP</a:t>
            </a:r>
            <a:r>
              <a:rPr sz="22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BEBEBE"/>
                </a:solidFill>
                <a:latin typeface="Tahoma"/>
                <a:cs typeface="Tahoma"/>
              </a:rPr>
              <a:t>Lab)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52381" y="4706239"/>
            <a:ext cx="1572895" cy="9975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487680" algn="just">
              <a:lnSpc>
                <a:spcPct val="95000"/>
              </a:lnSpc>
              <a:spcBef>
                <a:spcPts val="225"/>
              </a:spcBef>
            </a:pP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Duration </a:t>
            </a:r>
            <a:r>
              <a:rPr sz="2200" b="1" dirty="0">
                <a:solidFill>
                  <a:srgbClr val="BEBEBE"/>
                </a:solidFill>
                <a:latin typeface="Tahoma"/>
                <a:cs typeface="Tahoma"/>
              </a:rPr>
              <a:t>0</a:t>
            </a:r>
            <a:r>
              <a:rPr lang="en-GB" sz="2200" b="1" dirty="0">
                <a:solidFill>
                  <a:srgbClr val="BEBEBE"/>
                </a:solidFill>
                <a:latin typeface="Tahoma"/>
                <a:cs typeface="Tahoma"/>
              </a:rPr>
              <a:t>2</a:t>
            </a:r>
            <a:r>
              <a:rPr sz="2200" b="1" spc="-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BEBEBE"/>
                </a:solidFill>
                <a:latin typeface="Tahoma"/>
                <a:cs typeface="Tahoma"/>
              </a:rPr>
              <a:t>Months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(Feb</a:t>
            </a: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–</a:t>
            </a:r>
            <a:r>
              <a:rPr sz="2200" spc="-1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April)</a:t>
            </a:r>
            <a:endParaRPr sz="2200" dirty="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094" y="72517"/>
            <a:ext cx="1543811" cy="2152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"/>
            <a:ext cx="4196715" cy="6858000"/>
            <a:chOff x="0" y="38"/>
            <a:chExt cx="419671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47763"/>
              <a:ext cx="4196460" cy="53624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7"/>
              <a:ext cx="4196715" cy="6858000"/>
            </a:xfrm>
            <a:custGeom>
              <a:avLst/>
              <a:gdLst/>
              <a:ahLst/>
              <a:cxnLst/>
              <a:rect l="l" t="t" r="r" b="b"/>
              <a:pathLst>
                <a:path w="4196715" h="6858000">
                  <a:moveTo>
                    <a:pt x="4196461" y="5916930"/>
                  </a:moveTo>
                  <a:lnTo>
                    <a:pt x="0" y="5916930"/>
                  </a:lnTo>
                  <a:lnTo>
                    <a:pt x="0" y="6857962"/>
                  </a:lnTo>
                  <a:lnTo>
                    <a:pt x="4196461" y="6857962"/>
                  </a:lnTo>
                  <a:lnTo>
                    <a:pt x="4196461" y="5916930"/>
                  </a:lnTo>
                  <a:close/>
                </a:path>
                <a:path w="4196715" h="6858000">
                  <a:moveTo>
                    <a:pt x="4196461" y="0"/>
                  </a:moveTo>
                  <a:lnTo>
                    <a:pt x="0" y="0"/>
                  </a:lnTo>
                  <a:lnTo>
                    <a:pt x="0" y="941031"/>
                  </a:lnTo>
                  <a:lnTo>
                    <a:pt x="4196461" y="941031"/>
                  </a:lnTo>
                  <a:lnTo>
                    <a:pt x="4196461" y="0"/>
                  </a:lnTo>
                  <a:close/>
                </a:path>
              </a:pathLst>
            </a:custGeom>
            <a:solidFill>
              <a:srgbClr val="227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1134" y="611251"/>
            <a:ext cx="6090666" cy="13951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6600" spc="-35" dirty="0"/>
              <a:t>Data</a:t>
            </a:r>
            <a:br>
              <a:rPr lang="en-GB" sz="6600" spc="-35" dirty="0"/>
            </a:br>
            <a:br>
              <a:rPr lang="en-GB" sz="6600" spc="-35" dirty="0"/>
            </a:br>
            <a:r>
              <a:rPr sz="6600" spc="-165" dirty="0"/>
              <a:t> </a:t>
            </a:r>
            <a:r>
              <a:rPr sz="6600" spc="-10" dirty="0"/>
              <a:t>Visualization</a:t>
            </a:r>
            <a:endParaRPr sz="6600" dirty="0"/>
          </a:p>
        </p:txBody>
      </p:sp>
      <p:sp>
        <p:nvSpPr>
          <p:cNvPr id="6" name="object 6"/>
          <p:cNvSpPr txBox="1"/>
          <p:nvPr/>
        </p:nvSpPr>
        <p:spPr>
          <a:xfrm>
            <a:off x="4501134" y="2317350"/>
            <a:ext cx="3966210" cy="277812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b="1" spc="-10" dirty="0">
                <a:latin typeface="Segoe UI"/>
                <a:cs typeface="Segoe UI"/>
              </a:rPr>
              <a:t>Objectives:</a:t>
            </a:r>
            <a:endParaRPr sz="2400">
              <a:latin typeface="Segoe UI"/>
              <a:cs typeface="Segoe UI"/>
            </a:endParaRPr>
          </a:p>
          <a:p>
            <a:pPr marL="358775" indent="-346075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Wingdings"/>
              <a:buChar char=""/>
              <a:tabLst>
                <a:tab pos="358775" algn="l"/>
              </a:tabLst>
            </a:pPr>
            <a:r>
              <a:rPr sz="2400" dirty="0">
                <a:latin typeface="Segoe UI"/>
                <a:cs typeface="Segoe UI"/>
              </a:rPr>
              <a:t>Data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Visualization</a:t>
            </a:r>
            <a:endParaRPr sz="2400">
              <a:latin typeface="Segoe UI"/>
              <a:cs typeface="Segoe UI"/>
            </a:endParaRPr>
          </a:p>
          <a:p>
            <a:pPr marL="358775" indent="-346075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Wingdings"/>
              <a:buChar char=""/>
              <a:tabLst>
                <a:tab pos="358775" algn="l"/>
              </a:tabLst>
            </a:pPr>
            <a:r>
              <a:rPr sz="2400" dirty="0">
                <a:latin typeface="Segoe UI"/>
                <a:cs typeface="Segoe UI"/>
              </a:rPr>
              <a:t>Plots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Quantitative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Data</a:t>
            </a:r>
            <a:endParaRPr sz="2400">
              <a:latin typeface="Segoe UI"/>
              <a:cs typeface="Segoe UI"/>
            </a:endParaRPr>
          </a:p>
          <a:p>
            <a:pPr marL="358775" indent="-346075">
              <a:lnSpc>
                <a:spcPct val="100000"/>
              </a:lnSpc>
              <a:spcBef>
                <a:spcPts val="1465"/>
              </a:spcBef>
              <a:buClr>
                <a:srgbClr val="6E6E74"/>
              </a:buClr>
              <a:buSzPct val="79166"/>
              <a:buFont typeface="Wingdings"/>
              <a:buChar char=""/>
              <a:tabLst>
                <a:tab pos="358775" algn="l"/>
              </a:tabLst>
            </a:pPr>
            <a:r>
              <a:rPr sz="2400" dirty="0">
                <a:latin typeface="Segoe UI"/>
                <a:cs typeface="Segoe UI"/>
              </a:rPr>
              <a:t>Plots for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Qualitative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Data</a:t>
            </a:r>
            <a:endParaRPr sz="2400">
              <a:latin typeface="Segoe UI"/>
              <a:cs typeface="Segoe UI"/>
            </a:endParaRPr>
          </a:p>
          <a:p>
            <a:pPr marL="358775" indent="-346075">
              <a:lnSpc>
                <a:spcPct val="100000"/>
              </a:lnSpc>
              <a:spcBef>
                <a:spcPts val="1450"/>
              </a:spcBef>
              <a:buClr>
                <a:srgbClr val="6E6E74"/>
              </a:buClr>
              <a:buSzPct val="79166"/>
              <a:buFont typeface="Wingdings"/>
              <a:buChar char=""/>
              <a:tabLst>
                <a:tab pos="358775" algn="l"/>
              </a:tabLst>
            </a:pPr>
            <a:r>
              <a:rPr sz="2400" dirty="0">
                <a:latin typeface="Segoe UI"/>
                <a:cs typeface="Segoe UI"/>
              </a:rPr>
              <a:t>Python</a:t>
            </a:r>
            <a:r>
              <a:rPr sz="2400" spc="-10" dirty="0">
                <a:latin typeface="Segoe UI"/>
                <a:cs typeface="Segoe UI"/>
              </a:rPr>
              <a:t> Libraries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125" dirty="0"/>
              <a:t> </a:t>
            </a:r>
            <a:r>
              <a:rPr spc="-50" dirty="0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55928"/>
            <a:ext cx="5340350" cy="4498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7620" indent="-182880" algn="just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The</a:t>
            </a:r>
            <a:r>
              <a:rPr sz="2000" spc="3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graphical</a:t>
            </a:r>
            <a:r>
              <a:rPr sz="2000" spc="3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representation</a:t>
            </a:r>
            <a:r>
              <a:rPr sz="2000" spc="409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36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information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22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22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using</a:t>
            </a:r>
            <a:r>
              <a:rPr sz="2000" spc="229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visual</a:t>
            </a:r>
            <a:r>
              <a:rPr sz="2000" spc="229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elements</a:t>
            </a:r>
            <a:r>
              <a:rPr sz="2000" spc="23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such</a:t>
            </a:r>
            <a:r>
              <a:rPr sz="2000" spc="229" dirty="0">
                <a:latin typeface="Segoe UI"/>
                <a:cs typeface="Segoe UI"/>
              </a:rPr>
              <a:t>  </a:t>
            </a:r>
            <a:r>
              <a:rPr sz="2000" spc="-25" dirty="0">
                <a:latin typeface="Segoe UI"/>
                <a:cs typeface="Segoe UI"/>
              </a:rPr>
              <a:t>as </a:t>
            </a:r>
            <a:r>
              <a:rPr sz="2000" dirty="0">
                <a:latin typeface="Segoe UI"/>
                <a:cs typeface="Segoe UI"/>
              </a:rPr>
              <a:t>charts,</a:t>
            </a:r>
            <a:r>
              <a:rPr sz="2000" spc="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graphs,</a:t>
            </a:r>
            <a:r>
              <a:rPr sz="2000" spc="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4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maps.</a:t>
            </a:r>
            <a:endParaRPr sz="2000">
              <a:latin typeface="Segoe UI"/>
              <a:cs typeface="Segoe UI"/>
            </a:endParaRPr>
          </a:p>
          <a:p>
            <a:pPr marL="194945" marR="7620" indent="-182880" algn="just">
              <a:lnSpc>
                <a:spcPct val="100000"/>
              </a:lnSpc>
              <a:spcBef>
                <a:spcPts val="161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It</a:t>
            </a:r>
            <a:r>
              <a:rPr sz="2000" spc="-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2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critical</a:t>
            </a:r>
            <a:r>
              <a:rPr sz="2000" spc="-1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skill</a:t>
            </a:r>
            <a:r>
              <a:rPr sz="2000" spc="-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-1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science,</a:t>
            </a:r>
            <a:r>
              <a:rPr sz="2000" spc="-10" dirty="0">
                <a:latin typeface="Segoe UI"/>
                <a:cs typeface="Segoe UI"/>
              </a:rPr>
              <a:t>  helping </a:t>
            </a:r>
            <a:r>
              <a:rPr sz="2000" dirty="0">
                <a:latin typeface="Segoe UI"/>
                <a:cs typeface="Segoe UI"/>
              </a:rPr>
              <a:t>transform</a:t>
            </a:r>
            <a:r>
              <a:rPr sz="2000" spc="2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raw</a:t>
            </a:r>
            <a:r>
              <a:rPr sz="2000" spc="2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2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into</a:t>
            </a:r>
            <a:r>
              <a:rPr sz="2000" spc="2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understandable</a:t>
            </a:r>
            <a:r>
              <a:rPr sz="2000" spc="25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and </a:t>
            </a:r>
            <a:r>
              <a:rPr sz="2000" dirty="0">
                <a:latin typeface="Segoe UI"/>
                <a:cs typeface="Segoe UI"/>
              </a:rPr>
              <a:t>actionable</a:t>
            </a:r>
            <a:r>
              <a:rPr sz="2000" spc="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insights.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000" b="1" spc="-10" dirty="0">
                <a:latin typeface="Segoe UI"/>
                <a:cs typeface="Segoe UI"/>
              </a:rPr>
              <a:t>Purpose:</a:t>
            </a:r>
            <a:endParaRPr sz="2000">
              <a:latin typeface="Segoe UI"/>
              <a:cs typeface="Segoe UI"/>
            </a:endParaRPr>
          </a:p>
          <a:p>
            <a:pPr marL="194945" marR="7620" indent="-182880" algn="just">
              <a:lnSpc>
                <a:spcPct val="100000"/>
              </a:lnSpc>
              <a:spcBef>
                <a:spcPts val="160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Helps</a:t>
            </a:r>
            <a:r>
              <a:rPr sz="2000" spc="23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23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understanding</a:t>
            </a:r>
            <a:r>
              <a:rPr sz="2000" spc="240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complex</a:t>
            </a:r>
            <a:r>
              <a:rPr sz="2000" spc="240" dirty="0">
                <a:latin typeface="Segoe UI"/>
                <a:cs typeface="Segoe UI"/>
              </a:rPr>
              <a:t>   </a:t>
            </a:r>
            <a:r>
              <a:rPr sz="2000" spc="-20" dirty="0">
                <a:latin typeface="Segoe UI"/>
                <a:cs typeface="Segoe UI"/>
              </a:rPr>
              <a:t>data </a:t>
            </a:r>
            <a:r>
              <a:rPr sz="2000" dirty="0">
                <a:latin typeface="Segoe UI"/>
                <a:cs typeface="Segoe UI"/>
              </a:rPr>
              <a:t>through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visual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context.</a:t>
            </a:r>
            <a:endParaRPr sz="2000">
              <a:latin typeface="Segoe UI"/>
              <a:cs typeface="Segoe UI"/>
            </a:endParaRPr>
          </a:p>
          <a:p>
            <a:pPr marL="194945" marR="5080" indent="-182880" algn="just">
              <a:lnSpc>
                <a:spcPct val="100000"/>
              </a:lnSpc>
              <a:spcBef>
                <a:spcPts val="160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Visualizing</a:t>
            </a:r>
            <a:r>
              <a:rPr sz="2000" spc="15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15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allows</a:t>
            </a:r>
            <a:r>
              <a:rPr sz="2000" spc="15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people</a:t>
            </a:r>
            <a:r>
              <a:rPr sz="2000" spc="15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155" dirty="0">
                <a:latin typeface="Segoe UI"/>
                <a:cs typeface="Segoe UI"/>
              </a:rPr>
              <a:t>   </a:t>
            </a:r>
            <a:r>
              <a:rPr sz="2000" spc="-25" dirty="0">
                <a:latin typeface="Segoe UI"/>
                <a:cs typeface="Segoe UI"/>
              </a:rPr>
              <a:t>see </a:t>
            </a:r>
            <a:r>
              <a:rPr sz="2000" dirty="0">
                <a:latin typeface="Segoe UI"/>
                <a:cs typeface="Segoe UI"/>
              </a:rPr>
              <a:t>relationships,</a:t>
            </a:r>
            <a:r>
              <a:rPr sz="2000" spc="19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patterns,</a:t>
            </a:r>
            <a:r>
              <a:rPr sz="2000" spc="18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18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trends</a:t>
            </a:r>
            <a:r>
              <a:rPr sz="2000" spc="18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185" dirty="0">
                <a:latin typeface="Segoe UI"/>
                <a:cs typeface="Segoe UI"/>
              </a:rPr>
              <a:t>  </a:t>
            </a:r>
            <a:r>
              <a:rPr sz="2000" spc="-25" dirty="0">
                <a:latin typeface="Segoe UI"/>
                <a:cs typeface="Segoe UI"/>
              </a:rPr>
              <a:t>the </a:t>
            </a:r>
            <a:r>
              <a:rPr sz="2000" dirty="0">
                <a:latin typeface="Segoe UI"/>
                <a:cs typeface="Segoe UI"/>
              </a:rPr>
              <a:t>information</a:t>
            </a:r>
            <a:r>
              <a:rPr sz="2000" spc="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you’re</a:t>
            </a:r>
            <a:r>
              <a:rPr sz="2000" spc="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trying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communicate.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000" y="575183"/>
            <a:ext cx="4568639" cy="25198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2927" y="3856986"/>
            <a:ext cx="3830261" cy="24439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05" y="436244"/>
            <a:ext cx="2559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Sources</a:t>
            </a:r>
            <a:r>
              <a:rPr spc="-130" dirty="0"/>
              <a:t> </a:t>
            </a:r>
            <a:r>
              <a:rPr spc="-20" dirty="0"/>
              <a:t>of</a:t>
            </a:r>
            <a:r>
              <a:rPr spc="-12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55928"/>
            <a:ext cx="5337175" cy="561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Primary</a:t>
            </a:r>
            <a:r>
              <a:rPr sz="2000" b="1" spc="10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sources:</a:t>
            </a:r>
            <a:endParaRPr sz="2000">
              <a:latin typeface="Segoe UI"/>
              <a:cs typeface="Segoe UI"/>
            </a:endParaRPr>
          </a:p>
          <a:p>
            <a:pPr marL="196215" indent="-183515">
              <a:lnSpc>
                <a:spcPct val="100000"/>
              </a:lnSpc>
              <a:spcBef>
                <a:spcPts val="160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</a:tabLst>
            </a:pPr>
            <a:r>
              <a:rPr sz="2000" dirty="0">
                <a:latin typeface="Segoe UI"/>
                <a:cs typeface="Segoe UI"/>
              </a:rPr>
              <a:t>Surveys</a:t>
            </a:r>
            <a:r>
              <a:rPr sz="2000" spc="2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19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questionnaires</a:t>
            </a:r>
            <a:r>
              <a:rPr sz="2000" spc="2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experiments</a:t>
            </a:r>
            <a:r>
              <a:rPr sz="2000" spc="21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and</a:t>
            </a:r>
            <a:endParaRPr sz="2000">
              <a:latin typeface="Segoe UI"/>
              <a:cs typeface="Segoe UI"/>
            </a:endParaRPr>
          </a:p>
          <a:p>
            <a:pPr marL="194945">
              <a:lnSpc>
                <a:spcPct val="100000"/>
              </a:lnSpc>
            </a:pPr>
            <a:r>
              <a:rPr sz="2000" spc="-10" dirty="0">
                <a:latin typeface="Segoe UI"/>
                <a:cs typeface="Segoe UI"/>
              </a:rPr>
              <a:t>observations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000" b="1" dirty="0">
                <a:latin typeface="Segoe UI"/>
                <a:cs typeface="Segoe UI"/>
              </a:rPr>
              <a:t>Secondary</a:t>
            </a:r>
            <a:r>
              <a:rPr sz="2000" b="1" spc="9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sources:</a:t>
            </a:r>
            <a:endParaRPr sz="2000">
              <a:latin typeface="Segoe UI"/>
              <a:cs typeface="Segoe UI"/>
            </a:endParaRPr>
          </a:p>
          <a:p>
            <a:pPr marL="196215" indent="-183515">
              <a:lnSpc>
                <a:spcPct val="100000"/>
              </a:lnSpc>
              <a:spcBef>
                <a:spcPts val="159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</a:tabLst>
            </a:pPr>
            <a:r>
              <a:rPr sz="2000" dirty="0">
                <a:latin typeface="Segoe UI"/>
                <a:cs typeface="Segoe UI"/>
              </a:rPr>
              <a:t>Public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or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private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collections</a:t>
            </a:r>
            <a:endParaRPr sz="2000">
              <a:latin typeface="Segoe UI"/>
              <a:cs typeface="Segoe UI"/>
            </a:endParaRPr>
          </a:p>
          <a:p>
            <a:pPr marL="196215" indent="-183515">
              <a:lnSpc>
                <a:spcPct val="100000"/>
              </a:lnSpc>
              <a:spcBef>
                <a:spcPts val="161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  <a:tab pos="1499870" algn="l"/>
                <a:tab pos="2647315" algn="l"/>
                <a:tab pos="4226560" algn="l"/>
                <a:tab pos="4854575" algn="l"/>
              </a:tabLst>
            </a:pPr>
            <a:r>
              <a:rPr sz="2000" spc="-10" dirty="0">
                <a:latin typeface="Segoe UI"/>
                <a:cs typeface="Segoe UI"/>
              </a:rPr>
              <a:t>Academic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research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publications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and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web</a:t>
            </a:r>
            <a:endParaRPr sz="2000">
              <a:latin typeface="Segoe UI"/>
              <a:cs typeface="Segoe UI"/>
            </a:endParaRPr>
          </a:p>
          <a:p>
            <a:pPr marL="194945">
              <a:lnSpc>
                <a:spcPct val="100000"/>
              </a:lnSpc>
            </a:pPr>
            <a:r>
              <a:rPr sz="2000" spc="-10" dirty="0">
                <a:latin typeface="Segoe UI"/>
                <a:cs typeface="Segoe UI"/>
              </a:rPr>
              <a:t>scraping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000" b="1" dirty="0">
                <a:latin typeface="Segoe UI"/>
                <a:cs typeface="Segoe UI"/>
              </a:rPr>
              <a:t>Modern</a:t>
            </a:r>
            <a:r>
              <a:rPr sz="2000" b="1" spc="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Data</a:t>
            </a:r>
            <a:r>
              <a:rPr sz="2000" b="1" spc="1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sources:</a:t>
            </a:r>
            <a:endParaRPr sz="2000">
              <a:latin typeface="Segoe UI"/>
              <a:cs typeface="Segoe UI"/>
            </a:endParaRPr>
          </a:p>
          <a:p>
            <a:pPr marL="196215" indent="-183515">
              <a:lnSpc>
                <a:spcPct val="100000"/>
              </a:lnSpc>
              <a:spcBef>
                <a:spcPts val="160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  <a:tab pos="719455" algn="l"/>
                <a:tab pos="1463675" algn="l"/>
                <a:tab pos="2501265" algn="l"/>
                <a:tab pos="3091180" algn="l"/>
                <a:tab pos="3608070" algn="l"/>
                <a:tab pos="4605020" algn="l"/>
              </a:tabLst>
            </a:pPr>
            <a:r>
              <a:rPr sz="2000" spc="-25" dirty="0">
                <a:latin typeface="Segoe UI"/>
                <a:cs typeface="Segoe UI"/>
              </a:rPr>
              <a:t>Big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Data,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Sensors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and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IoT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devices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(smart</a:t>
            </a:r>
            <a:endParaRPr sz="2000">
              <a:latin typeface="Segoe UI"/>
              <a:cs typeface="Segoe UI"/>
            </a:endParaRPr>
          </a:p>
          <a:p>
            <a:pPr marL="194945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cities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etc.)</a:t>
            </a:r>
            <a:endParaRPr sz="2000">
              <a:latin typeface="Segoe UI"/>
              <a:cs typeface="Segoe UI"/>
            </a:endParaRPr>
          </a:p>
          <a:p>
            <a:pPr marL="196215" indent="-183515">
              <a:lnSpc>
                <a:spcPct val="100000"/>
              </a:lnSpc>
              <a:spcBef>
                <a:spcPts val="161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</a:tabLst>
            </a:pPr>
            <a:r>
              <a:rPr sz="2000" dirty="0">
                <a:latin typeface="Segoe UI"/>
                <a:cs typeface="Segoe UI"/>
              </a:rPr>
              <a:t>Surveillance</a:t>
            </a:r>
            <a:r>
              <a:rPr sz="2000" spc="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systems</a:t>
            </a:r>
            <a:r>
              <a:rPr sz="2000" spc="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(security</a:t>
            </a:r>
            <a:r>
              <a:rPr sz="2000" spc="8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cameras)</a:t>
            </a:r>
            <a:endParaRPr sz="2000">
              <a:latin typeface="Segoe UI"/>
              <a:cs typeface="Segoe UI"/>
            </a:endParaRPr>
          </a:p>
          <a:p>
            <a:pPr marL="194945" marR="5080" indent="-182880">
              <a:lnSpc>
                <a:spcPct val="100000"/>
              </a:lnSpc>
              <a:spcBef>
                <a:spcPts val="159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  <a:tab pos="1318895" algn="l"/>
                <a:tab pos="2078989" algn="l"/>
                <a:tab pos="3491865" algn="l"/>
                <a:tab pos="4432300" algn="l"/>
              </a:tabLst>
            </a:pPr>
            <a:r>
              <a:rPr sz="2000" spc="-10" dirty="0">
                <a:latin typeface="Segoe UI"/>
                <a:cs typeface="Segoe UI"/>
              </a:rPr>
              <a:t>Medical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Data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(electronic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health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records, </a:t>
            </a:r>
            <a:r>
              <a:rPr sz="2000" dirty="0">
                <a:latin typeface="Segoe UI"/>
                <a:cs typeface="Segoe UI"/>
              </a:rPr>
              <a:t>medical</a:t>
            </a:r>
            <a:r>
              <a:rPr sz="2000" spc="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imaging,</a:t>
            </a:r>
            <a:r>
              <a:rPr sz="2000" spc="50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etc.)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1685" y="371093"/>
            <a:ext cx="4392803" cy="14715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1671" y="1915541"/>
            <a:ext cx="4318730" cy="22416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9596" y="4350130"/>
            <a:ext cx="4670679" cy="2375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05" y="436244"/>
            <a:ext cx="4404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  <a:r>
              <a:rPr spc="-130" dirty="0"/>
              <a:t> </a:t>
            </a:r>
            <a:r>
              <a:rPr spc="-55" dirty="0"/>
              <a:t>Visualization</a:t>
            </a:r>
            <a:r>
              <a:rPr spc="-85" dirty="0"/>
              <a:t> </a:t>
            </a:r>
            <a:r>
              <a:rPr spc="-30" dirty="0"/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40688"/>
            <a:ext cx="5340350" cy="54559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6985" algn="just">
              <a:lnSpc>
                <a:spcPts val="2280"/>
              </a:lnSpc>
              <a:spcBef>
                <a:spcPts val="280"/>
              </a:spcBef>
            </a:pPr>
            <a:r>
              <a:rPr sz="2000" dirty="0">
                <a:latin typeface="Segoe UI"/>
                <a:cs typeface="Segoe UI"/>
              </a:rPr>
              <a:t>Python</a:t>
            </a:r>
            <a:r>
              <a:rPr sz="2000" spc="4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has</a:t>
            </a:r>
            <a:r>
              <a:rPr sz="2000" spc="4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become</a:t>
            </a:r>
            <a:r>
              <a:rPr sz="2000" spc="4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4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dominant</a:t>
            </a:r>
            <a:r>
              <a:rPr sz="2000" spc="459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language</a:t>
            </a:r>
            <a:r>
              <a:rPr sz="2000" spc="44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in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16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science,</a:t>
            </a:r>
            <a:r>
              <a:rPr sz="2000" spc="17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offering</a:t>
            </a:r>
            <a:r>
              <a:rPr sz="2000" spc="17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16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rich</a:t>
            </a:r>
            <a:r>
              <a:rPr sz="2000" spc="18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ecosystem</a:t>
            </a:r>
            <a:r>
              <a:rPr sz="2000" spc="170" dirty="0">
                <a:latin typeface="Segoe UI"/>
                <a:cs typeface="Segoe UI"/>
              </a:rPr>
              <a:t>  </a:t>
            </a:r>
            <a:r>
              <a:rPr sz="2000" spc="-25" dirty="0">
                <a:latin typeface="Segoe UI"/>
                <a:cs typeface="Segoe UI"/>
              </a:rPr>
              <a:t>of </a:t>
            </a:r>
            <a:r>
              <a:rPr sz="2000" dirty="0">
                <a:latin typeface="Segoe UI"/>
                <a:cs typeface="Segoe UI"/>
              </a:rPr>
              <a:t>visualization</a:t>
            </a:r>
            <a:r>
              <a:rPr sz="2000" spc="6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libraries.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000" b="1" spc="-10" dirty="0">
                <a:latin typeface="Segoe UI"/>
                <a:cs typeface="Segoe UI"/>
              </a:rPr>
              <a:t>Matplotlib</a:t>
            </a:r>
            <a:endParaRPr sz="2000">
              <a:latin typeface="Segoe UI"/>
              <a:cs typeface="Segoe UI"/>
            </a:endParaRPr>
          </a:p>
          <a:p>
            <a:pPr marL="239395" marR="6985" indent="-227329">
              <a:lnSpc>
                <a:spcPts val="2160"/>
              </a:lnSpc>
              <a:spcBef>
                <a:spcPts val="535"/>
              </a:spcBef>
              <a:tabLst>
                <a:tab pos="239395" algn="l"/>
                <a:tab pos="1610995" algn="l"/>
                <a:tab pos="1990725" algn="l"/>
                <a:tab pos="2565400" algn="l"/>
                <a:tab pos="4094479" algn="l"/>
                <a:tab pos="4528820" algn="l"/>
              </a:tabLst>
            </a:pPr>
            <a:r>
              <a:rPr sz="2000" spc="-10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Matplotlib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is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grandfather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of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python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visualization</a:t>
            </a:r>
            <a:r>
              <a:rPr sz="2000" spc="-9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packages.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39395" algn="l"/>
              </a:tabLst>
            </a:pPr>
            <a:r>
              <a:rPr sz="2000" spc="-10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Foundation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for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many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other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libraries.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ts val="2280"/>
              </a:lnSpc>
              <a:spcBef>
                <a:spcPts val="360"/>
              </a:spcBef>
              <a:tabLst>
                <a:tab pos="239395" algn="l"/>
              </a:tabLst>
            </a:pPr>
            <a:r>
              <a:rPr sz="2000" spc="-10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It</a:t>
            </a:r>
            <a:r>
              <a:rPr sz="2000" spc="19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is</a:t>
            </a:r>
            <a:r>
              <a:rPr sz="2000" spc="18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extremely</a:t>
            </a:r>
            <a:r>
              <a:rPr sz="2000" spc="19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powerful</a:t>
            </a:r>
            <a:r>
              <a:rPr sz="2000" spc="18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but</a:t>
            </a:r>
            <a:r>
              <a:rPr sz="2000" spc="19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with</a:t>
            </a:r>
            <a:r>
              <a:rPr sz="2000" spc="18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that</a:t>
            </a:r>
            <a:r>
              <a:rPr sz="2000" spc="17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power</a:t>
            </a:r>
            <a:endParaRPr sz="2000">
              <a:latin typeface="Segoe UI"/>
              <a:cs typeface="Segoe UI"/>
            </a:endParaRPr>
          </a:p>
          <a:p>
            <a:pPr marL="239395">
              <a:lnSpc>
                <a:spcPts val="2280"/>
              </a:lnSpc>
            </a:pP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comes</a:t>
            </a:r>
            <a:r>
              <a:rPr sz="2000" spc="-7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complexity.</a:t>
            </a:r>
            <a:endParaRPr sz="2000">
              <a:latin typeface="Segoe UI"/>
              <a:cs typeface="Segoe UI"/>
            </a:endParaRPr>
          </a:p>
          <a:p>
            <a:pPr marL="239395" marR="5080" indent="-227329">
              <a:lnSpc>
                <a:spcPts val="2160"/>
              </a:lnSpc>
              <a:spcBef>
                <a:spcPts val="630"/>
              </a:spcBef>
              <a:tabLst>
                <a:tab pos="239395" algn="l"/>
                <a:tab pos="885825" algn="l"/>
                <a:tab pos="1374775" algn="l"/>
                <a:tab pos="2455545" algn="l"/>
                <a:tab pos="4737100" algn="l"/>
              </a:tabLst>
            </a:pPr>
            <a:r>
              <a:rPr sz="2000" spc="-10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Best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for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creating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publication-quality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static visualizations.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000" b="1" spc="-10" dirty="0">
                <a:latin typeface="Segoe UI"/>
                <a:cs typeface="Segoe UI"/>
              </a:rPr>
              <a:t>Seaborn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ts val="2280"/>
              </a:lnSpc>
              <a:spcBef>
                <a:spcPts val="265"/>
              </a:spcBef>
              <a:tabLst>
                <a:tab pos="239395" algn="l"/>
              </a:tabLst>
            </a:pPr>
            <a:r>
              <a:rPr sz="2000" spc="-10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Leverages</a:t>
            </a:r>
            <a:r>
              <a:rPr sz="2000" spc="30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matplotlib</a:t>
            </a:r>
            <a:r>
              <a:rPr sz="2000" spc="3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for</a:t>
            </a:r>
            <a:r>
              <a:rPr sz="2000" spc="3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beautiful,</a:t>
            </a:r>
            <a:r>
              <a:rPr sz="2000" spc="3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minimal-</a:t>
            </a:r>
            <a:endParaRPr sz="2000">
              <a:latin typeface="Segoe UI"/>
              <a:cs typeface="Segoe UI"/>
            </a:endParaRPr>
          </a:p>
          <a:p>
            <a:pPr marL="239395">
              <a:lnSpc>
                <a:spcPts val="2280"/>
              </a:lnSpc>
            </a:pP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code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charts.</a:t>
            </a:r>
            <a:endParaRPr sz="2000">
              <a:latin typeface="Segoe UI"/>
              <a:cs typeface="Segoe UI"/>
            </a:endParaRPr>
          </a:p>
          <a:p>
            <a:pPr marL="239395" marR="6985" indent="-227329" algn="just">
              <a:lnSpc>
                <a:spcPts val="2160"/>
              </a:lnSpc>
              <a:spcBef>
                <a:spcPts val="630"/>
              </a:spcBef>
            </a:pPr>
            <a:r>
              <a:rPr sz="2000" spc="-10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spc="50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It’s</a:t>
            </a:r>
            <a:r>
              <a:rPr sz="2000" spc="10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d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e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fault</a:t>
            </a:r>
            <a:r>
              <a:rPr sz="2000" spc="10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styles</a:t>
            </a:r>
            <a:r>
              <a:rPr sz="2000" spc="9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and</a:t>
            </a:r>
            <a:r>
              <a:rPr sz="2000" spc="10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color</a:t>
            </a:r>
            <a:r>
              <a:rPr sz="2000" spc="9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palettes</a:t>
            </a:r>
            <a:r>
              <a:rPr sz="2000" spc="10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are</a:t>
            </a:r>
            <a:r>
              <a:rPr sz="2000" spc="8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70" dirty="0">
                <a:solidFill>
                  <a:srgbClr val="252525"/>
                </a:solidFill>
                <a:latin typeface="Segoe UI"/>
                <a:cs typeface="Segoe UI"/>
              </a:rPr>
              <a:t>more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modern</a:t>
            </a:r>
            <a:r>
              <a:rPr sz="2000" spc="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and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visually</a:t>
            </a:r>
            <a:r>
              <a:rPr sz="2000" spc="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appealing.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Specialized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in 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statistical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visualizations.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1940" y="2541709"/>
            <a:ext cx="4758877" cy="16330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507" y="436244"/>
            <a:ext cx="4853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Anatomy</a:t>
            </a:r>
            <a:r>
              <a:rPr spc="-140" dirty="0"/>
              <a:t> </a:t>
            </a:r>
            <a:r>
              <a:rPr spc="-35" dirty="0"/>
              <a:t>of</a:t>
            </a:r>
            <a:r>
              <a:rPr spc="-155" dirty="0"/>
              <a:t> </a:t>
            </a:r>
            <a:r>
              <a:rPr spc="-50" dirty="0"/>
              <a:t>Matplotlib</a:t>
            </a:r>
            <a:r>
              <a:rPr spc="-130" dirty="0"/>
              <a:t> </a:t>
            </a:r>
            <a:r>
              <a:rPr spc="-10" dirty="0"/>
              <a:t>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05" y="436244"/>
            <a:ext cx="37801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Quantitative</a:t>
            </a:r>
            <a:r>
              <a:rPr spc="-114" dirty="0"/>
              <a:t> </a:t>
            </a:r>
            <a:r>
              <a:rPr spc="-45" dirty="0"/>
              <a:t>Data</a:t>
            </a:r>
            <a:r>
              <a:rPr spc="-130" dirty="0"/>
              <a:t> </a:t>
            </a:r>
            <a:r>
              <a:rPr spc="-10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866622"/>
            <a:ext cx="5337175" cy="203136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000" b="1" spc="-10" dirty="0">
                <a:latin typeface="Segoe UI"/>
                <a:cs typeface="Segoe UI"/>
              </a:rPr>
              <a:t>Histogram</a:t>
            </a:r>
            <a:endParaRPr sz="2000">
              <a:latin typeface="Segoe UI"/>
              <a:cs typeface="Segoe UI"/>
            </a:endParaRPr>
          </a:p>
          <a:p>
            <a:pPr marL="196215" indent="-183515">
              <a:lnSpc>
                <a:spcPts val="2340"/>
              </a:lnSpc>
              <a:spcBef>
                <a:spcPts val="59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  <a:tab pos="535305" algn="l"/>
                <a:tab pos="1077595" algn="l"/>
                <a:tab pos="1830705" algn="l"/>
                <a:tab pos="2955290" algn="l"/>
                <a:tab pos="3498215" algn="l"/>
                <a:tab pos="4793615" algn="l"/>
                <a:tab pos="5194300" algn="l"/>
              </a:tabLst>
            </a:pPr>
            <a:r>
              <a:rPr sz="2000" spc="-50" dirty="0">
                <a:latin typeface="Segoe UI"/>
                <a:cs typeface="Segoe UI"/>
              </a:rPr>
              <a:t>A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bar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chart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showing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the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frequency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of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50" dirty="0">
                <a:latin typeface="Segoe UI"/>
                <a:cs typeface="Segoe UI"/>
              </a:rPr>
              <a:t>a</a:t>
            </a:r>
            <a:endParaRPr sz="2000">
              <a:latin typeface="Segoe UI"/>
              <a:cs typeface="Segoe UI"/>
            </a:endParaRPr>
          </a:p>
          <a:p>
            <a:pPr marL="194945">
              <a:lnSpc>
                <a:spcPts val="2340"/>
              </a:lnSpc>
            </a:pPr>
            <a:r>
              <a:rPr sz="2000" dirty="0">
                <a:latin typeface="Segoe UI"/>
                <a:cs typeface="Segoe UI"/>
              </a:rPr>
              <a:t>numerical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variable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within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specific</a:t>
            </a:r>
            <a:r>
              <a:rPr sz="2000" spc="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intervals.</a:t>
            </a:r>
            <a:endParaRPr sz="2000">
              <a:latin typeface="Segoe UI"/>
              <a:cs typeface="Segoe UI"/>
            </a:endParaRPr>
          </a:p>
          <a:p>
            <a:pPr marL="194945" marR="5715" indent="-182880" algn="just">
              <a:lnSpc>
                <a:spcPts val="2280"/>
              </a:lnSpc>
              <a:spcBef>
                <a:spcPts val="75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b="1" dirty="0">
                <a:latin typeface="Segoe UI"/>
                <a:cs typeface="Segoe UI"/>
              </a:rPr>
              <a:t>Interpretation:</a:t>
            </a:r>
            <a:r>
              <a:rPr sz="2000" b="1" spc="49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Look</a:t>
            </a:r>
            <a:r>
              <a:rPr sz="2000" spc="155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at</a:t>
            </a:r>
            <a:r>
              <a:rPr sz="2000" spc="50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150" dirty="0">
                <a:latin typeface="Segoe UI"/>
                <a:cs typeface="Segoe UI"/>
              </a:rPr>
              <a:t>   </a:t>
            </a:r>
            <a:r>
              <a:rPr sz="2000" dirty="0">
                <a:latin typeface="Segoe UI"/>
                <a:cs typeface="Segoe UI"/>
              </a:rPr>
              <a:t>shape</a:t>
            </a:r>
            <a:r>
              <a:rPr sz="2000" spc="150" dirty="0">
                <a:latin typeface="Segoe UI"/>
                <a:cs typeface="Segoe UI"/>
              </a:rPr>
              <a:t>   </a:t>
            </a:r>
            <a:r>
              <a:rPr sz="2000" spc="-25" dirty="0">
                <a:latin typeface="Segoe UI"/>
                <a:cs typeface="Segoe UI"/>
              </a:rPr>
              <a:t>to </a:t>
            </a:r>
            <a:r>
              <a:rPr sz="2000" dirty="0">
                <a:latin typeface="Segoe UI"/>
                <a:cs typeface="Segoe UI"/>
              </a:rPr>
              <a:t>understand</a:t>
            </a:r>
            <a:r>
              <a:rPr sz="2000" spc="28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2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distribution</a:t>
            </a:r>
            <a:r>
              <a:rPr sz="2000" spc="3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(e.g.,</a:t>
            </a:r>
            <a:r>
              <a:rPr sz="2000" spc="29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symmetric, </a:t>
            </a:r>
            <a:r>
              <a:rPr sz="2000" dirty="0">
                <a:latin typeface="Segoe UI"/>
                <a:cs typeface="Segoe UI"/>
              </a:rPr>
              <a:t>skewed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left/right).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805" y="2871456"/>
            <a:ext cx="5337175" cy="23209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000" b="1" dirty="0">
                <a:latin typeface="Segoe UI"/>
                <a:cs typeface="Segoe UI"/>
              </a:rPr>
              <a:t>KDE</a:t>
            </a:r>
            <a:r>
              <a:rPr sz="2000" b="1" spc="15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194945" marR="5080" indent="-182880" algn="just">
              <a:lnSpc>
                <a:spcPts val="2280"/>
              </a:lnSpc>
              <a:spcBef>
                <a:spcPts val="76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3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Kernel</a:t>
            </a:r>
            <a:r>
              <a:rPr sz="2000" spc="3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Density</a:t>
            </a:r>
            <a:r>
              <a:rPr sz="2000" spc="3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Estimate</a:t>
            </a:r>
            <a:r>
              <a:rPr sz="2000" spc="3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plot;</a:t>
            </a:r>
            <a:r>
              <a:rPr sz="2000" spc="3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3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smoothed </a:t>
            </a:r>
            <a:r>
              <a:rPr sz="2000" dirty="0">
                <a:latin typeface="Segoe UI"/>
                <a:cs typeface="Segoe UI"/>
              </a:rPr>
              <a:t>version</a:t>
            </a:r>
            <a:r>
              <a:rPr sz="2000" spc="1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1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114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histogram</a:t>
            </a:r>
            <a:r>
              <a:rPr sz="2000" spc="1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showing</a:t>
            </a:r>
            <a:r>
              <a:rPr sz="2000" spc="1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1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probability curve.</a:t>
            </a:r>
            <a:endParaRPr sz="2000">
              <a:latin typeface="Segoe UI"/>
              <a:cs typeface="Segoe UI"/>
            </a:endParaRPr>
          </a:p>
          <a:p>
            <a:pPr marL="194945" marR="5715" indent="-182880" algn="just">
              <a:lnSpc>
                <a:spcPts val="2280"/>
              </a:lnSpc>
              <a:spcBef>
                <a:spcPts val="70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b="1" dirty="0">
                <a:latin typeface="Segoe UI"/>
                <a:cs typeface="Segoe UI"/>
              </a:rPr>
              <a:t>Interpretation:</a:t>
            </a:r>
            <a:r>
              <a:rPr sz="2000" b="1" spc="1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Peaks</a:t>
            </a:r>
            <a:r>
              <a:rPr sz="2000" spc="1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1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1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curve</a:t>
            </a:r>
            <a:r>
              <a:rPr sz="2000" spc="19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represent </a:t>
            </a:r>
            <a:r>
              <a:rPr sz="2000" dirty="0">
                <a:latin typeface="Segoe UI"/>
                <a:cs typeface="Segoe UI"/>
              </a:rPr>
              <a:t>values</a:t>
            </a:r>
            <a:r>
              <a:rPr sz="2000" spc="204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2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2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highest</a:t>
            </a:r>
            <a:r>
              <a:rPr sz="2000" spc="21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concentration</a:t>
            </a:r>
            <a:r>
              <a:rPr sz="2000" spc="220" dirty="0">
                <a:latin typeface="Segoe UI"/>
                <a:cs typeface="Segoe UI"/>
              </a:rPr>
              <a:t>  </a:t>
            </a:r>
            <a:r>
              <a:rPr sz="2000" spc="-25" dirty="0">
                <a:latin typeface="Segoe UI"/>
                <a:cs typeface="Segoe UI"/>
              </a:rPr>
              <a:t>of </a:t>
            </a:r>
            <a:r>
              <a:rPr sz="2000" dirty="0">
                <a:latin typeface="Segoe UI"/>
                <a:cs typeface="Segoe UI"/>
              </a:rPr>
              <a:t>data.</a:t>
            </a:r>
            <a:r>
              <a:rPr sz="2000" spc="47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It</a:t>
            </a:r>
            <a:r>
              <a:rPr sz="2000" spc="480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helps</a:t>
            </a:r>
            <a:r>
              <a:rPr sz="2000" spc="475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visualize</a:t>
            </a:r>
            <a:r>
              <a:rPr sz="2000" spc="484" dirty="0">
                <a:latin typeface="Segoe UI"/>
                <a:cs typeface="Segoe UI"/>
              </a:rPr>
              <a:t> 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465" dirty="0">
                <a:latin typeface="Segoe UI"/>
                <a:cs typeface="Segoe UI"/>
              </a:rPr>
              <a:t>  </a:t>
            </a:r>
            <a:r>
              <a:rPr sz="2000" spc="-10" dirty="0">
                <a:latin typeface="Segoe UI"/>
                <a:cs typeface="Segoe UI"/>
              </a:rPr>
              <a:t>underlying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2685" y="5150866"/>
            <a:ext cx="5154295" cy="6210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80"/>
              </a:spcBef>
              <a:tabLst>
                <a:tab pos="1557655" algn="l"/>
                <a:tab pos="2469515" algn="l"/>
                <a:tab pos="3301365" algn="l"/>
                <a:tab pos="4263390" algn="l"/>
                <a:tab pos="5011420" algn="l"/>
              </a:tabLst>
            </a:pPr>
            <a:r>
              <a:rPr sz="2000" spc="-10" dirty="0">
                <a:latin typeface="Segoe UI"/>
                <a:cs typeface="Segoe UI"/>
              </a:rPr>
              <a:t>distribution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shape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more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clearly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than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50" dirty="0">
                <a:latin typeface="Segoe UI"/>
                <a:cs typeface="Segoe UI"/>
              </a:rPr>
              <a:t>a </a:t>
            </a:r>
            <a:r>
              <a:rPr sz="2000" spc="-10" dirty="0">
                <a:latin typeface="Segoe UI"/>
                <a:cs typeface="Segoe UI"/>
              </a:rPr>
              <a:t>histogram.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81213" y="329564"/>
            <a:ext cx="1284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Segoe UI"/>
                <a:cs typeface="Segoe UI"/>
              </a:rPr>
              <a:t>Histogram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2981" y="797843"/>
            <a:ext cx="3578763" cy="24191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290941" y="3454730"/>
            <a:ext cx="10687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KDE</a:t>
            </a:r>
            <a:r>
              <a:rPr sz="2000" b="1" spc="-1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9409" y="3907093"/>
            <a:ext cx="4140989" cy="27288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Quantitative</a:t>
            </a:r>
            <a:r>
              <a:rPr spc="-114" dirty="0"/>
              <a:t> </a:t>
            </a:r>
            <a:r>
              <a:rPr spc="-45" dirty="0"/>
              <a:t>Data</a:t>
            </a:r>
            <a:r>
              <a:rPr spc="-130" dirty="0"/>
              <a:t> </a:t>
            </a:r>
            <a:r>
              <a:rPr spc="-10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07770"/>
            <a:ext cx="5187950" cy="49904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latin typeface="Segoe UI"/>
                <a:cs typeface="Segoe UI"/>
              </a:rPr>
              <a:t>Box</a:t>
            </a:r>
            <a:r>
              <a:rPr sz="2000" b="1" spc="-3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239395" marR="5080" indent="-182880">
              <a:lnSpc>
                <a:spcPts val="2160"/>
              </a:lnSpc>
              <a:spcBef>
                <a:spcPts val="540"/>
              </a:spcBef>
            </a:pPr>
            <a:r>
              <a:rPr sz="2000" spc="-10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spc="16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plot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displaying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five-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number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summary: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minimum,</a:t>
            </a:r>
            <a:r>
              <a:rPr sz="2000" spc="-3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first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quartile</a:t>
            </a:r>
            <a:r>
              <a:rPr sz="2000" spc="-3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(Q1),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median,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third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quartile</a:t>
            </a:r>
            <a:r>
              <a:rPr sz="2000" spc="-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(Q3), and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maximum.</a:t>
            </a:r>
            <a:endParaRPr sz="2000">
              <a:latin typeface="Segoe UI"/>
              <a:cs typeface="Segoe UI"/>
            </a:endParaRPr>
          </a:p>
          <a:p>
            <a:pPr marL="239395" marR="17780" indent="-182880">
              <a:lnSpc>
                <a:spcPts val="2160"/>
              </a:lnSpc>
              <a:spcBef>
                <a:spcPts val="600"/>
              </a:spcBef>
            </a:pPr>
            <a:r>
              <a:rPr sz="2000" spc="-10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spc="16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52525"/>
                </a:solidFill>
                <a:latin typeface="Segoe UI"/>
                <a:cs typeface="Segoe UI"/>
              </a:rPr>
              <a:t>Interpretation:</a:t>
            </a:r>
            <a:r>
              <a:rPr sz="2000" b="1" spc="-8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central</a:t>
            </a:r>
            <a:r>
              <a:rPr sz="2000" spc="-5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box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represents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middle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50%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of</a:t>
            </a:r>
            <a:r>
              <a:rPr sz="2000" spc="-3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your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data.</a:t>
            </a:r>
            <a:r>
              <a:rPr sz="2000" spc="-5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line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inside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is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3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median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(50th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percentile).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"Whiskers"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show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data's</a:t>
            </a:r>
            <a:r>
              <a:rPr sz="2000" spc="-7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range.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000" b="1" dirty="0">
                <a:latin typeface="Segoe UI"/>
                <a:cs typeface="Segoe UI"/>
              </a:rPr>
              <a:t>Violin</a:t>
            </a:r>
            <a:r>
              <a:rPr sz="2000" b="1" spc="1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56515">
              <a:lnSpc>
                <a:spcPct val="100000"/>
              </a:lnSpc>
              <a:spcBef>
                <a:spcPts val="250"/>
              </a:spcBef>
            </a:pPr>
            <a:r>
              <a:rPr sz="2000" spc="-10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spc="16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combination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of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Box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Plot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and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KDE</a:t>
            </a:r>
            <a:r>
              <a:rPr sz="2000" spc="-1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plot.</a:t>
            </a:r>
            <a:endParaRPr sz="2000">
              <a:latin typeface="Segoe UI"/>
              <a:cs typeface="Segoe UI"/>
            </a:endParaRPr>
          </a:p>
          <a:p>
            <a:pPr marL="239395" marR="98425" indent="-182880">
              <a:lnSpc>
                <a:spcPct val="90000"/>
              </a:lnSpc>
              <a:spcBef>
                <a:spcPts val="600"/>
              </a:spcBef>
            </a:pPr>
            <a:r>
              <a:rPr sz="2000" spc="-10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spc="16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52525"/>
                </a:solidFill>
                <a:latin typeface="Segoe UI"/>
                <a:cs typeface="Segoe UI"/>
              </a:rPr>
              <a:t>Interpretation:</a:t>
            </a:r>
            <a:r>
              <a:rPr sz="2000" b="1" spc="-5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Use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inner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box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plot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for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summary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statistics.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outer</a:t>
            </a:r>
            <a:r>
              <a:rPr sz="2000" spc="-3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shape's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width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shows</a:t>
            </a:r>
            <a:r>
              <a:rPr sz="2000" spc="-5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the</a:t>
            </a:r>
            <a:r>
              <a:rPr sz="2000" spc="-5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data's</a:t>
            </a:r>
            <a:r>
              <a:rPr sz="2000" spc="-6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density.</a:t>
            </a:r>
            <a:r>
              <a:rPr sz="2000" spc="-5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Wider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sections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mean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more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data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points</a:t>
            </a:r>
            <a:r>
              <a:rPr sz="2000" spc="-2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are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at</a:t>
            </a:r>
            <a:r>
              <a:rPr sz="2000" spc="-2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that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value,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which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is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useful</a:t>
            </a:r>
            <a:r>
              <a:rPr sz="2000" spc="-3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for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seeing</a:t>
            </a:r>
            <a:r>
              <a:rPr sz="2000" spc="-3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multiple</a:t>
            </a:r>
            <a:r>
              <a:rPr sz="2000" spc="-40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peaks </a:t>
            </a:r>
            <a:r>
              <a:rPr sz="2000" dirty="0">
                <a:solidFill>
                  <a:srgbClr val="252525"/>
                </a:solidFill>
                <a:latin typeface="Segoe UI"/>
                <a:cs typeface="Segoe UI"/>
              </a:rPr>
              <a:t>(bimodal</a:t>
            </a:r>
            <a:r>
              <a:rPr sz="2000" spc="-45" dirty="0">
                <a:solidFill>
                  <a:srgbClr val="252525"/>
                </a:solidFill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Segoe UI"/>
                <a:cs typeface="Segoe UI"/>
              </a:rPr>
              <a:t>distribution).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7705" y="329564"/>
            <a:ext cx="10350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Segoe UI"/>
                <a:cs typeface="Segoe UI"/>
              </a:rPr>
              <a:t>Box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7402" y="801780"/>
            <a:ext cx="3849747" cy="24107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87308" y="3454730"/>
            <a:ext cx="12719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Violin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9238" y="3910272"/>
            <a:ext cx="3847533" cy="2402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Quantitative</a:t>
            </a:r>
            <a:r>
              <a:rPr spc="-114" dirty="0"/>
              <a:t> </a:t>
            </a:r>
            <a:r>
              <a:rPr spc="-45" dirty="0"/>
              <a:t>Data</a:t>
            </a:r>
            <a:r>
              <a:rPr spc="-130" dirty="0"/>
              <a:t> </a:t>
            </a:r>
            <a:r>
              <a:rPr spc="-10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40688"/>
            <a:ext cx="5326380" cy="5113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Scatter</a:t>
            </a:r>
            <a:r>
              <a:rPr sz="2000" b="1" spc="1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194945" marR="259079" indent="-182880">
              <a:lnSpc>
                <a:spcPct val="95100"/>
              </a:lnSpc>
              <a:spcBef>
                <a:spcPts val="160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plot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places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dot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each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point </a:t>
            </a:r>
            <a:r>
              <a:rPr sz="2000" dirty="0">
                <a:latin typeface="Segoe UI"/>
                <a:cs typeface="Segoe UI"/>
              </a:rPr>
              <a:t>based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on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its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value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two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different </a:t>
            </a:r>
            <a:r>
              <a:rPr sz="2000" dirty="0">
                <a:latin typeface="Segoe UI"/>
                <a:cs typeface="Segoe UI"/>
              </a:rPr>
              <a:t>numerical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variables.</a:t>
            </a:r>
            <a:endParaRPr sz="2000">
              <a:latin typeface="Segoe UI"/>
              <a:cs typeface="Segoe UI"/>
            </a:endParaRPr>
          </a:p>
          <a:p>
            <a:pPr marL="194945" marR="5080" indent="-182880">
              <a:lnSpc>
                <a:spcPts val="2280"/>
              </a:lnSpc>
              <a:spcBef>
                <a:spcPts val="165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b="1" dirty="0">
                <a:latin typeface="Segoe UI"/>
                <a:cs typeface="Segoe UI"/>
              </a:rPr>
              <a:t>Interpretation:</a:t>
            </a:r>
            <a:r>
              <a:rPr sz="2000" b="1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Look for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pattern.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Do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</a:t>
            </a:r>
            <a:r>
              <a:rPr sz="2000" dirty="0">
                <a:latin typeface="Segoe UI"/>
                <a:cs typeface="Segoe UI"/>
              </a:rPr>
              <a:t>dots trend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upwards (positive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correlation), </a:t>
            </a:r>
            <a:r>
              <a:rPr sz="2000" dirty="0">
                <a:latin typeface="Segoe UI"/>
                <a:cs typeface="Segoe UI"/>
              </a:rPr>
              <a:t>downwards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(negative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correlation), or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form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no </a:t>
            </a:r>
            <a:r>
              <a:rPr sz="2000" spc="-10" dirty="0">
                <a:latin typeface="Segoe UI"/>
                <a:cs typeface="Segoe UI"/>
              </a:rPr>
              <a:t>pattern?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b="1" dirty="0">
                <a:latin typeface="Segoe UI"/>
                <a:cs typeface="Segoe UI"/>
              </a:rPr>
              <a:t>Line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194945" marR="212090" indent="-182880">
              <a:lnSpc>
                <a:spcPts val="2280"/>
              </a:lnSpc>
              <a:spcBef>
                <a:spcPts val="1664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plot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 connects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points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line, </a:t>
            </a:r>
            <a:r>
              <a:rPr sz="2000" dirty="0">
                <a:latin typeface="Segoe UI"/>
                <a:cs typeface="Segoe UI"/>
              </a:rPr>
              <a:t>typically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used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 show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trend over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time.</a:t>
            </a:r>
            <a:endParaRPr sz="2000">
              <a:latin typeface="Segoe UI"/>
              <a:cs typeface="Segoe UI"/>
            </a:endParaRPr>
          </a:p>
          <a:p>
            <a:pPr marL="194945" marR="12065" indent="-182880">
              <a:lnSpc>
                <a:spcPts val="2280"/>
              </a:lnSpc>
              <a:spcBef>
                <a:spcPts val="160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b="1" dirty="0">
                <a:latin typeface="Segoe UI"/>
                <a:cs typeface="Segoe UI"/>
              </a:rPr>
              <a:t>Interpretation:</a:t>
            </a:r>
            <a:r>
              <a:rPr sz="2000" b="1" spc="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Observe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slope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line </a:t>
            </a:r>
            <a:r>
              <a:rPr sz="2000" dirty="0">
                <a:latin typeface="Segoe UI"/>
                <a:cs typeface="Segoe UI"/>
              </a:rPr>
              <a:t>to see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if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 value is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increasing,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decreasing,</a:t>
            </a:r>
            <a:r>
              <a:rPr sz="2000" spc="50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or</a:t>
            </a:r>
            <a:r>
              <a:rPr sz="2000" spc="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staying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constant.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5681" y="329564"/>
            <a:ext cx="14179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Segoe UI"/>
                <a:cs typeface="Segoe UI"/>
              </a:rPr>
              <a:t>Scatter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2561" y="728726"/>
            <a:ext cx="3879427" cy="26707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87893" y="3454730"/>
            <a:ext cx="10744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Line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2077" y="4032952"/>
            <a:ext cx="3887718" cy="2484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Quantitative</a:t>
            </a:r>
            <a:r>
              <a:rPr spc="-114" dirty="0"/>
              <a:t> </a:t>
            </a:r>
            <a:r>
              <a:rPr spc="-45" dirty="0"/>
              <a:t>Data</a:t>
            </a:r>
            <a:r>
              <a:rPr spc="-130" dirty="0"/>
              <a:t> </a:t>
            </a:r>
            <a:r>
              <a:rPr spc="-10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40688"/>
            <a:ext cx="11296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Segoe UI"/>
                <a:cs typeface="Segoe UI"/>
              </a:rPr>
              <a:t>Heatmap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805" y="1434464"/>
            <a:ext cx="3752850" cy="621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215" indent="-183515">
              <a:lnSpc>
                <a:spcPts val="2340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6215" algn="l"/>
                <a:tab pos="574675" algn="l"/>
                <a:tab pos="1243965" algn="l"/>
                <a:tab pos="2144395" algn="l"/>
                <a:tab pos="2858135" algn="l"/>
              </a:tabLst>
            </a:pPr>
            <a:r>
              <a:rPr sz="2000" spc="-50" dirty="0">
                <a:latin typeface="Segoe UI"/>
                <a:cs typeface="Segoe UI"/>
              </a:rPr>
              <a:t>A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grid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where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0" dirty="0">
                <a:latin typeface="Segoe UI"/>
                <a:cs typeface="Segoe UI"/>
              </a:rPr>
              <a:t>data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values</a:t>
            </a:r>
            <a:endParaRPr sz="2000">
              <a:latin typeface="Segoe UI"/>
              <a:cs typeface="Segoe UI"/>
            </a:endParaRPr>
          </a:p>
          <a:p>
            <a:pPr marL="194945">
              <a:lnSpc>
                <a:spcPts val="2340"/>
              </a:lnSpc>
            </a:pPr>
            <a:r>
              <a:rPr sz="2000" dirty="0">
                <a:latin typeface="Segoe UI"/>
                <a:cs typeface="Segoe UI"/>
              </a:rPr>
              <a:t>represented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by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different </a:t>
            </a:r>
            <a:r>
              <a:rPr sz="2000" spc="-10" dirty="0">
                <a:latin typeface="Segoe UI"/>
                <a:cs typeface="Segoe UI"/>
              </a:rPr>
              <a:t>colors.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0173" y="1434464"/>
            <a:ext cx="20650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4340" algn="l"/>
                <a:tab pos="779145" algn="l"/>
                <a:tab pos="1701164" algn="l"/>
              </a:tabLst>
            </a:pPr>
            <a:r>
              <a:rPr sz="2000" spc="-25" dirty="0">
                <a:latin typeface="Segoe UI"/>
                <a:cs typeface="Segoe UI"/>
              </a:rPr>
              <a:t>in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50" dirty="0">
                <a:latin typeface="Segoe UI"/>
                <a:cs typeface="Segoe UI"/>
              </a:rPr>
              <a:t>a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10" dirty="0">
                <a:latin typeface="Segoe UI"/>
                <a:cs typeface="Segoe UI"/>
              </a:rPr>
              <a:t>matrix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25" dirty="0">
                <a:latin typeface="Segoe UI"/>
                <a:cs typeface="Segoe UI"/>
              </a:rPr>
              <a:t>are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4945" marR="5080" indent="-182880" algn="just">
              <a:lnSpc>
                <a:spcPts val="2280"/>
              </a:lnSpc>
              <a:spcBef>
                <a:spcPts val="28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b="1" dirty="0">
                <a:latin typeface="Segoe UI"/>
                <a:cs typeface="Segoe UI"/>
              </a:rPr>
              <a:t>Interpretation:</a:t>
            </a:r>
            <a:r>
              <a:rPr b="1" spc="70" dirty="0">
                <a:latin typeface="Segoe UI"/>
                <a:cs typeface="Segoe UI"/>
              </a:rPr>
              <a:t> </a:t>
            </a:r>
            <a:r>
              <a:rPr dirty="0"/>
              <a:t>Use</a:t>
            </a:r>
            <a:r>
              <a:rPr spc="75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color</a:t>
            </a:r>
            <a:r>
              <a:rPr spc="80" dirty="0"/>
              <a:t> </a:t>
            </a:r>
            <a:r>
              <a:rPr dirty="0"/>
              <a:t>bar</a:t>
            </a:r>
            <a:r>
              <a:rPr spc="70" dirty="0"/>
              <a:t> </a:t>
            </a:r>
            <a:r>
              <a:rPr dirty="0"/>
              <a:t>as</a:t>
            </a:r>
            <a:r>
              <a:rPr spc="7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key.</a:t>
            </a:r>
            <a:r>
              <a:rPr spc="75" dirty="0"/>
              <a:t> </a:t>
            </a:r>
            <a:r>
              <a:rPr spc="-10" dirty="0"/>
              <a:t>Bright </a:t>
            </a:r>
            <a:r>
              <a:rPr dirty="0"/>
              <a:t>or</a:t>
            </a:r>
            <a:r>
              <a:rPr spc="350" dirty="0"/>
              <a:t>  </a:t>
            </a:r>
            <a:r>
              <a:rPr dirty="0"/>
              <a:t>dark</a:t>
            </a:r>
            <a:r>
              <a:rPr spc="360" dirty="0"/>
              <a:t>  </a:t>
            </a:r>
            <a:r>
              <a:rPr dirty="0"/>
              <a:t>colors</a:t>
            </a:r>
            <a:r>
              <a:rPr spc="360" dirty="0"/>
              <a:t>  </a:t>
            </a:r>
            <a:r>
              <a:rPr dirty="0"/>
              <a:t>(depending</a:t>
            </a:r>
            <a:r>
              <a:rPr spc="360" dirty="0"/>
              <a:t>  </a:t>
            </a:r>
            <a:r>
              <a:rPr dirty="0"/>
              <a:t>on</a:t>
            </a:r>
            <a:r>
              <a:rPr spc="350" dirty="0"/>
              <a:t>  </a:t>
            </a:r>
            <a:r>
              <a:rPr dirty="0"/>
              <a:t>the</a:t>
            </a:r>
            <a:r>
              <a:rPr spc="350" dirty="0"/>
              <a:t>  </a:t>
            </a:r>
            <a:r>
              <a:rPr spc="-10" dirty="0"/>
              <a:t>palette) </a:t>
            </a:r>
            <a:r>
              <a:rPr dirty="0"/>
              <a:t>indicate</a:t>
            </a:r>
            <a:r>
              <a:rPr spc="15" dirty="0"/>
              <a:t>  </a:t>
            </a:r>
            <a:r>
              <a:rPr dirty="0"/>
              <a:t>high</a:t>
            </a:r>
            <a:r>
              <a:rPr spc="10" dirty="0"/>
              <a:t>  </a:t>
            </a:r>
            <a:r>
              <a:rPr dirty="0"/>
              <a:t>values</a:t>
            </a:r>
            <a:r>
              <a:rPr spc="10" dirty="0"/>
              <a:t>  </a:t>
            </a:r>
            <a:r>
              <a:rPr dirty="0"/>
              <a:t>or</a:t>
            </a:r>
            <a:r>
              <a:rPr spc="5" dirty="0"/>
              <a:t>  </a:t>
            </a:r>
            <a:r>
              <a:rPr dirty="0"/>
              <a:t>strong</a:t>
            </a:r>
            <a:r>
              <a:rPr spc="10" dirty="0"/>
              <a:t>  </a:t>
            </a:r>
            <a:r>
              <a:rPr dirty="0"/>
              <a:t>correlations.</a:t>
            </a:r>
            <a:r>
              <a:rPr spc="5" dirty="0"/>
              <a:t>  </a:t>
            </a:r>
            <a:r>
              <a:rPr spc="-20" dirty="0"/>
              <a:t>It's </a:t>
            </a:r>
            <a:r>
              <a:rPr dirty="0"/>
              <a:t>perfect</a:t>
            </a:r>
            <a:r>
              <a:rPr spc="150" dirty="0"/>
              <a:t> </a:t>
            </a:r>
            <a:r>
              <a:rPr dirty="0"/>
              <a:t>for</a:t>
            </a:r>
            <a:r>
              <a:rPr spc="135" dirty="0"/>
              <a:t> </a:t>
            </a:r>
            <a:r>
              <a:rPr dirty="0"/>
              <a:t>finding</a:t>
            </a:r>
            <a:r>
              <a:rPr spc="140" dirty="0"/>
              <a:t> </a:t>
            </a:r>
            <a:r>
              <a:rPr dirty="0"/>
              <a:t>patterns</a:t>
            </a:r>
            <a:r>
              <a:rPr spc="140" dirty="0"/>
              <a:t> </a:t>
            </a:r>
            <a:r>
              <a:rPr dirty="0"/>
              <a:t>in</a:t>
            </a:r>
            <a:r>
              <a:rPr spc="140" dirty="0"/>
              <a:t> </a:t>
            </a:r>
            <a:r>
              <a:rPr dirty="0"/>
              <a:t>large</a:t>
            </a:r>
            <a:r>
              <a:rPr spc="140" dirty="0"/>
              <a:t> </a:t>
            </a:r>
            <a:r>
              <a:rPr dirty="0"/>
              <a:t>matrices,</a:t>
            </a:r>
            <a:r>
              <a:rPr spc="140" dirty="0"/>
              <a:t> </a:t>
            </a:r>
            <a:r>
              <a:rPr spc="-20" dirty="0"/>
              <a:t>like </a:t>
            </a:r>
            <a:r>
              <a:rPr dirty="0"/>
              <a:t>feature</a:t>
            </a:r>
            <a:r>
              <a:rPr spc="-15" dirty="0"/>
              <a:t> </a:t>
            </a:r>
            <a:r>
              <a:rPr spc="-10" dirty="0"/>
              <a:t>correlation.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b="1" dirty="0">
                <a:latin typeface="Segoe UI"/>
                <a:cs typeface="Segoe UI"/>
              </a:rPr>
              <a:t>Joint</a:t>
            </a:r>
            <a:r>
              <a:rPr b="1" spc="15" dirty="0">
                <a:latin typeface="Segoe UI"/>
                <a:cs typeface="Segoe UI"/>
              </a:rPr>
              <a:t> </a:t>
            </a:r>
            <a:r>
              <a:rPr b="1" spc="-20" dirty="0">
                <a:latin typeface="Segoe UI"/>
                <a:cs typeface="Segoe UI"/>
              </a:rPr>
              <a:t>Plot</a:t>
            </a:r>
          </a:p>
          <a:p>
            <a:pPr marL="194945" marR="7620" indent="-182880" algn="just">
              <a:lnSpc>
                <a:spcPts val="2280"/>
              </a:lnSpc>
              <a:spcBef>
                <a:spcPts val="1664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dirty="0"/>
              <a:t>Combines</a:t>
            </a:r>
            <a:r>
              <a:rPr spc="3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bivariate</a:t>
            </a:r>
            <a:r>
              <a:rPr spc="40" dirty="0"/>
              <a:t> </a:t>
            </a:r>
            <a:r>
              <a:rPr dirty="0"/>
              <a:t>plot</a:t>
            </a:r>
            <a:r>
              <a:rPr spc="35" dirty="0"/>
              <a:t> </a:t>
            </a:r>
            <a:r>
              <a:rPr dirty="0"/>
              <a:t>(like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scatter</a:t>
            </a:r>
            <a:r>
              <a:rPr spc="20" dirty="0"/>
              <a:t> </a:t>
            </a:r>
            <a:r>
              <a:rPr dirty="0"/>
              <a:t>plot)</a:t>
            </a:r>
            <a:r>
              <a:rPr spc="20" dirty="0"/>
              <a:t> </a:t>
            </a:r>
            <a:r>
              <a:rPr spc="-20" dirty="0"/>
              <a:t>with </a:t>
            </a:r>
            <a:r>
              <a:rPr dirty="0"/>
              <a:t>univariate</a:t>
            </a:r>
            <a:r>
              <a:rPr spc="25" dirty="0"/>
              <a:t> </a:t>
            </a:r>
            <a:r>
              <a:rPr dirty="0"/>
              <a:t>plots</a:t>
            </a:r>
            <a:r>
              <a:rPr spc="20" dirty="0"/>
              <a:t> </a:t>
            </a:r>
            <a:r>
              <a:rPr dirty="0"/>
              <a:t>(histograms)</a:t>
            </a:r>
            <a:r>
              <a:rPr spc="15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margins.</a:t>
            </a:r>
          </a:p>
          <a:p>
            <a:pPr marL="194945" marR="5080" indent="-182880" algn="just">
              <a:lnSpc>
                <a:spcPts val="2280"/>
              </a:lnSpc>
              <a:spcBef>
                <a:spcPts val="160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b="1" dirty="0">
                <a:latin typeface="Segoe UI"/>
                <a:cs typeface="Segoe UI"/>
              </a:rPr>
              <a:t>Interpretation:</a:t>
            </a:r>
            <a:r>
              <a:rPr b="1" spc="365" dirty="0">
                <a:latin typeface="Segoe UI"/>
                <a:cs typeface="Segoe UI"/>
              </a:rPr>
              <a:t> </a:t>
            </a:r>
            <a:r>
              <a:rPr dirty="0"/>
              <a:t>Analyze</a:t>
            </a:r>
            <a:r>
              <a:rPr spc="375" dirty="0"/>
              <a:t> </a:t>
            </a:r>
            <a:r>
              <a:rPr dirty="0"/>
              <a:t>the</a:t>
            </a:r>
            <a:r>
              <a:rPr spc="385" dirty="0"/>
              <a:t> </a:t>
            </a:r>
            <a:r>
              <a:rPr dirty="0"/>
              <a:t>central</a:t>
            </a:r>
            <a:r>
              <a:rPr spc="390" dirty="0"/>
              <a:t> </a:t>
            </a:r>
            <a:r>
              <a:rPr dirty="0"/>
              <a:t>plot</a:t>
            </a:r>
            <a:r>
              <a:rPr spc="400" dirty="0"/>
              <a:t> </a:t>
            </a:r>
            <a:r>
              <a:rPr dirty="0"/>
              <a:t>for</a:t>
            </a:r>
            <a:r>
              <a:rPr spc="375" dirty="0"/>
              <a:t> </a:t>
            </a:r>
            <a:r>
              <a:rPr spc="-25" dirty="0"/>
              <a:t>the </a:t>
            </a:r>
            <a:r>
              <a:rPr dirty="0"/>
              <a:t>relationship</a:t>
            </a:r>
            <a:r>
              <a:rPr spc="375" dirty="0"/>
              <a:t> </a:t>
            </a:r>
            <a:r>
              <a:rPr dirty="0"/>
              <a:t>between</a:t>
            </a:r>
            <a:r>
              <a:rPr spc="380" dirty="0"/>
              <a:t> </a:t>
            </a:r>
            <a:r>
              <a:rPr dirty="0"/>
              <a:t>the</a:t>
            </a:r>
            <a:r>
              <a:rPr spc="360" dirty="0"/>
              <a:t> </a:t>
            </a:r>
            <a:r>
              <a:rPr dirty="0"/>
              <a:t>two</a:t>
            </a:r>
            <a:r>
              <a:rPr spc="370" dirty="0"/>
              <a:t> </a:t>
            </a:r>
            <a:r>
              <a:rPr dirty="0"/>
              <a:t>variables.</a:t>
            </a:r>
            <a:r>
              <a:rPr spc="370" dirty="0"/>
              <a:t> </a:t>
            </a:r>
            <a:r>
              <a:rPr dirty="0"/>
              <a:t>Use</a:t>
            </a:r>
            <a:r>
              <a:rPr spc="360" dirty="0"/>
              <a:t> </a:t>
            </a:r>
            <a:r>
              <a:rPr spc="-25" dirty="0"/>
              <a:t>the </a:t>
            </a:r>
            <a:r>
              <a:rPr dirty="0"/>
              <a:t>plots</a:t>
            </a:r>
            <a:r>
              <a:rPr spc="25" dirty="0"/>
              <a:t>  </a:t>
            </a:r>
            <a:r>
              <a:rPr dirty="0"/>
              <a:t>on</a:t>
            </a:r>
            <a:r>
              <a:rPr spc="30" dirty="0"/>
              <a:t>  </a:t>
            </a:r>
            <a:r>
              <a:rPr dirty="0"/>
              <a:t>the</a:t>
            </a:r>
            <a:r>
              <a:rPr spc="25" dirty="0"/>
              <a:t>  </a:t>
            </a:r>
            <a:r>
              <a:rPr dirty="0"/>
              <a:t>top</a:t>
            </a:r>
            <a:r>
              <a:rPr spc="20" dirty="0"/>
              <a:t>  </a:t>
            </a:r>
            <a:r>
              <a:rPr dirty="0"/>
              <a:t>and</a:t>
            </a:r>
            <a:r>
              <a:rPr spc="25" dirty="0"/>
              <a:t>  </a:t>
            </a:r>
            <a:r>
              <a:rPr dirty="0"/>
              <a:t>right</a:t>
            </a:r>
            <a:r>
              <a:rPr spc="25" dirty="0"/>
              <a:t>  </a:t>
            </a:r>
            <a:r>
              <a:rPr dirty="0"/>
              <a:t>to</a:t>
            </a:r>
            <a:r>
              <a:rPr spc="20" dirty="0"/>
              <a:t>  </a:t>
            </a:r>
            <a:r>
              <a:rPr dirty="0"/>
              <a:t>understand</a:t>
            </a:r>
            <a:r>
              <a:rPr spc="25" dirty="0"/>
              <a:t>  </a:t>
            </a:r>
            <a:r>
              <a:rPr spc="-25" dirty="0"/>
              <a:t>the </a:t>
            </a:r>
            <a:r>
              <a:rPr dirty="0"/>
              <a:t>distribution</a:t>
            </a:r>
            <a:r>
              <a:rPr spc="3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each</a:t>
            </a:r>
            <a:r>
              <a:rPr spc="25" dirty="0"/>
              <a:t> </a:t>
            </a:r>
            <a:r>
              <a:rPr dirty="0"/>
              <a:t>individual</a:t>
            </a:r>
            <a:r>
              <a:rPr spc="25" dirty="0"/>
              <a:t> </a:t>
            </a:r>
            <a:r>
              <a:rPr dirty="0"/>
              <a:t>variable</a:t>
            </a:r>
            <a:r>
              <a:rPr spc="20" dirty="0"/>
              <a:t> </a:t>
            </a:r>
            <a:r>
              <a:rPr spc="-10" dirty="0"/>
              <a:t>separately.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61984" y="329564"/>
            <a:ext cx="1122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Segoe UI"/>
                <a:cs typeface="Segoe UI"/>
              </a:rPr>
              <a:t>Heatmap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3023" y="778787"/>
            <a:ext cx="2908469" cy="24611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39125" y="3454730"/>
            <a:ext cx="1170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Joint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5764" y="3843068"/>
            <a:ext cx="2645341" cy="27677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805" y="436244"/>
            <a:ext cx="3535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Qualitative</a:t>
            </a:r>
            <a:r>
              <a:rPr spc="-125" dirty="0"/>
              <a:t> </a:t>
            </a:r>
            <a:r>
              <a:rPr spc="-40" dirty="0"/>
              <a:t>Data</a:t>
            </a:r>
            <a:r>
              <a:rPr spc="-130" dirty="0"/>
              <a:t> </a:t>
            </a:r>
            <a:r>
              <a:rPr spc="-10" dirty="0"/>
              <a:t>Plots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" y="940688"/>
            <a:ext cx="5993130" cy="5113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Bar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194945" marR="354965" indent="-182880">
              <a:lnSpc>
                <a:spcPct val="95100"/>
              </a:lnSpc>
              <a:spcBef>
                <a:spcPts val="160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plot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shows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aggregate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statistic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(like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</a:t>
            </a:r>
            <a:r>
              <a:rPr sz="2000" dirty="0">
                <a:latin typeface="Segoe UI"/>
                <a:cs typeface="Segoe UI"/>
              </a:rPr>
              <a:t>mean)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numerical variable across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different categories.</a:t>
            </a:r>
            <a:endParaRPr sz="2000">
              <a:latin typeface="Segoe UI"/>
              <a:cs typeface="Segoe UI"/>
            </a:endParaRPr>
          </a:p>
          <a:p>
            <a:pPr marL="194945" marR="386715" indent="-182880">
              <a:lnSpc>
                <a:spcPts val="2280"/>
              </a:lnSpc>
              <a:spcBef>
                <a:spcPts val="165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b="1" dirty="0">
                <a:latin typeface="Segoe UI"/>
                <a:cs typeface="Segoe UI"/>
              </a:rPr>
              <a:t>Interpretation:</a:t>
            </a:r>
            <a:r>
              <a:rPr sz="2000" b="1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Compare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bar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heights to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see </a:t>
            </a:r>
            <a:r>
              <a:rPr sz="2000" dirty="0">
                <a:latin typeface="Segoe UI"/>
                <a:cs typeface="Segoe UI"/>
              </a:rPr>
              <a:t>how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numerical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value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differs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between categories.</a:t>
            </a:r>
            <a:endParaRPr sz="2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b="1" dirty="0">
                <a:latin typeface="Segoe UI"/>
                <a:cs typeface="Segoe UI"/>
              </a:rPr>
              <a:t>Count</a:t>
            </a:r>
            <a:r>
              <a:rPr sz="2000" b="1" spc="15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  <a:p>
            <a:pPr marL="194945" marR="31750" indent="-182880">
              <a:lnSpc>
                <a:spcPts val="2280"/>
              </a:lnSpc>
              <a:spcBef>
                <a:spcPts val="1664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bar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chart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showing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number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observations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in </a:t>
            </a:r>
            <a:r>
              <a:rPr sz="2000" dirty="0">
                <a:latin typeface="Segoe UI"/>
                <a:cs typeface="Segoe UI"/>
              </a:rPr>
              <a:t>each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category.</a:t>
            </a:r>
            <a:endParaRPr sz="2000">
              <a:latin typeface="Segoe UI"/>
              <a:cs typeface="Segoe UI"/>
            </a:endParaRPr>
          </a:p>
          <a:p>
            <a:pPr marL="194945" marR="5080" indent="-182880">
              <a:lnSpc>
                <a:spcPct val="95000"/>
              </a:lnSpc>
              <a:spcBef>
                <a:spcPts val="154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000" b="1" dirty="0">
                <a:latin typeface="Segoe UI"/>
                <a:cs typeface="Segoe UI"/>
              </a:rPr>
              <a:t>Interpretation:</a:t>
            </a:r>
            <a:r>
              <a:rPr sz="2000" b="1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Compare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 heights of the bars.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A </a:t>
            </a:r>
            <a:r>
              <a:rPr sz="2000" dirty="0">
                <a:latin typeface="Segoe UI"/>
                <a:cs typeface="Segoe UI"/>
              </a:rPr>
              <a:t>taller</a:t>
            </a:r>
            <a:r>
              <a:rPr sz="2000" spc="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bar</a:t>
            </a:r>
            <a:r>
              <a:rPr sz="2000" spc="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means</a:t>
            </a:r>
            <a:r>
              <a:rPr sz="2000" spc="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category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appears</a:t>
            </a:r>
            <a:r>
              <a:rPr sz="2000" spc="3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more </a:t>
            </a:r>
            <a:r>
              <a:rPr sz="2000" dirty="0">
                <a:latin typeface="Segoe UI"/>
                <a:cs typeface="Segoe UI"/>
              </a:rPr>
              <a:t>frequently in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 data.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It's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used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 understand</a:t>
            </a:r>
            <a:r>
              <a:rPr sz="2000" spc="-25" dirty="0">
                <a:latin typeface="Segoe UI"/>
                <a:cs typeface="Segoe UI"/>
              </a:rPr>
              <a:t> the </a:t>
            </a:r>
            <a:r>
              <a:rPr sz="2000" dirty="0">
                <a:latin typeface="Segoe UI"/>
                <a:cs typeface="Segoe UI"/>
              </a:rPr>
              <a:t>balance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categorical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data.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3993" y="329564"/>
            <a:ext cx="9817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Segoe UI"/>
                <a:cs typeface="Segoe UI"/>
              </a:rPr>
              <a:t>Bar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9570" y="763160"/>
            <a:ext cx="2474939" cy="27042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73593" y="3454730"/>
            <a:ext cx="13023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Segoe UI"/>
                <a:cs typeface="Segoe UI"/>
              </a:rPr>
              <a:t>Count</a:t>
            </a:r>
            <a:r>
              <a:rPr sz="2000" b="1" spc="-20" dirty="0">
                <a:latin typeface="Segoe UI"/>
                <a:cs typeface="Segoe UI"/>
              </a:rPr>
              <a:t> Plot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89268" y="3888160"/>
            <a:ext cx="2475058" cy="27042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4198111"/>
            <a:ext cx="2289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D5D2CC"/>
                </a:solidFill>
                <a:latin typeface="Segoe UI"/>
                <a:cs typeface="Segoe UI"/>
              </a:rPr>
              <a:t>Thank</a:t>
            </a:r>
            <a:r>
              <a:rPr sz="4000" spc="-200" dirty="0">
                <a:solidFill>
                  <a:srgbClr val="D5D2CC"/>
                </a:solidFill>
                <a:latin typeface="Segoe UI"/>
                <a:cs typeface="Segoe UI"/>
              </a:rPr>
              <a:t> </a:t>
            </a:r>
            <a:r>
              <a:rPr sz="4000" spc="-105" dirty="0">
                <a:solidFill>
                  <a:srgbClr val="D5D2CC"/>
                </a:solidFill>
                <a:latin typeface="Segoe UI"/>
                <a:cs typeface="Segoe UI"/>
              </a:rPr>
              <a:t>You</a:t>
            </a:r>
            <a:endParaRPr sz="4000">
              <a:latin typeface="Segoe UI"/>
              <a:cs typeface="Segoe U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48" y="2257830"/>
            <a:ext cx="3036787" cy="3038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839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Segoe UI</vt:lpstr>
      <vt:lpstr>Tahoma</vt:lpstr>
      <vt:lpstr>Wingdings</vt:lpstr>
      <vt:lpstr>Office Theme</vt:lpstr>
      <vt:lpstr>Data Analysis Using Python</vt:lpstr>
      <vt:lpstr>Data   Visualization</vt:lpstr>
      <vt:lpstr>Data Visualization</vt:lpstr>
      <vt:lpstr>Sources of Data</vt:lpstr>
      <vt:lpstr>Data Visualization Libraries</vt:lpstr>
      <vt:lpstr>Anatomy of Matplotlib Figure</vt:lpstr>
      <vt:lpstr>Quantitative Data Plots</vt:lpstr>
      <vt:lpstr>Quantitative Data Plots</vt:lpstr>
      <vt:lpstr>Quantitative Data Plots</vt:lpstr>
      <vt:lpstr>Quantitative Data Plots</vt:lpstr>
      <vt:lpstr>Qualitative Data Plots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Asad Afridi</dc:creator>
  <cp:lastModifiedBy>kamil khan</cp:lastModifiedBy>
  <cp:revision>2</cp:revision>
  <dcterms:created xsi:type="dcterms:W3CDTF">2026-03-31T07:14:42Z</dcterms:created>
  <dcterms:modified xsi:type="dcterms:W3CDTF">2026-03-31T07:56:42Z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2026-03-31T00:00:00Z</vt:filetime>
  </property>
  <property fmtid="{D5CDD505-2E9C-101B-9397-08002B2CF9AE}" pid="5" name="Producer">
    <vt:lpwstr>Microsoft® PowerPoint® LTSC</vt:lpwstr>
  </property>
</Properties>
</file>