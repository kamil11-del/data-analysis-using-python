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65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8816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2743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87768" y="2743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54696" y="2743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2743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8686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7768" y="8686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54696" y="8686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624" y="8686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4630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87768" y="14630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4696" y="14630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14630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05740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7768" y="205740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4696" y="205740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1624" y="205740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265176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7768" y="265176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4696" y="265176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21624" y="265176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32461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7768" y="32461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4696" y="32461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21624" y="324612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8404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38404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54696" y="38404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1624" y="384048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44348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7768" y="44348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54696" y="44348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21624" y="4434840"/>
            <a:ext cx="45720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164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011181" y="260738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Library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84179" y="31421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C24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4124" y="3135127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96312" y="31421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C243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8644" y="3135127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 ·  Clean  ·  Select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01799" y="31494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C24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01799" y="3150111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Read-World Data Work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2.x  ·  Python 3.10+  ·  Built on NumPy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0840" y="4480560"/>
            <a:ext cx="21945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4480560"/>
            <a:ext cx="213969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4F8D511-0D3F-5425-6B67-83091DE07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14086"/>
            <a:ext cx="1481328" cy="134895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179A220-AC1F-7AD7-25B5-01325C33D7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00" t="26995" r="24650" b="22023"/>
          <a:stretch>
            <a:fillRect/>
          </a:stretch>
        </p:blipFill>
        <p:spPr>
          <a:xfrm>
            <a:off x="169164" y="1165860"/>
            <a:ext cx="4658868" cy="1545336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265176" y="3670303"/>
            <a:ext cx="2384740" cy="43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Instructure: Muhammad Kamil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Assistant: DIP 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 Exists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8595360" cy="530352"/>
          </a:xfrm>
          <a:prstGeom prst="rect">
            <a:avLst/>
          </a:prstGeom>
          <a:solidFill>
            <a:srgbClr val="1C24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comes in tables — rows and columns. Python lists and NumPy arrays are not built for this. You cannot easily filter rows by a condition, handle missing values, or join two tables using raw Python.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Pandas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89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4206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D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0078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Load a CSV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1883664"/>
            <a:ext cx="20116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865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73168" y="1700784"/>
            <a:ext cx="407822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1700784"/>
            <a:ext cx="457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70078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pd.read_csv('file.csv')  — one 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06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D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3591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Filter rows by condition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2542032"/>
            <a:ext cx="201168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5237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3168" y="2359152"/>
            <a:ext cx="407822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2359152"/>
            <a:ext cx="4572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359152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df[df['salary'] &gt; 50000]  — boolean mask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206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D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1752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Handle missing values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200400"/>
            <a:ext cx="201168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182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3017520"/>
            <a:ext cx="407822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3017520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01752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/ df.dropna()  — built 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4206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D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7588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Merge two tables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3858768"/>
            <a:ext cx="201168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8404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3675888"/>
            <a:ext cx="407822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3675888"/>
            <a:ext cx="457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67588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on='id')  — SQL joins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526280"/>
            <a:ext cx="2743200" cy="36576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526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97280" y="45262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write than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Python loops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72968" y="4526280"/>
            <a:ext cx="2743200" cy="36576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4526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995928" y="45262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Wes McKinney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AQR Capital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71616" y="4526280"/>
            <a:ext cx="2743200" cy="36576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4526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94576" y="45262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data analysis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 Python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vs NumPy — What Each One Is For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17720" y="658368"/>
            <a:ext cx="0" cy="4315968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" y="713232"/>
            <a:ext cx="41605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117043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array (ndarray)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160520" cy="420624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16459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 per array (float64, int32…)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21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212140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access by integer index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4160520" cy="420624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968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259689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natively supported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72384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72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30723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/ linear algebra / vectorised calc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47872"/>
            <a:ext cx="4160520" cy="420624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47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354787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computing, ML foundations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713232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7132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170432"/>
            <a:ext cx="411480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1704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53328" y="117043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(1D) + DataFrame (2D table)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645920"/>
            <a:ext cx="4114800" cy="420624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645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53328" y="164592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 per column (int, str, date…)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121408"/>
            <a:ext cx="411480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121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53328" y="2121408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index + named columns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596896"/>
            <a:ext cx="4114800" cy="420624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5968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53328" y="259689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— first-class support built 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072384"/>
            <a:ext cx="411480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72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53328" y="3072384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filter, merge, aggregate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547872"/>
            <a:ext cx="4114800" cy="420624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547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53328" y="354787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tabular data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041648"/>
            <a:ext cx="8595360" cy="457200"/>
          </a:xfrm>
          <a:prstGeom prst="rect">
            <a:avLst/>
          </a:prstGeom>
          <a:solidFill>
            <a:srgbClr val="1C24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0416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built ON TOP of NumPy.  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Pandas column is a NumPy array underneath. You use NumPy for math, Pandas for tables.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Data Structures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397764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 —  1-Dimensional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521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column with a label index.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91440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44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25296" y="1444752"/>
            <a:ext cx="164592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14447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914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25296" y="1737360"/>
            <a:ext cx="1645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91440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25296" y="2029968"/>
            <a:ext cx="164592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2029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Fatima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22576"/>
            <a:ext cx="914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25296" y="2322576"/>
            <a:ext cx="1645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23225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Hassan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15184"/>
            <a:ext cx="91440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25296" y="2615184"/>
            <a:ext cx="164592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61872" y="26151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07792"/>
            <a:ext cx="914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25296" y="2907792"/>
            <a:ext cx="1645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29077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397764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2461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pd.Series(['Ahmed','Fatima',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'Hassan','Zara','Sara'])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38587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s.dtype  →  object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s.name  →  None until assigned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713232"/>
            <a:ext cx="0" cy="365760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709160" y="749808"/>
            <a:ext cx="4160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749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 —  2-Dimensional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9160" y="11521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 — a full table. Each column is a Series.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1444752"/>
            <a:ext cx="502920" cy="292608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4447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1444752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14447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1444752"/>
            <a:ext cx="822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4447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32320" y="1444752"/>
            <a:ext cx="14630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1444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1755648"/>
            <a:ext cx="502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1755648"/>
            <a:ext cx="46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12080" y="1755648"/>
            <a:ext cx="10972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48656" y="175564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1755648"/>
            <a:ext cx="8229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45936" y="17556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132320" y="1755648"/>
            <a:ext cx="14630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68896" y="175564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Lahore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09160" y="2048256"/>
            <a:ext cx="50292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45736" y="2048256"/>
            <a:ext cx="46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12080" y="2048256"/>
            <a:ext cx="109728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48656" y="204825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Fatima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2048256"/>
            <a:ext cx="82296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45936" y="20482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32320" y="2048256"/>
            <a:ext cx="1463040" cy="27432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68896" y="204825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Karachi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09160" y="2340864"/>
            <a:ext cx="502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45736" y="2340864"/>
            <a:ext cx="46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212080" y="2340864"/>
            <a:ext cx="10972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48656" y="234086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Hassan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09360" y="2340864"/>
            <a:ext cx="8229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5936" y="234086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132320" y="2340864"/>
            <a:ext cx="14630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68896" y="234086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Islamabad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709160" y="2743200"/>
            <a:ext cx="4160520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3168" y="2761488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'name': ['Ahmed','Fatima','Hassan'],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'score': [82, 91, 74],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'city': ['Lahore','Karachi','Islamabad']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709160" y="34930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→ (3, 3)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09160" y="37490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→ ['name','score','city']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709160" y="400507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 → object, int64, object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Pandas Fits — The Data Analysis Stack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749808"/>
            <a:ext cx="731520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7498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/ Plotly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7498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353312"/>
            <a:ext cx="676656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3533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86500" y="13441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1929384"/>
            <a:ext cx="62179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195681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8851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arrays &amp; math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560320"/>
            <a:ext cx="5669280" cy="530352"/>
          </a:xfrm>
          <a:prstGeom prst="rect">
            <a:avLst/>
          </a:prstGeom>
          <a:solidFill>
            <a:srgbClr val="1C243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5603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9740" y="25786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standard library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298448"/>
            <a:ext cx="0" cy="54864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901952"/>
            <a:ext cx="0" cy="54864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05456"/>
            <a:ext cx="0" cy="54864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135331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02736"/>
            <a:ext cx="1353312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0273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" y="387705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393192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3602736"/>
            <a:ext cx="135331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737360" y="3602736"/>
            <a:ext cx="1353312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60273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92224" y="387705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8960" y="393192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602736"/>
            <a:ext cx="135331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602736"/>
            <a:ext cx="135331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60273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55264" y="387705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393192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602736"/>
            <a:ext cx="135331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602736"/>
            <a:ext cx="135331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60273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18304" y="387705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iloc[]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393192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3602736"/>
            <a:ext cx="135331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602736"/>
            <a:ext cx="135331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60273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81344" y="387705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0" y="393192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3602736"/>
            <a:ext cx="135331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89520" y="3602736"/>
            <a:ext cx="1353312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0" y="360273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44384" y="387705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to_excel()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Today — Operations Map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81635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49808"/>
            <a:ext cx="2816352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Load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338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pd.DataFrame(dict)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pd.read_csv('file.csv')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8653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pd.read_excel('file.xlsx')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df.to_csv('output.csv')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1635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49808"/>
            <a:ext cx="2816352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749808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1338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df.shape, df.dtypes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4996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df.info(),  df.describe()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8653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df.head(n),  df.tail(n)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749808"/>
            <a:ext cx="281635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749808"/>
            <a:ext cx="2816352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749808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1338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  /  df[['c1','c2']]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14996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df.loc[rows, cols]  — label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36208" y="18653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df.iloc[0:5, 1:3]  — position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df[df['score'] &gt; 70]  — filter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71216"/>
            <a:ext cx="281635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871216"/>
            <a:ext cx="2816352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87121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32552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/  df.fillna(0)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36210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" y="3986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df['col'].astype(int)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df['col'].str.strip().str.lower()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871216"/>
            <a:ext cx="281635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871216"/>
            <a:ext cx="28163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87121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2552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df.rename(columns={'old':'new'})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36210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df.sort_values('col')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91840" y="3986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df['new'] = df['a'] + df['b']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df.apply(func)  /  df.map(dict)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DataFrame Works in Memory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you must understand before writing a single line of Pandas: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859536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54864" cy="9875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24128"/>
            <a:ext cx="365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060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dictionary of Series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3716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df['name'] returns a Series.  df[['name','score']] returns a DataFrame (double brackets).  This distinction matters.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9536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103120"/>
            <a:ext cx="365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return a NEW DataFrame — the original is not changed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45059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NOT modify df.  You must write  </a:t>
            </a: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df.dropna()  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use  </a:t>
            </a: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inplace=True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 sparingly).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859536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82112"/>
            <a:ext cx="54864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182112"/>
            <a:ext cx="365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3218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a label for every row — it is NOT a column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52958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index is 0,1,2… You can set any column as index.  loc[] uses index labels.  iloc[] uses integer positions — always.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 Before You Start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85953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9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df.shape, df.info(), df.head()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627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dtypes early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1975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 = wrong result silently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432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modify in a loop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vectorised operations instead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27355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369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df[col] ≠ df[[col]]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vs DataFrame — know the difference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07822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78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041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methods return new objects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the notebook.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Pandas_OneDay.ipynb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Series and DataFrames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1396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Load CSV and Excel files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 rows and columns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Filter with conditions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675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Handle missing values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Remove duplicates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1396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Fix data types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 strings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Rename and sort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675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Mini project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663440"/>
            <a:ext cx="45720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663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see in this deck — you will code it today.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  ·  Pandas —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1127</Words>
  <Application>Microsoft Office PowerPoint</Application>
  <PresentationFormat>On-screen Show (16:9)</PresentationFormat>
  <Paragraphs>223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— Fundamentals</dc:title>
  <dc:subject>PptxGenJS Presentation</dc:subject>
  <dc:creator>PptxGenJS</dc:creator>
  <cp:lastModifiedBy>kamil khan</cp:lastModifiedBy>
  <cp:revision>2</cp:revision>
  <dcterms:created xsi:type="dcterms:W3CDTF">2026-03-20T13:14:57Z</dcterms:created>
  <dcterms:modified xsi:type="dcterms:W3CDTF">2026-03-30T07:15:12Z</dcterms:modified>
</cp:coreProperties>
</file>