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363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" cy="1554480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FFFFFF"/>
                </a:solidFill>
              </a:rPr>
              <a:t>DATA ANALYTICS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PHASE 01 - DAY 1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0" y="1554480"/>
            <a:ext cx="9144000" cy="358902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5"/>
                </a:solidFill>
              </a:rPr>
              <a:t>Introduction to Data Analytics</a:t>
            </a:r>
            <a:endParaRPr lang="en-US" sz="2800" dirty="0">
              <a:solidFill>
                <a:schemeClr val="accent5"/>
              </a:solidFill>
            </a:endParaRPr>
          </a:p>
          <a:p>
            <a:pPr marL="0" indent="0" algn="l">
              <a:buNone/>
            </a:pPr>
            <a:r>
              <a:rPr lang="en-US" sz="2800" b="1" dirty="0">
                <a:solidFill>
                  <a:schemeClr val="accent5"/>
                </a:solidFill>
              </a:rPr>
              <a:t>&amp; Excel Fundamentals</a:t>
            </a:r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5"/>
                </a:solidFill>
              </a:rPr>
              <a:t>Week 1 | Foundations of Data Analytics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Phase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Week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3hrs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665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Duration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</a:rPr>
              <a:t>TODAY'S LEARNING 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By the end of Day 1, you will be able to: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Understand what Data Analytics is and why it matters in today's world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Identify the key roles and responsibilities of a Data Analyst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308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Navigate Microsoft Excel interface and understand its core components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Create and format professional spreadsheets with proper data organization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Apply basic formulas and functions (SUM, AVERAGE, COUNT, MIN, MAX)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Understand fundamental statistical concepts (Mean, Median, Mode)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Perform basic data entry, validation, and cleaning techniques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WHAT IS DATA ANALYTICS?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82F6"/>
                </a:solidFill>
              </a:rPr>
              <a:t>Data Analytics </a:t>
            </a:r>
            <a:r>
              <a:rPr lang="en-US" sz="1600" dirty="0">
                <a:solidFill>
                  <a:srgbClr val="1F2937"/>
                </a:solidFill>
              </a:rPr>
              <a:t>is the science of examining raw data to draw meaningful conclusions, identify patterns, and support decision-making. It transforms numbers into actionable insights that drive business success.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Collect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Gather data from various sources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🧹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Clean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Remove errors and inconsistencies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Analyze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Apply statistical methods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6656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Visualize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Present insights clearly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WHY DATA ANALYTICS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/>
                </a:solidFill>
              </a:rPr>
              <a:t>Real-world impact across industries: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6459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6612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Predicting patient readmissions reduces costs by 30%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6459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E-Commerce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Recommendation engines drive 35% of Amazon's revenue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6459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$2.5B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Finance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Fraud detection saves banks $2.5B annually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6459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8x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Marketing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977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Data-driven campaigns see 5-8x higher ROI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34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THE DATA ANALYST ROLE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Key Responsibilities &amp; Skills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470724"/>
            <a:ext cx="4114800" cy="3108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Technical Skills</a:t>
            </a:r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Data collection &amp; extraction (SQL, APIs)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Data cleaning &amp; preparation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Statistical analysis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Data visualization (Excel, Tableau, Power BI)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Programming (Python, 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Database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4114800" cy="3108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Soft Skills</a:t>
            </a:r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Critical thinking &amp; problem-solving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Attention to detail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Communication &amp; storytelling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Business acumen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Curiosity &amp; continuous learning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Collaboration &amp; teamwork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INTRODUCTION TO MICROSOFT EXCEL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bg1"/>
                </a:solidFill>
              </a:rPr>
              <a:t>Your first Data Analytics tool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9284"/>
            <a:ext cx="8229600" cy="1097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Microsoft Excel </a:t>
            </a:r>
            <a:r>
              <a:rPr lang="en-US" sz="1500" dirty="0">
                <a:solidFill>
                  <a:srgbClr val="1F2937"/>
                </a:solidFill>
              </a:rPr>
              <a:t>is a spreadsheet application that allows you to organize, analyze, and visualize data. It's the most widely used tool in data analytics and the perfect starting point for beginners.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Why Excel for Data Analytics?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92024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Accessible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Available on every computer, easy to learn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200400"/>
            <a:ext cx="192024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Powerful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1M+ rows, advanced formulas &amp; functions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192024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Versatile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Data entry, analysis, visualization in one tool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3200400"/>
            <a:ext cx="192024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Industry Standard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Used by 750M+ professionals worldwide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EXCEL INTERFACE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Key components you need to know: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Quick Access Toolbar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Save, Undo, Redo buttons for quick 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Ribbon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Main navigation with tabs (Home, Insert, Formulas, Data, etc.)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Name Box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286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Shows the active cell reference (e.g., A1, B5)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Formula Bar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743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Displays and edits cell contents and formulas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Worksheet Area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200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Grid of cells organized in columns (A-XFD) and rows (1-1048576)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Sheet Tabs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657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Navigate between different worksheets in a workbook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Status Bar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4114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Shows quick calculations (Sum, Average, Count) of selected cells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34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CELLS, ROWS &amp; COLUMNS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building blocks of Excel: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188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Cell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 single box where data is entered. Each cell has a unique address (e.g., A1, B2, C3) formed by its column letter and row number.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188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Row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 horizontal line of cells identified by numbers (1, 2, 3...). Excel has 1,048,576 rows. Used to organize records/observations.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188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Column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 vertical line of cells identified by letters (A, B, C... XFD). Excel has 16,384 columns. Used to organize variables/attributes.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188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Range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 group of two or more cells. Written as start:end (e.g., A1:C10 means cells from A1 to C10). Essential for formulas and formatting.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Example: Simple Data Table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4114800"/>
          <a:ext cx="5029200" cy="103632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 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 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 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Row 1: Cell A1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Cell B1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Cell C1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Row 2: Cell A2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Cell B2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Cell C2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Row 3: Cell A3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Cell B3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Cell C3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DATA ENTRY 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Professional data organization principles: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Row 1 for Headers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Name, Age, Salary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1463040"/>
            <a:ext cx="2743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✗ Starting data from Row 1 without headers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 Data Type per Column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Column A: Names only, Column B: Numbers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✗ Mixing text and numbers in same column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Avoid Empty Rows/Columns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Continuous data from Row 2 onwards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✗ Blank rows between data records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Consistent Date Format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560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All dates as YYYY-MM-DD or DD/MM/YYYY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3108960"/>
            <a:ext cx="2743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✗ Mixing formats: 01/12/24, Dec 1, 2024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Merged Cells in Data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3657600"/>
            <a:ext cx="2560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703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Each cell contains one value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657600"/>
            <a:ext cx="2743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✗ Merging cells for visual formatting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Data Validation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91840" y="4206240"/>
            <a:ext cx="2560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Dropdown lists for categorical 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4206240"/>
            <a:ext cx="2743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✗ Free-text entry leading to typos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BASIC EXCEL FORMULAS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Essential formulas every analyst must know: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2860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=SUM(A1:A10)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Adds all numbers in range A1 to A10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Use case: Total Sales, Total Revenue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22860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391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=AVERAGE(B1:B10)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039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Calculates mean of values in range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039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Use case: Average Score, Average Price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22860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94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=COUNT(C1:C10)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5694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Counts cells containing numbers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5694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Use case: Number of Transactions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22860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99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=MAX(D1:D10)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0998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Finds the largest value in range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09981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Use case: Highest Score, Peak Sales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22860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301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=MIN(E1:E10)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630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Finds the smallest value in range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630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Use case: Lowest Price, Minimum Stock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=COUNTA(F1:F10)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Counts non-empty cells (text &amp; numbers)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Use case: Number of Responses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720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💡 Remember: All formulas in Excel start with the equals sign (=)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HANDS-ON EXERCISE: FORMULAS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Practice Time! Create this sales analysis:</a:t>
            </a: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003436"/>
              </p:ext>
            </p:extLst>
          </p:nvPr>
        </p:nvGraphicFramePr>
        <p:xfrm>
          <a:off x="731520" y="1371600"/>
          <a:ext cx="7680960" cy="1371600"/>
        </p:xfrm>
        <a:graphic>
          <a:graphicData uri="http://schemas.openxmlformats.org/drawingml/2006/table">
            <a:tbl>
              <a:tblPr>
                <a:solidFill>
                  <a:schemeClr val="accent1">
                    <a:lumMod val="40000"/>
                    <a:lumOff val="60000"/>
                  </a:schemeClr>
                </a:solidFill>
              </a:tblPr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Jan Sales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Feb Sales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 Sales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Laptop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$15,000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$18,000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$17,500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Mouse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$2,500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$3,000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$2,800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Keyboard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$5,000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$5,500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$6,000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2245ECCB-D8DF-0430-D793-3D8FA8CAA9B4}"/>
              </a:ext>
            </a:extLst>
          </p:cNvPr>
          <p:cNvSpPr/>
          <p:nvPr/>
        </p:nvSpPr>
        <p:spPr>
          <a:xfrm>
            <a:off x="457200" y="3135086"/>
            <a:ext cx="4714155" cy="17289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Tasks to Complete: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22860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200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320040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Calculate Total sales for each product (use SUM formula)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22860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520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52044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Calculate Total sales for each month (Jan, Feb, Mar columns)</a:t>
            </a:r>
            <a:endParaRPr lang="en-US" sz="1200" dirty="0"/>
          </a:p>
        </p:txBody>
      </p:sp>
      <p:sp>
        <p:nvSpPr>
          <p:cNvPr id="4" name="Shape 9"/>
          <p:cNvSpPr/>
          <p:nvPr/>
        </p:nvSpPr>
        <p:spPr>
          <a:xfrm>
            <a:off x="640080" y="3840480"/>
            <a:ext cx="22860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840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60120" y="384048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Find which product had the highest sales using MAX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160520"/>
            <a:ext cx="22860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416052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Calculate Average monthly sales using AVERAGE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480560"/>
            <a:ext cx="22860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480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60120" y="448056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Count how many products you have using COUNT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404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INTRODUCTION TO STATISTICS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</a:rPr>
              <a:t>The foundation of data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2926080"/>
            <a:ext cx="4572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Understanding central tendency and spread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MEASURES OF CENTRAL TENDENCY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Three ways to describe the 'center' of your data: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MEAN (Average)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Sum of all values divided by the count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(5+10+15+20+25) / 5 = 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Excel: =AVERAGE(A1:A5)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MEDIAN (Middle Value)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The middle number when data is sorted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5, 10, 15, 20, 25 → Median = 15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Excel: =MEDIAN(A1:A5)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MODE (Most Frequent)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The value that appears most often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5, 10, 10, 15, 20 → Mode = 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Excel: =MODE.SNGL(A1:A5)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WHEN TO USE EACH MEASURE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Choosing the right measure for your data: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6012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MEAN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Use When: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554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Data is normally distributed • No extreme outliers • Numerical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Example: Average salary in a company, Average test scores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💡 Sensitive to outliers (one billionaire in a dataset skews the average)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960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MEDIAN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2606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Use When: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606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Data has outliers • Skewed distributions • Income/price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Example: Median house price, Median income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💡 Better for skewed data as it's not affected by extreme values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96012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MODE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3657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Use When: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3657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Categorical data • Most popular item • Frequency matters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Example: Most common shoe size, Most popular product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💡 Can have multiple modes or no mode if all values appear once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PRACTICAL EXAMPLE: STUDENT SCORES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Let's analyze test scores from 10 students</a:t>
            </a:r>
            <a:r>
              <a:rPr lang="en-US" sz="1600" dirty="0">
                <a:solidFill>
                  <a:srgbClr val="1F2937"/>
                </a:solidFill>
              </a:rPr>
              <a:t>: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160034"/>
              </p:ext>
            </p:extLst>
          </p:nvPr>
        </p:nvGraphicFramePr>
        <p:xfrm>
          <a:off x="640080" y="1219200"/>
          <a:ext cx="2286000" cy="28498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6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7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 10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0" y="1371600"/>
            <a:ext cx="54864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383280" y="1554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Statistical Analysis: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7472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MEAN (Average Score):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1938528"/>
            <a:ext cx="54864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93852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9224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=AVERAGE(B2:B11)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7472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MEDIAN (Middle Score):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2258568"/>
            <a:ext cx="54864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2585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9224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=MEDIAN(B2:B11)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MODE (Most Common):</a:t>
            </a:r>
            <a:endParaRPr lang="en-US" sz="1100" dirty="0"/>
          </a:p>
        </p:txBody>
      </p:sp>
      <p:sp>
        <p:nvSpPr>
          <p:cNvPr id="4" name="Shape 13"/>
          <p:cNvSpPr/>
          <p:nvPr/>
        </p:nvSpPr>
        <p:spPr>
          <a:xfrm>
            <a:off x="5852160" y="2578608"/>
            <a:ext cx="54864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257860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78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=MODE.SNGL(B2:B11)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7472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MAXIMUM Score: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2898648"/>
            <a:ext cx="54864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289864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92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92240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=MAX(B2:B11)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4747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MINIMUM Score: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52160" y="3218688"/>
            <a:ext cx="54864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5852160" y="32186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9224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=MIN(B2:B11)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4747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NUMBER of Students: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852160" y="3538728"/>
            <a:ext cx="54864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5852160" y="353872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92240" y="3520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=COUNT(B2:B11)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40080" y="4114800"/>
            <a:ext cx="80467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📊 Insight: The mode (78) appears 3 times and is lower than both mean and median (83), indicating some students scored higher, pulling the average up.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DATA TYPES IN EXCEL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Understanding different data formats: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37160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Number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1508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Numeric values for calculations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755648"/>
            <a:ext cx="3017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 42, 3.14, -17, 1000000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General, Currency, Percentage, Scientific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37160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148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Alphabetic or alphanumeric characters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395728"/>
            <a:ext cx="3017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 John Doe, Product123, ABC Company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Left-aligned by default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37160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Date/Time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2788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Temporal data for time-based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035808"/>
            <a:ext cx="3017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 01/15/2024, 14:30:00, 2024-Jan-15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Short Date, Long Date, Time, Custom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37160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Boolean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3429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Logical TRUE or FALSE values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675888"/>
            <a:ext cx="3017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 TRUE, FALSE, 1, 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Used in conditional formulas (IF, AND, OR)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137160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Formula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11680" y="4069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Calculations that reference other cells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4315968"/>
            <a:ext cx="3017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 =A1+B1, =SUM(A1:A10), =IF(A1&gt;100)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2"/>
                </a:solidFill>
              </a:rPr>
              <a:t>Starts with = sign, displays result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FORMATTING DATA IN EXCEL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Make your data professional and readable: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Number Formatting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Currency: Select cells → Home → Number Format → Currency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Percentage: Right-click → Format Cells → Percentage (1 decimal)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Thousands separator: Format → Number → Use 1,000 separator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06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 Formatting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718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Bold headers: Select Row 1 → Ctrl+B (or Cmd+B on Mac)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0808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Text alignment: Home tab → Alignment group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4747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290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Wrap text: Home → Wrap Text (for long text in cells)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Cell Formatting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690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Fill color: Home → Fill Color → Choose background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130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Borders: Home → Borders → All Borders for tables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5720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262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Merge cells: Select range → Home → Merge &amp; Center (avoid in data!)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720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⚠️ Pro Tip: Keep formatting consistent across your workbook for professional appearance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SORTING &amp; FILTERING DATA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Essential skills for data organization and analysis: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SORTING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1.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Select any cell in your data range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2.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Go to Data tab → Sort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3.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Choose column to sort by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Select Ascending (A-Z, 0-9) or Descending (Z-A, 9-0)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FILTERING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1.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19202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Select header row of your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2.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1488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Go to Data tab → Filter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3.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Click dropdown arrow in column header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606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4.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6060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Check/uncheck values to show/hide rows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Common Use Cases: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Sort sales data by revenue (highest to lowest)</a:t>
            </a:r>
          </a:p>
        </p:txBody>
      </p:sp>
      <p:sp>
        <p:nvSpPr>
          <p:cNvPr id="27" name="Text 25"/>
          <p:cNvSpPr/>
          <p:nvPr/>
        </p:nvSpPr>
        <p:spPr>
          <a:xfrm>
            <a:off x="484632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Sort transactions by date (oldest to newest)</a:t>
            </a:r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Filter to show only customers from a specific region</a:t>
            </a:r>
          </a:p>
        </p:txBody>
      </p:sp>
      <p:sp>
        <p:nvSpPr>
          <p:cNvPr id="31" name="Text 29"/>
          <p:cNvSpPr/>
          <p:nvPr/>
        </p:nvSpPr>
        <p:spPr>
          <a:xfrm>
            <a:off x="484632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1208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Filter to display orders above $1000</a:t>
            </a:r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FINAL EXERCISE: CREATE A DATASET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Build a complete employee dataset from scratch: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Dataset Requirements: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Create 5 columns: Employee ID, Name, Department, Salary, Join Date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1284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Enter data for 10 employees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55117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0545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Format headers (Bold, Fill Color)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84378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9806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Format Salary as Currency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13639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9067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Format Join Date properly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8328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Calculate: Average Salary, Highest Salary, Lowest Salary, Total Employees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72160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67588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Sort by Salary (Highest to Lowest)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01421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6849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Add filter to Department column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Expected Output: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920240"/>
          <a:ext cx="3566160" cy="1082040"/>
        </p:xfrm>
        <a:graphic>
          <a:graphicData uri="http://schemas.openxmlformats.org/drawingml/2006/table">
            <a:tbl>
              <a:tblPr/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Emp ID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Salary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E001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John Doe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$75,000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E002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Jane Smith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$65,000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E003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Mike Brown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$80,000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937760" y="3017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Statistics (below data):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0" y="3291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Average Salary: =AVERAGE(D2:D11)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0" y="35387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Highest Salary: =MAX(D2:D11)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29200" y="37856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Lowest Salary: =MIN(D2:D11)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0" y="40325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Total Employees: =COUNT(A2:A11)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KEY TAKEAWAYS - DAY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What we learned today: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Data Analytics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5564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Data Analytics transforms raw data into actionable insights • Used across all industries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488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Excel Basics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9572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Interface navigation • Cells, rows, columns • Data entry best practices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Essential Formulas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03580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SUM, AVERAGE, COUNT, MAX, MIN, COUNTA • All formulas start with =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Statistical Measures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67588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Mean (average) • Median (middle) • Mode (most frequent)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0690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Data Management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31596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Formatting numbers, text, dates • Sorting and filtering • Professional presentation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HOMEWORK &amp; PREPARATION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HOMEWORK ASSIGNMENT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Create a Personal Budget spreadsheet with at least 5 expense categories and 3 months of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92808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92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8928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Calculate total expenses per category using SUM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85416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854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1854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Calculate average monthly spending using AVERAGE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478024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7802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4780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Find your highest and lowest expense using MAX and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770632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706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2770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Format the spreadsheet professionally (headers, currency, colors)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06324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63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Sort expenses by amount and add filters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355848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558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3558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Calculate the mean, median, and mode of your total monthly expenses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📅 NEXT CLASS - DAY 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Topics: </a:t>
            </a:r>
            <a:r>
              <a:rPr lang="en-US" sz="1200" dirty="0">
                <a:solidFill>
                  <a:srgbClr val="1F2937"/>
                </a:solidFill>
              </a:rPr>
              <a:t>Advanced Excel Functions (IF, COUNTIF, SUMIF, VLOOKUP) • Pivot Tables • Introduction to Descriptive Statistics • Data Visualization Basics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Data Analytics Course | Instructor: Muhammad Kamil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743200" y="2560320"/>
            <a:ext cx="3657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See you on Day 2!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Muhammad Kamil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Data Analytics Instructor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2450</Words>
  <Application>Microsoft Office PowerPoint</Application>
  <PresentationFormat>On-screen Show (16:9)</PresentationFormat>
  <Paragraphs>479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- Phase 01 Day 1</dc:title>
  <dc:subject>PptxGenJS Presentation</dc:subject>
  <dc:creator>Muhammad Kamil</dc:creator>
  <cp:lastModifiedBy>kamil khan</cp:lastModifiedBy>
  <cp:revision>7</cp:revision>
  <dcterms:created xsi:type="dcterms:W3CDTF">2026-02-12T15:50:53Z</dcterms:created>
  <dcterms:modified xsi:type="dcterms:W3CDTF">2026-02-12T16:29:33Z</dcterms:modified>
</cp:coreProperties>
</file>