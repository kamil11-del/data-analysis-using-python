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432" y="-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8204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47472" cy="1554480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600" dirty="0">
                <a:solidFill>
                  <a:srgbClr val="FFFFFF"/>
                </a:solidFill>
              </a:rPr>
              <a:t>DATA ANALYTICS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PHASE 01 - DAY 2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0" y="1554480"/>
            <a:ext cx="9144000" cy="358902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1628"/>
                </a:solidFill>
              </a:rPr>
              <a:t>Data Organization &amp;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0A1628"/>
                </a:solidFill>
              </a:rPr>
              <a:t>Conditional Logic in Excel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F2937"/>
                </a:solidFill>
              </a:rPr>
              <a:t>Week 1 | Foundations of Data Analytics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Phase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</a:rPr>
              <a:t>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Week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Day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82F6"/>
                </a:solidFill>
              </a:rPr>
              <a:t>3- </a:t>
            </a:r>
            <a:r>
              <a:rPr lang="en-US" sz="3200" b="1" dirty="0" err="1">
                <a:solidFill>
                  <a:srgbClr val="3B82F6"/>
                </a:solidFill>
              </a:rPr>
              <a:t>hrs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76656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Duration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TODAY'S 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What we'll master today: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0:00-0:30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64592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Sorting Data (Single &amp; Multiple Columns)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240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0:30-1:00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2402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Filtering with AutoFilter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8346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1:00-1:20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83464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Remove Duplicates &amp; Data Validation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429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🔀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3429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1:20-2:00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34290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IF Function &amp; Conditional Logic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023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7280" y="4023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</a:rPr>
              <a:t>2:00-2:30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77440" y="40233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Hands-on Practice Exercises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SORTING DATA IN EXCEL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2937"/>
                </a:solidFill>
              </a:rPr>
              <a:t>Organize your data for better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Sorting </a:t>
            </a:r>
            <a:r>
              <a:rPr lang="en-US" sz="1400" dirty="0">
                <a:solidFill>
                  <a:srgbClr val="1F2937"/>
                </a:solidFill>
              </a:rPr>
              <a:t>arranges your data in a specific order (A-Z, Z-A, smallest to largest, or largest to smallest). This makes it easier to find information, identify patterns, and analyze trends.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</a:rPr>
              <a:t>Why Sort Data?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432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Find Information Quickly: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7432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Alphabetize customer names to locate records faster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00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Identify Top/Bottom Performers: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32004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Sort sales by amount to see best and worst performers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Spot Patterns: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3657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Sort by date to analyze trends over time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14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Prepare for Analysis: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0" y="4114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Organize data before creating pivot tables or charts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SORTING: SINGLE COLUMN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How to sort data by one column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Select any cell in the column you want to sort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719072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Click anywhere in the column - Excel will auto-select the entire data range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240280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Go to Data tab on the ribbon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496312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Located at the top of Excel window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017520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Click Sort A to Z or Sort Z to 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273552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 to Z = Ascending (smallest to largest), Z to A = Descending (largest to smallest)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794760"/>
            <a:ext cx="7726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Your data is now sorted!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050792"/>
            <a:ext cx="7726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All related rows move together - data integrity maintained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262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⚠️ Important: Always ensure your data has headers in Row 1 before sorting!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SORTING: MULTIPLE COLUMNS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Sort by multiple criteria for advanced organization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286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Select any cell in your data range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56232"/>
            <a:ext cx="2286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562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810512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Click Data tab → Sort button (not Sort A-Z)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295144"/>
            <a:ext cx="2286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9514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249424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In Sort dialog, choose first 'Sort by' column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34056"/>
            <a:ext cx="2286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3405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688336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Click 'Add Level' to add second sorting criteria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2286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7296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127248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Choose 'Then by' column and sort order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22860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6118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356616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Add more levels if needed, then click 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Example: Sort employees first by Department, then by Salary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</a:rPr>
              <a:t>Result: All employees grouped by department, and within each department, sorted by salary from highest to lowest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FILTERING DATA IN EXCEL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2937"/>
                </a:solidFill>
              </a:rPr>
              <a:t>Show only the data you need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Filtering </a:t>
            </a:r>
            <a:r>
              <a:rPr lang="en-US" sz="1400" dirty="0">
                <a:solidFill>
                  <a:srgbClr val="1F2937"/>
                </a:solidFill>
              </a:rPr>
              <a:t>temporarily hides rows that don't meet your criteria, allowing you to focus on specific subsets of data. Unlike sorting, filtering doesn't rearrange your data - it just hides unwanted rows.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</a:rPr>
              <a:t>Filtering vs Sorting: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43200"/>
          <a:ext cx="7315200" cy="129540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Sorting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Filtering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Rearranges all rows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Hides unwanted rows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Visibility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All data visible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Only selected data visible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Use Case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Organize &amp; rank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Focus on specific items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Example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Top 10 salespeople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Only 2024 transactions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💡 Pro Tip: You can sort AND filter data at the same time for powerful analysis!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APPLYING AUTOFILTER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Step-by-step guide to filtering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13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Select your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14173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Click any cell in your data range (or select entire dataset)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29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Enable AutoFilter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19659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Go to Data tab → Click 'Filter' button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78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514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See dropdown arrows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25146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Small arrows appear in each column header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27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063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Click dropdown arrow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30632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Click arrow in the column you want to filter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7588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75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611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Choose criteria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361188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Check/uncheck boxes to show/hide specific values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24528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4160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Click OK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49040" y="41605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Excel hides rows that don't match your selection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Filter Options: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4572000"/>
            <a:ext cx="6309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Text Filters: Contains, Begins with, Ends with | Number Filters: Greater than, Less than, Between | Date Filters: Before, After, Between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REMOVING DUPLICATES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Clean your data by eliminating duplicate entries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628"/>
                </a:solidFill>
              </a:rPr>
              <a:t>What are Duplicates?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Duplicate rows contain identical data in one or more columns. They can skew analysis, inflate counts, and lead to incorrect conclusions. Removing them ensures data accuracy.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How to Remove Duplicates: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724912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Select your data range (including headers)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632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044952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Go to Data tab → Click 'Remove Duplicates' button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364992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Choose which columns to check for duplicates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685032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Click OK → Excel shows how many duplicates were removed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233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005072"/>
            <a:ext cx="7772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Review the cleaned data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5312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⚠️ Warning: This action is permanent! Consider making a backup copy of your data first.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DATA VALIDATION &amp; DROPDOWNS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Control what data can be entered in cells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</a:rPr>
              <a:t>Data Validation </a:t>
            </a:r>
            <a:r>
              <a:rPr lang="en-US" sz="1300" dirty="0">
                <a:solidFill>
                  <a:srgbClr val="1F2937"/>
                </a:solidFill>
              </a:rPr>
              <a:t>restricts the type of data that can be entered in a cell. It prevents errors, ensures consistency, and makes data entry faster with dropdown lists.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Creating a Dropdown List: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587752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5877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Select the cell(s) where you want the dropdown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935224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93522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9077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Go to Data tab → Click 'Data Validation'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3282696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28269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25526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In 'Allow' dropdown, select 'List'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630168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301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60273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In 'Source' field, type your options separated by commas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97764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97764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9502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Example: Yes,No,Maybe  OR  Small,Medium,Large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" y="4325112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32511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2976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Click OK → Dropdown arrow appears in the cell!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Common Uses: Department names, Product categories, Status (Pending/Complete), Priority levels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PRACTICE EXERCISE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Customer Database Cleanup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SCENARIO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You've been given a messy customer database. Your task is to organize and clean it for analysis.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Tasks to Complete: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505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Sort the data by 'Last Name' in alphabetical order (A-Z)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614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Then sort by 'City' while keeping Last Name sort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05409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03580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Apply AutoFilter to the dataset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46704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467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32841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Filter to show only customers from 'New York'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39312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393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62102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Remove duplicate customer records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9319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391363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Create a dropdown list in 'Status' column with options: Active, Inactive, Pending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224528"/>
            <a:ext cx="182880" cy="182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245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42062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Count how many customers remain after removing duplicates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5720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⏱️ Time: 15 minutes | Practice file will be provided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CONDITIONAL LOGIC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</a:rPr>
              <a:t>Making decisions with IF functions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0" y="2926080"/>
            <a:ext cx="4572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The power to automate decisions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THE IF FUNCTION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2937"/>
                </a:solidFill>
              </a:rPr>
              <a:t>Make decisions based on conditions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9220"/>
            <a:ext cx="8229600" cy="1307592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Syntax: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5544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=IF(condition, value_if_true, value_if_false)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How it works: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condition: The test you want to perform (e.g., A1&gt;100)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258568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value_if_true: What to return if condition is TRUE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414016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value_if_false: What to return if condition is FALSE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Simple Examples: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089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=IF(A1&gt;100, "High", "Low")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6858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If value in A1 is greater than 100, display 'High', otherwise 'Low'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89520" y="3154680"/>
            <a:ext cx="100584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31546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 or Low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6118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=IF(B2&gt;=60, "Pass", "Fail")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6858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If score in B2 is 60 or more, display 'Pass', otherwise 'Fail'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89520" y="3657600"/>
            <a:ext cx="100584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36576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Pass or Fail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11480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=IF(C3="Yes", 1, 0)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6858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If C3 contains 'Yes', return 1, otherwise return 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89520" y="4160520"/>
            <a:ext cx="1005840" cy="228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41605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 or 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NESTED IF FUNCTIONS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Multiple conditions, multiple outcomes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Nested IF </a:t>
            </a:r>
            <a:r>
              <a:rPr lang="en-US" sz="1300" dirty="0">
                <a:solidFill>
                  <a:srgbClr val="1F2937"/>
                </a:solidFill>
              </a:rPr>
              <a:t>means placing one IF function inside another. This allows you to test multiple conditions and return different results based on which condition is met.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Example: Grade Assignment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=IF(A1&gt;=90, "A", IF(A1&gt;=80, "B", IF(A1&gt;=70, "C", IF(A1&gt;=60, "D", "F"))))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How it works step-by-step: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Is score ≥ 90?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3474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</a:rPr>
              <a:t>YES → Return 'A'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34747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NO → Check next condition 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767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Is score ≥ 80?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3767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</a:rPr>
              <a:t>YES → Return 'B'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0" y="376732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NO → Check next condition 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405993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Is score ≥ 70?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405993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</a:rPr>
              <a:t>YES → Return 'C'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40599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NO → Check next condition 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35254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Is score ≥ 60?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435254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</a:rPr>
              <a:t>YES → Return 'D'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435254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</a:rPr>
              <a:t>NO → Return 'F'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</a:rPr>
              <a:t>💡 Tip: Excel allows up to 64 nested IF functions, but for readability, try to limit to 3-4 levels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LOGICAL FUNCTIONS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AND, OR, NOT - Combine multiple conditions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AND Function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=AND(condition1, condition2, ...)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83664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Returns TRUE only if ALL conditions are TRUE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=AND(A1&gt;50, B1&lt;100)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→ TRUE if A1&gt;50 AND B1&lt;100, otherwise FALSE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606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OR Function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862072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=OR(condition1, condition2, ...)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026664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Returns TRUE if ANY condition is TRUE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=OR(A1&gt;100, B1="VIP")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355848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→ TRUE if A1&gt;100 OR B1 is VIP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44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NOT Function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005072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=NOT(condition)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169664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Reverses the logical value (TRUE becomes FALSE)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=NOT(A1="Complete")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498848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→ TRUE if A1 is NOT Complete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COMBINING IF WITH AND/OR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Test multiple conditions in one formula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Pattern: =IF(AND(...), value_if_all_true, value_if_any_false)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Example 1: Discount Eligibility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5623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</a:rPr>
              <a:t>Give discount if customer spent &gt;$1000 AND is a member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39112"/>
            <a:ext cx="8229600" cy="2011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84832"/>
            <a:ext cx="7863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=IF(AND(A1&gt;1000, B1="Member"), "Discount", "No Discount")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💡 Both conditions must be TRUE to get discount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Example 2: Priority Status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81635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</a:rPr>
              <a:t>Mark as priority if amount &gt;$5000 OR customer is VIP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99232"/>
            <a:ext cx="8229600" cy="2011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44952"/>
            <a:ext cx="7863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=IF(OR(A1&gt;5000, B1="VIP"), "Priority", "Normal")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2783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💡 Either condition being TRUE makes it priority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</a:rPr>
              <a:t>Example 3: Loan Approval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77647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</a:rPr>
              <a:t>Approve if income &gt;$50k AND credit score &gt;700 AND employed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59352"/>
            <a:ext cx="8229600" cy="20116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05072"/>
            <a:ext cx="7863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=IF(AND(A1&gt;50000, B1&gt;700, C1="Yes"), "Approved", "Denied")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💡 All three conditions must be TRUE for approval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PRACTICE EXERCISE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Student Grade Calculator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SCENARIO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Create an automated grading system for student scores with multiple conditions.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Tasks to Complete: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450592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Create "Grade" column using nested IF: A (≥90), B (≥80), C (≥70), D (≥60), F (&lt;60)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1576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Create "Pass/Fail" column: Pass if score ≥60, otherwise Fail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96265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944368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Create "Performance" column: Excellent if ≥90, Good if ≥75, Average if ≥60, Poor if &lt;60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209544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954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191256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Create "Honors" column: Yes if score ≥85 AND attendance ≥90%, otherwise No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456432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5643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438144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Create "Warning" column: Yes if score &lt;60 OR attendance &lt;75%, otherwise No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703320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70332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3685032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Calculate average score for the class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950208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95020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3931920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Count how many students passed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197096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19709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4178808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</a:rPr>
              <a:t>Identify the highest and lowest scores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720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⏱️ Time: 25 minutes | Practice file will be provided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KEY TAKEAWAYS - DAY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280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Data Organization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57276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Sorting (single &amp; multiple columns) • Filtering (AutoFilter) • Remove duplicates • Data validation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IF Function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4414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Single condition IF • Nested IF for multiple conditions • Returns different values based on TRUE/FALSE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Logical Functions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31012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AND (all must be TRUE) • OR (any can be TRUE) • NOT (reverses TRUE/FALSE)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886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</a:rPr>
              <a:t>Combined Power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17880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IF + AND/OR = complex decision logic • Automate categorization • Error prevention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</a:rPr>
              <a:t>HOMEWORK ASSIGNMENT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📝 EMPLOYEE DATABASE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Create an Excel file with the following: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810512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Dataset: Create employee records (min 20 rows) with columns: Employee ID, Name, Department, Salary, Years of Service, Performance Rating (1-5)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8483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2066544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Sort: First by Department (A-Z), then by Salary (Highest to Lowest)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340864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4086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" y="2322576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Filter: Create filters and show only employees from "Sales" department with Salary &gt; $50,000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596896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9689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" y="2578608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Remove any duplicate employee IDs you intentionally added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2852928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85292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" y="2834640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Data Validation: Create dropdown for Department (Sales, IT, HR, Finance, Marketing)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0896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3090672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IF Formula: "Bonus Eligible" column - Yes if Salary &lt; $60,000 AND Performance ≥4, else No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3364992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36499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" y="3346704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Nested IF: "Experience Level" - Expert (≥10 years), Senior (≥5), Junior (≥2), Entry (&lt;2)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" y="3621024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621024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" y="3602736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AND/OR: "Review Priority" - High if Performance ≥4 OR Salary &gt;$80,000, else Normal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48640" y="3877056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877056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77240" y="3858768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Calculate: Average salary, Total employees, Highest/Lowest salary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4133088"/>
            <a:ext cx="164592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133088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7240" y="4114800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</a:rPr>
              <a:t>Save as: YourName_Employee_Database.xlsx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5720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📅 DUE: Next class | Submit via email or upload to class portal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 Analytics Course | Instructor: Muhammad Kamil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GREAT WORK TODAY!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2743200" y="2560320"/>
            <a:ext cx="3657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You've mastered data organization and conditional logic!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Practice makes perfect - complete your homework!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Questions?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Muhammad Kamil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Data Analytics Instructor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305C230E-184D-4DB4-B46E-A676CF195465}">
  <we:reference id="wa200010001" version="1.0.0.0" store="en-US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4015E254-DA6E-4DBD-8FAB-DABE653F568C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2260</Words>
  <Application>Microsoft Office PowerPoint</Application>
  <PresentationFormat>On-screen Show (16:9)</PresentationFormat>
  <Paragraphs>341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- Phase 01 Day 2</dc:title>
  <dc:subject>PptxGenJS Presentation</dc:subject>
  <dc:creator>Muhammad Kamil</dc:creator>
  <cp:lastModifiedBy>kamil khan</cp:lastModifiedBy>
  <cp:revision>5</cp:revision>
  <dcterms:created xsi:type="dcterms:W3CDTF">2026-02-13T18:29:08Z</dcterms:created>
  <dcterms:modified xsi:type="dcterms:W3CDTF">2026-02-16T13:04:30Z</dcterms:modified>
</cp:coreProperties>
</file>