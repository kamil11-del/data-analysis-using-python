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974808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55448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47472" cy="1554480"/>
          </a:xfrm>
          <a:prstGeom prst="rect">
            <a:avLst/>
          </a:prstGeom>
          <a:solidFill>
            <a:srgbClr val="0D224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kern="0" spc="600" dirty="0">
                <a:solidFill>
                  <a:srgbClr val="FFFFFF"/>
                </a:solidFill>
              </a:rPr>
              <a:t>DATA ANALYTICS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</a:rPr>
              <a:t>PHASE 01 - DAY 3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0" y="1554480"/>
            <a:ext cx="9144000" cy="3589020"/>
          </a:xfrm>
          <a:prstGeom prst="rect">
            <a:avLst/>
          </a:prstGeom>
          <a:solidFill>
            <a:srgbClr val="F0F9FF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0116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A1628"/>
                </a:solidFill>
              </a:rPr>
              <a:t>Conditional Aggregation</a:t>
            </a:r>
            <a:endParaRPr lang="en-US" sz="2800" dirty="0"/>
          </a:p>
          <a:p>
            <a:pPr marL="0" indent="0" algn="l">
              <a:buNone/>
            </a:pPr>
            <a:r>
              <a:rPr lang="en-US" sz="2800" b="1" dirty="0">
                <a:solidFill>
                  <a:srgbClr val="0A1628"/>
                </a:solidFill>
              </a:rPr>
              <a:t>Functions in Excel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3200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F2937"/>
                </a:solidFill>
              </a:rPr>
              <a:t>Week 1 | Mastering Excel for Data Analysis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39319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3B82F6"/>
                </a:solidFill>
              </a:rPr>
              <a:t>01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7200" y="43434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</a:rPr>
              <a:t>Phase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560320" y="39319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3B82F6"/>
                </a:solidFill>
              </a:rPr>
              <a:t>1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2560320" y="43434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</a:rPr>
              <a:t>Week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663440" y="39319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3B82F6"/>
                </a:solidFill>
              </a:rPr>
              <a:t>3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4663440" y="43434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</a:rPr>
              <a:t>Day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766560" y="39319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3B82F6"/>
                </a:solidFill>
              </a:rPr>
              <a:t>2.5hrs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6766560" y="43434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</a:rPr>
              <a:t>Duration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484632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Data Analytics Course | Instructor: Muhammad Kamil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A1628"/>
                </a:solidFill>
              </a:rPr>
              <a:t>TODAY'S LEARNING OBJECTIVES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</a:rPr>
              <a:t>Master conditional calculations for powerful data analysis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137160" cy="13716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6002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F2937"/>
                </a:solidFill>
              </a:rPr>
              <a:t>Count data that meets specific criteria using COUNTIF and COUNTIFS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121408"/>
            <a:ext cx="137160" cy="13716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075688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F2937"/>
                </a:solidFill>
              </a:rPr>
              <a:t>Sum values based on conditions using SUMIF and SUMIFS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2596896"/>
            <a:ext cx="137160" cy="13716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551176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F2937"/>
                </a:solidFill>
              </a:rPr>
              <a:t>Calculate averages for filtered data using AVERAGEIF and AVERAGEIFS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3072384"/>
            <a:ext cx="137160" cy="13716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026664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F2937"/>
                </a:solidFill>
              </a:rPr>
              <a:t>Combine multiple criteria for complex business analysis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3547872"/>
            <a:ext cx="137160" cy="13716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3502152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F2937"/>
                </a:solidFill>
              </a:rPr>
              <a:t>Analyze real-world sales data by region, product, and time period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4023360"/>
            <a:ext cx="137160" cy="13716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397764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F2937"/>
                </a:solidFill>
              </a:rPr>
              <a:t>Build a complete regional sales dashboard from scratch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4572000"/>
            <a:ext cx="8229600" cy="1828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572000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</a:rPr>
              <a:t>💡 These functions are used DAILY by data analysts in every industry!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484632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Data Analytics Course | Instructor: Muhammad Kamil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A1628"/>
                </a:solidFill>
              </a:rPr>
              <a:t>WHAT ARE CONDITIONAL FUNCTIONS?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1F2937"/>
                </a:solidFill>
              </a:rPr>
              <a:t>Calculate ONLY the data that meets your criteria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solidFill>
            <a:srgbClr val="FFFFFF"/>
          </a:solidFill>
          <a:ln w="25400">
            <a:solidFill>
              <a:srgbClr val="3B82F6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6002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B82F6"/>
                </a:solidFill>
              </a:rPr>
              <a:t>Conditional functions </a:t>
            </a:r>
            <a:r>
              <a:rPr lang="en-US" sz="1400" dirty="0">
                <a:solidFill>
                  <a:srgbClr val="1F2937"/>
                </a:solidFill>
              </a:rPr>
              <a:t>perform calculations (count, sum, average) on data that matches specific conditions. Instead of calculating everything, you can focus on specific categories, regions, date ranges, or any criteria you define.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377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A1628"/>
                </a:solidFill>
              </a:rPr>
              <a:t>The Problem vs The Solution:</a:t>
            </a:r>
            <a:endParaRPr lang="en-US" sz="1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2743200"/>
          <a:ext cx="7315200" cy="1554480"/>
        </p:xfrm>
        <a:graphic>
          <a:graphicData uri="http://schemas.openxmlformats.org/drawingml/2006/table">
            <a:tbl>
              <a:tblPr/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38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Without Conditional Functions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44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With Conditional Functions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Manually filter data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One formula does it all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Copy-paste filtered results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Dynamic, updates automatically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Multiple steps, prone to errors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Single formula, accurate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Time-consuming for large datasets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Instant results, any size data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Example: 5 minutes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Example: 5 seconds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4453128"/>
            <a:ext cx="78638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</a:rPr>
              <a:t>🎯 Real Example: 'How many sales did New York make in Q1?' - One COUNTIFS formula!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57200" y="484632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Data Analytics Course | Instructor: Muhammad Kamil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A1628"/>
                </a:solidFill>
              </a:rPr>
              <a:t>COUNTIF FUNCTION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1F2937"/>
                </a:solidFill>
              </a:rPr>
              <a:t>Count cells that meet ONE condition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solidFill>
            <a:srgbClr val="FFFFFF"/>
          </a:solidFill>
          <a:ln w="25400">
            <a:solidFill>
              <a:srgbClr val="10B98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5087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628"/>
                </a:solidFill>
              </a:rPr>
              <a:t>Syntax: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103120" y="1508760"/>
            <a:ext cx="6309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=COUNTIF(range, criteria)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82880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• range: The cells you want to check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0" y="1828800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• criteria: The condition to match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286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1628"/>
                </a:solidFill>
              </a:rPr>
              <a:t>Business Examples: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2651760"/>
            <a:ext cx="8229600" cy="429768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" y="2697480"/>
            <a:ext cx="3200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</a:rPr>
              <a:t>How many products are "Electronics"?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2880360"/>
            <a:ext cx="5029200" cy="155448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880360"/>
            <a:ext cx="48463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=COUNTIF(B2:B100, "Electronics")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760720" y="2880360"/>
            <a:ext cx="155448" cy="15544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5760720" y="2880360"/>
            <a:ext cx="155448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127248"/>
            <a:ext cx="8229600" cy="429768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0080" y="3172968"/>
            <a:ext cx="3200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</a:rPr>
              <a:t>How many sales above $1000?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" y="3355848"/>
            <a:ext cx="5029200" cy="155448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3355848"/>
            <a:ext cx="48463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=COUNTIF(C2:C100, "&gt;1000")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760720" y="3355848"/>
            <a:ext cx="155448" cy="15544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1" name="Text 19"/>
          <p:cNvSpPr/>
          <p:nvPr/>
        </p:nvSpPr>
        <p:spPr>
          <a:xfrm>
            <a:off x="5760720" y="3355848"/>
            <a:ext cx="155448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3602736"/>
            <a:ext cx="8229600" cy="429768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40080" y="3648456"/>
            <a:ext cx="3200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</a:rPr>
              <a:t>How many orders from "New York"?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" y="3831336"/>
            <a:ext cx="5029200" cy="155448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3831336"/>
            <a:ext cx="48463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=COUNTIF(A2:A100, "New York")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760720" y="3831336"/>
            <a:ext cx="155448" cy="15544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7" name="Text 25"/>
          <p:cNvSpPr/>
          <p:nvPr/>
        </p:nvSpPr>
        <p:spPr>
          <a:xfrm>
            <a:off x="5760720" y="3831336"/>
            <a:ext cx="155448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" y="4078224"/>
            <a:ext cx="8229600" cy="429768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40080" y="4123944"/>
            <a:ext cx="3200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</a:rPr>
              <a:t>How many employees earn $50,000?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40080" y="4306824"/>
            <a:ext cx="5029200" cy="155448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1" name="Text 29"/>
          <p:cNvSpPr/>
          <p:nvPr/>
        </p:nvSpPr>
        <p:spPr>
          <a:xfrm>
            <a:off x="731520" y="4306824"/>
            <a:ext cx="48463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=COUNTIF(D2:D100, 50000)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760720" y="4306824"/>
            <a:ext cx="155448" cy="15544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3" name="Text 31"/>
          <p:cNvSpPr/>
          <p:nvPr/>
        </p:nvSpPr>
        <p:spPr>
          <a:xfrm>
            <a:off x="5760720" y="4306824"/>
            <a:ext cx="155448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57200" y="4572000"/>
            <a:ext cx="8229600" cy="1828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5" name="Text 33"/>
          <p:cNvSpPr/>
          <p:nvPr/>
        </p:nvSpPr>
        <p:spPr>
          <a:xfrm>
            <a:off x="640080" y="4572000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2937"/>
                </a:solidFill>
              </a:rPr>
              <a:t>💡 Use quotes for text: "New York" | Use comparison: "&gt;1000"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57200" y="484632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Data Analytics Course | Instructor: Muhammad Kamil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A1628"/>
                </a:solidFill>
              </a:rPr>
              <a:t>COUNTIFS FUNCTION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1F2937"/>
                </a:solidFill>
              </a:rPr>
              <a:t>Count cells meeting MULTIPLE conditions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822960"/>
          </a:xfrm>
          <a:prstGeom prst="rect">
            <a:avLst/>
          </a:prstGeom>
          <a:solidFill>
            <a:srgbClr val="FFFFFF"/>
          </a:solidFill>
          <a:ln w="25400">
            <a:solidFill>
              <a:srgbClr val="8B5CF6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5087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628"/>
                </a:solidFill>
              </a:rPr>
              <a:t>Syntax: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103120" y="1508760"/>
            <a:ext cx="6309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=COUNTIFS(range1, criteria1, range2, criteria2, ...)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87452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F2937"/>
                </a:solidFill>
              </a:rPr>
              <a:t>ALL conditions must be TRUE to be counted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286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1628"/>
                </a:solidFill>
              </a:rPr>
              <a:t>Real Business Questions: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2651760"/>
            <a:ext cx="8229600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697480"/>
            <a:ext cx="7863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</a:rPr>
              <a:t>Electronics sold in "New York"?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2880360"/>
            <a:ext cx="7863840" cy="164592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880360"/>
            <a:ext cx="7772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=COUNTIFS(B2:B100, "Electronics", C2:C100, "New York")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40080" y="3063240"/>
            <a:ext cx="78638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B5CF6"/>
                </a:solidFill>
              </a:rPr>
              <a:t>✓ 2 conditions: Product AND Region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3291840"/>
            <a:ext cx="8229600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337560"/>
            <a:ext cx="7863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</a:rPr>
              <a:t>Sales above $1000 in Q1 2024?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3520440"/>
            <a:ext cx="7863840" cy="164592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3520440"/>
            <a:ext cx="7772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=COUNTIFS(D2:D100, "&gt;1000", E2:E100, "&gt;=1/1/24", E2:E100, "&lt;=3/31/24")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40080" y="3703320"/>
            <a:ext cx="78638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B5CF6"/>
                </a:solidFill>
              </a:rPr>
              <a:t>✓ 3 conditions: Amount AND Date range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3931920"/>
            <a:ext cx="8229600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3977640"/>
            <a:ext cx="7863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</a:rPr>
              <a:t>VIP customers spending &gt;$5000?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" y="4160520"/>
            <a:ext cx="7863840" cy="164592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4160520"/>
            <a:ext cx="7772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=COUNTIFS(F2:F100, "VIP", G2:G100, "&gt;5000")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40080" y="4343400"/>
            <a:ext cx="78638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B5CF6"/>
                </a:solidFill>
              </a:rPr>
              <a:t>✓ 2 conditions: Status AND Amount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" y="4572000"/>
            <a:ext cx="8229600" cy="18288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4572000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2937"/>
                </a:solidFill>
              </a:rPr>
              <a:t>🎯 Pro Tip: COUNTIFS can handle up to 127 condition pairs!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" y="484632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Data Analytics Course | Instructor: Muhammad Kamil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A1628"/>
                </a:solidFill>
              </a:rPr>
              <a:t>COUNTIF vs COUNTIFS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</a:rPr>
              <a:t>When to use which function?</a:t>
            </a:r>
            <a:endParaRPr lang="en-US" sz="1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71600"/>
          <a:ext cx="7863840" cy="2103120"/>
        </p:xfrm>
        <a:graphic>
          <a:graphicData uri="http://schemas.openxmlformats.org/drawingml/2006/table">
            <a:tbl>
              <a:tblPr/>
              <a:tblGrid>
                <a:gridCol w="2621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1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21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05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COUNTIF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COUNTIFS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5C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Conditions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ONE condition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MULTIPLE conditions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Syntax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=COUNTIF(range, criteria)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=COUNTIFS(r1, c1, r2, c2...)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Example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Count "Electronics"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Electronics in "New York"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Use When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Simple questions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Complex questions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Real Case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How many products sold?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Products sold in NY in Q1?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657600"/>
            <a:ext cx="3931920" cy="9677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Text 3"/>
          <p:cNvSpPr/>
          <p:nvPr/>
        </p:nvSpPr>
        <p:spPr>
          <a:xfrm>
            <a:off x="640080" y="374904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628"/>
                </a:solidFill>
              </a:rPr>
              <a:t>COUNTIF = Simple</a:t>
            </a:r>
            <a:endParaRPr lang="en-US" sz="1400" dirty="0"/>
          </a:p>
        </p:txBody>
      </p:sp>
      <p:sp>
        <p:nvSpPr>
          <p:cNvPr id="4" name="Text 4"/>
          <p:cNvSpPr/>
          <p:nvPr/>
        </p:nvSpPr>
        <p:spPr>
          <a:xfrm>
            <a:off x="640080" y="4005072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</a:rPr>
              <a:t>✓ One question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</a:rPr>
              <a:t>✓ One range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</a:rPr>
              <a:t>✓ One criteria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</a:rPr>
              <a:t>✓ Fast to write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754880" y="3657600"/>
            <a:ext cx="3931920" cy="96774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9" name="Text 6"/>
          <p:cNvSpPr/>
          <p:nvPr/>
        </p:nvSpPr>
        <p:spPr>
          <a:xfrm>
            <a:off x="4937760" y="374904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628"/>
                </a:solidFill>
              </a:rPr>
              <a:t>COUNTIFS = Powerful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937760" y="4005072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</a:rPr>
              <a:t>✓ Complex questions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</a:rPr>
              <a:t>✓ Multiple ranges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</a:rPr>
              <a:t>✓ Multiple criteria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</a:rPr>
              <a:t>✓ Accurate results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57200" y="484632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Data Analytics Course | Instructor: Muhammad Kamil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A1628"/>
                </a:solidFill>
              </a:rPr>
              <a:t>EXAMPLE DATASET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B82F6"/>
                </a:solidFill>
              </a:rPr>
              <a:t>E-Commerce Product Sales Data</a:t>
            </a:r>
            <a:endParaRPr lang="en-US" sz="1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280160"/>
          <a:ext cx="7863840" cy="1561014"/>
        </p:xfrm>
        <a:graphic>
          <a:graphicData uri="http://schemas.openxmlformats.org/drawingml/2006/table">
            <a:tbl>
              <a:tblPr/>
              <a:tblGrid>
                <a:gridCol w="1310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0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10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10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106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106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206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Order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Product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Category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Region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Amount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Customer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206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1001</a:t>
                      </a:r>
                      <a:endParaRPr lang="en-US" sz="800" dirty="0"/>
                    </a:p>
                  </a:txBody>
                  <a:tcPr anchor="ctr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Laptop</a:t>
                      </a:r>
                      <a:endParaRPr lang="en-US" sz="800" dirty="0"/>
                    </a:p>
                  </a:txBody>
                  <a:tcPr anchor="ctr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Electronics</a:t>
                      </a:r>
                      <a:endParaRPr lang="en-US" sz="800" dirty="0"/>
                    </a:p>
                  </a:txBody>
                  <a:tcPr anchor="ctr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North</a:t>
                      </a:r>
                      <a:endParaRPr lang="en-US" sz="800" dirty="0"/>
                    </a:p>
                  </a:txBody>
                  <a:tcPr anchor="ctr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$1,200</a:t>
                      </a:r>
                      <a:endParaRPr lang="en-US" sz="800" dirty="0"/>
                    </a:p>
                  </a:txBody>
                  <a:tcPr anchor="ctr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Regular</a:t>
                      </a:r>
                      <a:endParaRPr lang="en-US" sz="800" dirty="0"/>
                    </a:p>
                  </a:txBody>
                  <a:tcPr anchor="ctr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206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1002</a:t>
                      </a:r>
                      <a:endParaRPr lang="en-US" sz="800" dirty="0"/>
                    </a:p>
                  </a:txBody>
                  <a:tcPr anchor="ctr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Chair</a:t>
                      </a:r>
                      <a:endParaRPr lang="en-US" sz="800" dirty="0"/>
                    </a:p>
                  </a:txBody>
                  <a:tcPr anchor="ctr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Furniture</a:t>
                      </a:r>
                      <a:endParaRPr lang="en-US" sz="800" dirty="0"/>
                    </a:p>
                  </a:txBody>
                  <a:tcPr anchor="ctr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South</a:t>
                      </a:r>
                      <a:endParaRPr lang="en-US" sz="800" dirty="0"/>
                    </a:p>
                  </a:txBody>
                  <a:tcPr anchor="ctr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$350</a:t>
                      </a:r>
                      <a:endParaRPr lang="en-US" sz="800" dirty="0"/>
                    </a:p>
                  </a:txBody>
                  <a:tcPr anchor="ctr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VIP</a:t>
                      </a:r>
                      <a:endParaRPr lang="en-US" sz="800" dirty="0"/>
                    </a:p>
                  </a:txBody>
                  <a:tcPr anchor="ctr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206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1003</a:t>
                      </a:r>
                      <a:endParaRPr lang="en-US" sz="800" dirty="0"/>
                    </a:p>
                  </a:txBody>
                  <a:tcPr anchor="ctr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Monitor</a:t>
                      </a:r>
                      <a:endParaRPr lang="en-US" sz="800" dirty="0"/>
                    </a:p>
                  </a:txBody>
                  <a:tcPr anchor="ctr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Electronics</a:t>
                      </a:r>
                      <a:endParaRPr lang="en-US" sz="800" dirty="0"/>
                    </a:p>
                  </a:txBody>
                  <a:tcPr anchor="ctr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North</a:t>
                      </a:r>
                      <a:endParaRPr lang="en-US" sz="800" dirty="0"/>
                    </a:p>
                  </a:txBody>
                  <a:tcPr anchor="ctr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$800</a:t>
                      </a:r>
                      <a:endParaRPr lang="en-US" sz="800" dirty="0"/>
                    </a:p>
                  </a:txBody>
                  <a:tcPr anchor="ctr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Regular</a:t>
                      </a:r>
                      <a:endParaRPr lang="en-US" sz="800" dirty="0"/>
                    </a:p>
                  </a:txBody>
                  <a:tcPr anchor="ctr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206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1004</a:t>
                      </a:r>
                      <a:endParaRPr lang="en-US" sz="800" dirty="0"/>
                    </a:p>
                  </a:txBody>
                  <a:tcPr anchor="ctr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Table</a:t>
                      </a:r>
                      <a:endParaRPr lang="en-US" sz="800" dirty="0"/>
                    </a:p>
                  </a:txBody>
                  <a:tcPr anchor="ctr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Furniture</a:t>
                      </a:r>
                      <a:endParaRPr lang="en-US" sz="800" dirty="0"/>
                    </a:p>
                  </a:txBody>
                  <a:tcPr anchor="ctr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East</a:t>
                      </a:r>
                      <a:endParaRPr lang="en-US" sz="800" dirty="0"/>
                    </a:p>
                  </a:txBody>
                  <a:tcPr anchor="ctr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$450</a:t>
                      </a:r>
                      <a:endParaRPr lang="en-US" sz="800" dirty="0"/>
                    </a:p>
                  </a:txBody>
                  <a:tcPr anchor="ctr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VIP</a:t>
                      </a:r>
                      <a:endParaRPr lang="en-US" sz="800" dirty="0"/>
                    </a:p>
                  </a:txBody>
                  <a:tcPr anchor="ctr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206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1005</a:t>
                      </a:r>
                      <a:endParaRPr lang="en-US" sz="800" dirty="0"/>
                    </a:p>
                  </a:txBody>
                  <a:tcPr anchor="ctr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Printer</a:t>
                      </a:r>
                      <a:endParaRPr lang="en-US" sz="800" dirty="0"/>
                    </a:p>
                  </a:txBody>
                  <a:tcPr anchor="ctr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Electronics</a:t>
                      </a:r>
                      <a:endParaRPr lang="en-US" sz="800" dirty="0"/>
                    </a:p>
                  </a:txBody>
                  <a:tcPr anchor="ctr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West</a:t>
                      </a:r>
                      <a:endParaRPr lang="en-US" sz="800" dirty="0"/>
                    </a:p>
                  </a:txBody>
                  <a:tcPr anchor="ctr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$300</a:t>
                      </a:r>
                      <a:endParaRPr lang="en-US" sz="800" dirty="0"/>
                    </a:p>
                  </a:txBody>
                  <a:tcPr anchor="ctr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Regular</a:t>
                      </a:r>
                      <a:endParaRPr lang="en-US" sz="800" dirty="0"/>
                    </a:p>
                  </a:txBody>
                  <a:tcPr anchor="ctr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206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...</a:t>
                      </a:r>
                      <a:endParaRPr lang="en-US" sz="800" dirty="0"/>
                    </a:p>
                  </a:txBody>
                  <a:tcPr anchor="ctr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...</a:t>
                      </a:r>
                      <a:endParaRPr lang="en-US" sz="800" dirty="0"/>
                    </a:p>
                  </a:txBody>
                  <a:tcPr anchor="ctr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...</a:t>
                      </a:r>
                      <a:endParaRPr lang="en-US" sz="800" dirty="0"/>
                    </a:p>
                  </a:txBody>
                  <a:tcPr anchor="ctr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...</a:t>
                      </a:r>
                      <a:endParaRPr lang="en-US" sz="800" dirty="0"/>
                    </a:p>
                  </a:txBody>
                  <a:tcPr anchor="ctr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...</a:t>
                      </a:r>
                      <a:endParaRPr lang="en-US" sz="800" dirty="0"/>
                    </a:p>
                  </a:txBody>
                  <a:tcPr anchor="ctr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...</a:t>
                      </a:r>
                      <a:endParaRPr lang="en-US" sz="800" dirty="0"/>
                    </a:p>
                  </a:txBody>
                  <a:tcPr anchor="ctr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3017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1628"/>
                </a:solidFill>
              </a:rPr>
              <a:t>Questions We Can Answer: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40080" y="3383280"/>
            <a:ext cx="8046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How many Electronics? =COUNTIF(C2:C100, "Electronics")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40080" y="3657600"/>
            <a:ext cx="8046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Orders from North? =COUNTIF(D2:D100, "North")</a:t>
            </a:r>
            <a:endParaRPr lang="en-US" sz="900" dirty="0"/>
          </a:p>
        </p:txBody>
      </p:sp>
      <p:sp>
        <p:nvSpPr>
          <p:cNvPr id="4" name="Text 5"/>
          <p:cNvSpPr/>
          <p:nvPr/>
        </p:nvSpPr>
        <p:spPr>
          <a:xfrm>
            <a:off x="640080" y="3931920"/>
            <a:ext cx="8046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Electronics in North? =COUNTIFS(C2:C100, "Electronics", D2:D100, "North")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40080" y="4206240"/>
            <a:ext cx="8046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VIP Furniture orders? =COUNTIFS(F2:F100, "VIP", C2:C100, "Furniture")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40080" y="4480560"/>
            <a:ext cx="8046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Sales &gt;$500 Regular? =COUNTIFS(E2:E100, "&gt;500", F2:F100, "Regular")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457200" y="484632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Data Analytics Course | Instructor: Muhammad Kamil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A1628"/>
                </a:solidFill>
              </a:rPr>
              <a:t>SUMIF FUNCTION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1F2937"/>
                </a:solidFill>
              </a:rPr>
              <a:t>Sum values meeting ONE condition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822960"/>
          </a:xfrm>
          <a:prstGeom prst="rect">
            <a:avLst/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5087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628"/>
                </a:solidFill>
              </a:rPr>
              <a:t>Syntax: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103120" y="1508760"/>
            <a:ext cx="6309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=SUMIF(range, criteria, [sum_range])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828800"/>
            <a:ext cx="32004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</a:rPr>
              <a:t>• range: Where to check condition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1984248"/>
            <a:ext cx="32004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</a:rPr>
              <a:t>• criteria: Condition to match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0" y="1828800"/>
            <a:ext cx="43891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</a:rPr>
              <a:t>• sum_range: Values to add (optional)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286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1628"/>
                </a:solidFill>
              </a:rPr>
              <a:t>Business Examples: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2651760"/>
            <a:ext cx="8229600" cy="45720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080" y="2697480"/>
            <a:ext cx="27432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1628"/>
                </a:solidFill>
              </a:rPr>
              <a:t>Total Electronics sales?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0080" y="2852928"/>
            <a:ext cx="4114800" cy="13716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2852928"/>
            <a:ext cx="40233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=SUMIF(C2:C100, "Electronics", E2:E100)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7223760" y="2788920"/>
            <a:ext cx="1371600" cy="2286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7223760" y="278892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$52,300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154680"/>
            <a:ext cx="8229600" cy="45720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0080" y="3200400"/>
            <a:ext cx="27432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1628"/>
                </a:solidFill>
              </a:rPr>
              <a:t>Total North sales?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40080" y="3355848"/>
            <a:ext cx="4114800" cy="13716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3355848"/>
            <a:ext cx="40233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=SUMIF(D2:D100, "North", E2:E100)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7223760" y="3291840"/>
            <a:ext cx="1371600" cy="2286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7223760" y="329184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$38,450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40080" y="3703320"/>
            <a:ext cx="27432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1628"/>
                </a:solidFill>
              </a:rPr>
              <a:t>Sales above $1000?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40080" y="3858768"/>
            <a:ext cx="4114800" cy="13716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26" name="Text 24"/>
          <p:cNvSpPr/>
          <p:nvPr/>
        </p:nvSpPr>
        <p:spPr>
          <a:xfrm>
            <a:off x="685800" y="3858768"/>
            <a:ext cx="40233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=SUMIF(E2:E100, "&gt;1000")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7223760" y="3794760"/>
            <a:ext cx="1371600" cy="2286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8" name="Text 26"/>
          <p:cNvSpPr/>
          <p:nvPr/>
        </p:nvSpPr>
        <p:spPr>
          <a:xfrm>
            <a:off x="7223760" y="379476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$45,200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4160520"/>
            <a:ext cx="8229600" cy="45720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40080" y="4206240"/>
            <a:ext cx="27432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1628"/>
                </a:solidFill>
              </a:rPr>
              <a:t>Total VIP purchases?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40080" y="4361688"/>
            <a:ext cx="4114800" cy="13716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2" name="Text 30"/>
          <p:cNvSpPr/>
          <p:nvPr/>
        </p:nvSpPr>
        <p:spPr>
          <a:xfrm>
            <a:off x="685800" y="4361688"/>
            <a:ext cx="40233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=SUMIF(F2:F100, "VIP", E2:E100)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7223760" y="4297680"/>
            <a:ext cx="1371600" cy="2286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4" name="Text 32"/>
          <p:cNvSpPr/>
          <p:nvPr/>
        </p:nvSpPr>
        <p:spPr>
          <a:xfrm>
            <a:off x="7223760" y="429768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$67,800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57200" y="484632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Data Analytics Course | Instructor: Muhammad Kamil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A1628"/>
                </a:solidFill>
              </a:rPr>
              <a:t>SUMIFS FUNCTION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1F2937"/>
                </a:solidFill>
              </a:rPr>
              <a:t>Sum values with MULTIPLE conditions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640080"/>
          </a:xfrm>
          <a:prstGeom prst="rect">
            <a:avLst/>
          </a:prstGeom>
          <a:solidFill>
            <a:srgbClr val="FFFFFF"/>
          </a:solidFill>
          <a:ln w="25400">
            <a:solidFill>
              <a:srgbClr val="EF4444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6002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Syntax: =SUMIFS(sum_range, range1, crit1, range2, crit2, ...)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1628"/>
                </a:solidFill>
              </a:rPr>
              <a:t>Key Examples: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560320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</a:rPr>
              <a:t>Electronics in North?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2770632"/>
            <a:ext cx="6858000" cy="18288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770632"/>
            <a:ext cx="6766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=SUMIFS(E2:E100, C2:C100, "Electronics", D2:D100, "North")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7589520" y="2770632"/>
            <a:ext cx="1005840" cy="1828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1" name="Text 9"/>
          <p:cNvSpPr/>
          <p:nvPr/>
        </p:nvSpPr>
        <p:spPr>
          <a:xfrm>
            <a:off x="7589520" y="2770632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$28,500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3291840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</a:rPr>
              <a:t>VIP purchases &gt;$500?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3502152"/>
            <a:ext cx="6858000" cy="18288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3502152"/>
            <a:ext cx="6766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=SUMIFS(E2:E100, F2:F100, "VIP", E2:E100, "&gt;500")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7589520" y="3502152"/>
            <a:ext cx="1005840" cy="1828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6" name="Text 14"/>
          <p:cNvSpPr/>
          <p:nvPr/>
        </p:nvSpPr>
        <p:spPr>
          <a:xfrm>
            <a:off x="7589520" y="3502152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$45,200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484632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Data Analytics Course | Instructor: Muhammad Kamil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A1628"/>
                </a:solidFill>
              </a:rPr>
              <a:t>AVERAGEIF FUNCTION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</a:rPr>
              <a:t>Calculate average for ONE condition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640080"/>
          </a:xfrm>
          <a:prstGeom prst="rect">
            <a:avLst/>
          </a:prstGeom>
          <a:solidFill>
            <a:srgbClr val="FFFFFF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002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Syntax: =AVERAGEIF(range, criteria, [average_range])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1628"/>
                </a:solidFill>
              </a:rPr>
              <a:t>Examples: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56032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</a:rPr>
              <a:t>Avg Electronics price?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788920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=AVERAGEIF(C2:C100, "Electronics", E2:E100)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760720" y="2606040"/>
            <a:ext cx="731520" cy="3200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0" name="Text 8"/>
          <p:cNvSpPr/>
          <p:nvPr/>
        </p:nvSpPr>
        <p:spPr>
          <a:xfrm>
            <a:off x="5760720" y="260604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$850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320040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</a:rPr>
              <a:t>Avg North sales?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3429000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=AVERAGEIF(D2:D100, "North", E2:E100)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760720" y="3246120"/>
            <a:ext cx="731520" cy="3200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4" name="Text 12"/>
          <p:cNvSpPr/>
          <p:nvPr/>
        </p:nvSpPr>
        <p:spPr>
          <a:xfrm>
            <a:off x="5760720" y="324612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$1,245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384048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</a:rPr>
              <a:t>Avg VIP order?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4069080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=AVERAGEIF(F2:F100, "VIP", E2:E100)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760720" y="3886200"/>
            <a:ext cx="731520" cy="3200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8" name="Text 16"/>
          <p:cNvSpPr/>
          <p:nvPr/>
        </p:nvSpPr>
        <p:spPr>
          <a:xfrm>
            <a:off x="5760720" y="388620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$1,890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544568"/>
            <a:ext cx="78638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2937"/>
                </a:solidFill>
              </a:rPr>
              <a:t>💡 Compare averages across regions, categories, or customer types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484632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Data Analytics Course | Instructor: Muhammad Kamil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A1628"/>
                </a:solidFill>
              </a:rPr>
              <a:t>AVERAGEIFS FUNCTION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</a:rPr>
              <a:t>Average with MULTIPLE conditions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Syntax: =AVERAGEIFS(avg_range, range1, crit1, range2, crit2, ...)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7863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</a:rPr>
              <a:t>Avg Electronics in North?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2084832"/>
            <a:ext cx="6858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=AVERAGEIFS(E2:E100, C2:C100, "Electronics", D2:D100, "North")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2313432"/>
            <a:ext cx="7863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5CF6"/>
                </a:solidFill>
              </a:rPr>
              <a:t>Result: $920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651760"/>
            <a:ext cx="7863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</a:rPr>
              <a:t>Avg VIP Furniture?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907792"/>
            <a:ext cx="6858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=AVERAGEIFS(E2:E100, F2:F100, "VIP", C2:C100, "Furniture")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" y="3136392"/>
            <a:ext cx="7863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5CF6"/>
                </a:solidFill>
              </a:rPr>
              <a:t>Result: $1,450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484632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Data Analytics Course | Instructor: Muhammad Kamil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A1628"/>
                </a:solidFill>
              </a:rPr>
              <a:t>QUICK REFERENCE CHART</a:t>
            </a:r>
            <a:endParaRPr lang="en-US" sz="36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097280"/>
          <a:ext cx="7863840" cy="3200400"/>
        </p:xfrm>
        <a:graphic>
          <a:graphicData uri="http://schemas.openxmlformats.org/drawingml/2006/table">
            <a:tbl>
              <a:tblPr/>
              <a:tblGrid>
                <a:gridCol w="1965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Function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Purpose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Conditions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Example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COUNTIF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Count cells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ONE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Count "Electronics"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COUNTIFS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Count cells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MULTIPLE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Electronics in North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SUMIF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Add values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ONE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Total Electronics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SUMIFS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Add values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MULTIPLE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Electronics in North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AVERAGEIF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Average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ONE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Avg Electronics price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AVERAGEIFS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Average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MULTIPLE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Avg Electronics in North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484632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Data Analytics Course | Instructor: Muhammad Kamil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A1628"/>
                </a:solidFill>
              </a:rPr>
              <a:t>PRACTICE EXERCISE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B82F6"/>
                </a:solidFill>
              </a:rPr>
              <a:t>Regional Sales Analysis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3200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71600"/>
            <a:ext cx="78638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📋 Answer these using the practice dataset: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182880" cy="18288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73736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1719072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</a:rPr>
              <a:t>How many Electronics were sold?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2057400"/>
            <a:ext cx="182880" cy="18288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05740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22960" y="2039112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</a:rPr>
              <a:t>How many sales in North region?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2377440"/>
            <a:ext cx="182880" cy="18288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37744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22960" y="2359152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</a:rPr>
              <a:t>Electronics sold in South?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2697480"/>
            <a:ext cx="182880" cy="18288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69748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22960" y="2679192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</a:rPr>
              <a:t>Total revenue from Furniture?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" y="3017520"/>
            <a:ext cx="182880" cy="18288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301752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22960" y="2999232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</a:rPr>
              <a:t>VIP revenue in West?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8640" y="3337560"/>
            <a:ext cx="182880" cy="18288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333756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22960" y="3319272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</a:rPr>
              <a:t>Average Electronics price?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" y="3657600"/>
            <a:ext cx="182880" cy="18288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365760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7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22960" y="3639312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</a:rPr>
              <a:t>Average Regular customer in East?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48640" y="3977640"/>
            <a:ext cx="182880" cy="18288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28" name="Text 26"/>
          <p:cNvSpPr/>
          <p:nvPr/>
        </p:nvSpPr>
        <p:spPr>
          <a:xfrm>
            <a:off x="548640" y="397764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8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22960" y="3959352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</a:rPr>
              <a:t>Sales &gt;$1000 by VIP?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" y="4572000"/>
            <a:ext cx="8229600" cy="1828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" y="4572000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</a:rPr>
              <a:t>⏱️ Time: 20 minutes | File provided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57200" y="484632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Data Analytics Course | Instructor: Muhammad Kamil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A1628"/>
                </a:solidFill>
              </a:rPr>
              <a:t>MINI CASE STUDY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F4444"/>
                </a:solidFill>
              </a:rPr>
              <a:t>TechMart Q1 Sales Report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548640"/>
          </a:xfrm>
          <a:prstGeom prst="rect">
            <a:avLst/>
          </a:prstGeom>
          <a:solidFill>
            <a:srgbClr val="FFFFFF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41732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You're analyst at TechMart. Manager needs Q1 report: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</a:rPr>
              <a:t>• Which region sold most Electronics?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23317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</a:rPr>
              <a:t>• Total revenue from VIP customers?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265176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</a:rPr>
              <a:t>• Category with highest avg price?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297180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</a:rPr>
              <a:t>• How many high-value sales (&gt;$1500)?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32918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</a:rPr>
              <a:t>• Average order value per region?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361188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</a:rPr>
              <a:t>• VIP vs Regular spending average?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40233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82F6"/>
                </a:solidFill>
              </a:rPr>
              <a:t>Task: Use all conditional functions for comprehensive report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4343400"/>
            <a:ext cx="8229600" cy="3200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416552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</a:rPr>
              <a:t>💼 Real analyst work every day!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484632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Data Analytics Course | Instructor: Muhammad Kamil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A1628"/>
                </a:solidFill>
              </a:rPr>
              <a:t>HOMEWORK ASSIGNMENT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97280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📝 SALES DASHBOARD PROJECT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</a:rPr>
              <a:t>1. Create 50+ row sales dataset (Product, Category, Region, Amount, Customer, Month)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1856232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</a:rPr>
              <a:t>2. COUNTIF: Count by category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2157984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</a:rPr>
              <a:t>3. COUNTIFS: Electronics in Q1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2459736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</a:rPr>
              <a:t>4. SUMIF: Total by region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0080" y="2761488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</a:rPr>
              <a:t>5. SUMIFS: VIP revenue in North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" y="30632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</a:rPr>
              <a:t>6. AVERAGEIF: Avg by customer type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40080" y="3364992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</a:rPr>
              <a:t>7. AVERAGEIFS: Avg Electronics in South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0080" y="3666744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</a:rPr>
              <a:t>8. Create summary dashboard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40080" y="3968496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</a:rPr>
              <a:t>9. Save: YourName_Sales_Analysis.xlsx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4572000"/>
            <a:ext cx="8229600" cy="1828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4572000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</a:rPr>
              <a:t>📅 DUE: Next class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84632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Data Analytics Course | Instructor: Muhammad Kamil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</a:rPr>
              <a:t>EXCELLENT WORK!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2743200" y="2560320"/>
            <a:ext cx="365760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017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</a:rPr>
              <a:t>You're ready to analyze real business data!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3474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FFFFFF"/>
                </a:solidFill>
              </a:rPr>
              <a:t>Practice makes perfect!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Muhammad Kamil | Data Analytics Instructor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1592</Words>
  <Application>Microsoft Office PowerPoint</Application>
  <PresentationFormat>On-screen Show (16:9)</PresentationFormat>
  <Paragraphs>314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Conditional Aggregation Functions</dc:title>
  <dc:subject>PptxGenJS Presentation</dc:subject>
  <dc:creator>Muhammad Kamil</dc:creator>
  <cp:lastModifiedBy>kamil khan</cp:lastModifiedBy>
  <cp:revision>2</cp:revision>
  <dcterms:created xsi:type="dcterms:W3CDTF">2026-02-14T10:13:49Z</dcterms:created>
  <dcterms:modified xsi:type="dcterms:W3CDTF">2026-02-14T10:58:19Z</dcterms:modified>
</cp:coreProperties>
</file>