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9" autoAdjust="0"/>
    <p:restoredTop sz="94610"/>
  </p:normalViewPr>
  <p:slideViewPr>
    <p:cSldViewPr snapToGrid="0" snapToObjects="1">
      <p:cViewPr>
        <p:scale>
          <a:sx n="93" d="100"/>
          <a:sy n="93" d="100"/>
        </p:scale>
        <p:origin x="428"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1448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554480"/>
          </a:xfrm>
          <a:prstGeom prst="rect">
            <a:avLst/>
          </a:prstGeom>
          <a:solidFill>
            <a:srgbClr val="0A1628"/>
          </a:solidFill>
          <a:ln/>
        </p:spPr>
      </p:sp>
      <p:sp>
        <p:nvSpPr>
          <p:cNvPr id="3" name="Shape 1"/>
          <p:cNvSpPr/>
          <p:nvPr/>
        </p:nvSpPr>
        <p:spPr>
          <a:xfrm>
            <a:off x="0" y="0"/>
            <a:ext cx="347472" cy="1554480"/>
          </a:xfrm>
          <a:prstGeom prst="rect">
            <a:avLst/>
          </a:prstGeom>
          <a:solidFill>
            <a:srgbClr val="0D2240"/>
          </a:solidFill>
          <a:ln/>
        </p:spPr>
      </p:sp>
      <p:sp>
        <p:nvSpPr>
          <p:cNvPr id="4" name="Text 2"/>
          <p:cNvSpPr/>
          <p:nvPr/>
        </p:nvSpPr>
        <p:spPr>
          <a:xfrm>
            <a:off x="457200" y="274320"/>
            <a:ext cx="8229600" cy="457200"/>
          </a:xfrm>
          <a:prstGeom prst="rect">
            <a:avLst/>
          </a:prstGeom>
          <a:noFill/>
          <a:ln/>
        </p:spPr>
        <p:txBody>
          <a:bodyPr wrap="square" rtlCol="0" anchor="ctr"/>
          <a:lstStyle/>
          <a:p>
            <a:pPr marL="0" indent="0" algn="l">
              <a:buNone/>
            </a:pPr>
            <a:r>
              <a:rPr lang="en-US" sz="1000" b="1" kern="0" spc="600" dirty="0">
                <a:solidFill>
                  <a:srgbClr val="FFFFFF"/>
                </a:solidFill>
              </a:rPr>
              <a:t>DATA ANALYTICS</a:t>
            </a:r>
            <a:endParaRPr lang="en-US" sz="1000" dirty="0"/>
          </a:p>
        </p:txBody>
      </p:sp>
      <p:sp>
        <p:nvSpPr>
          <p:cNvPr id="5" name="Text 3"/>
          <p:cNvSpPr/>
          <p:nvPr/>
        </p:nvSpPr>
        <p:spPr>
          <a:xfrm>
            <a:off x="457200" y="640080"/>
            <a:ext cx="8229600" cy="731520"/>
          </a:xfrm>
          <a:prstGeom prst="rect">
            <a:avLst/>
          </a:prstGeom>
          <a:noFill/>
          <a:ln/>
        </p:spPr>
        <p:txBody>
          <a:bodyPr wrap="square" rtlCol="0" anchor="ctr"/>
          <a:lstStyle/>
          <a:p>
            <a:pPr marL="0" indent="0" algn="l">
              <a:buNone/>
            </a:pPr>
            <a:r>
              <a:rPr lang="en-US" sz="4400" b="1" dirty="0">
                <a:solidFill>
                  <a:srgbClr val="FFFFFF"/>
                </a:solidFill>
              </a:rPr>
              <a:t>PHASE 01 - DAY 4</a:t>
            </a:r>
            <a:endParaRPr lang="en-US" sz="4400" dirty="0"/>
          </a:p>
        </p:txBody>
      </p:sp>
      <p:sp>
        <p:nvSpPr>
          <p:cNvPr id="6" name="Shape 4"/>
          <p:cNvSpPr/>
          <p:nvPr/>
        </p:nvSpPr>
        <p:spPr>
          <a:xfrm>
            <a:off x="0" y="1554480"/>
            <a:ext cx="9144000" cy="3589020"/>
          </a:xfrm>
          <a:prstGeom prst="rect">
            <a:avLst/>
          </a:prstGeom>
          <a:solidFill>
            <a:srgbClr val="F0F9FF"/>
          </a:solidFill>
          <a:ln/>
        </p:spPr>
      </p:sp>
      <p:sp>
        <p:nvSpPr>
          <p:cNvPr id="7" name="Text 5"/>
          <p:cNvSpPr/>
          <p:nvPr/>
        </p:nvSpPr>
        <p:spPr>
          <a:xfrm>
            <a:off x="457200" y="2011680"/>
            <a:ext cx="8229600" cy="914400"/>
          </a:xfrm>
          <a:prstGeom prst="rect">
            <a:avLst/>
          </a:prstGeom>
          <a:noFill/>
          <a:ln/>
        </p:spPr>
        <p:txBody>
          <a:bodyPr wrap="square" rtlCol="0" anchor="ctr"/>
          <a:lstStyle/>
          <a:p>
            <a:pPr marL="0" indent="0" algn="l">
              <a:buNone/>
            </a:pPr>
            <a:r>
              <a:rPr lang="en-US" sz="2600" b="1" dirty="0">
                <a:solidFill>
                  <a:srgbClr val="0A1628"/>
                </a:solidFill>
              </a:rPr>
              <a:t>Lookup Functions:</a:t>
            </a:r>
            <a:endParaRPr lang="en-US" sz="2600" dirty="0"/>
          </a:p>
          <a:p>
            <a:pPr marL="0" indent="0" algn="l">
              <a:buNone/>
            </a:pPr>
            <a:r>
              <a:rPr lang="en-US" sz="2600" b="1" dirty="0">
                <a:solidFill>
                  <a:srgbClr val="0A1628"/>
                </a:solidFill>
              </a:rPr>
              <a:t>VLOOKUP, HLOOKUP &amp; INDEX-MATCH</a:t>
            </a:r>
            <a:endParaRPr lang="en-US" sz="2600" dirty="0"/>
          </a:p>
        </p:txBody>
      </p:sp>
      <p:sp>
        <p:nvSpPr>
          <p:cNvPr id="8" name="Text 6"/>
          <p:cNvSpPr/>
          <p:nvPr/>
        </p:nvSpPr>
        <p:spPr>
          <a:xfrm>
            <a:off x="457200" y="3200400"/>
            <a:ext cx="8229600" cy="274320"/>
          </a:xfrm>
          <a:prstGeom prst="rect">
            <a:avLst/>
          </a:prstGeom>
          <a:noFill/>
          <a:ln/>
        </p:spPr>
        <p:txBody>
          <a:bodyPr wrap="square" rtlCol="0" anchor="ctr"/>
          <a:lstStyle/>
          <a:p>
            <a:pPr marL="0" indent="0" algn="l">
              <a:buNone/>
            </a:pPr>
            <a:r>
              <a:rPr lang="en-US" sz="1800" dirty="0">
                <a:solidFill>
                  <a:srgbClr val="1F2937"/>
                </a:solidFill>
              </a:rPr>
              <a:t>Week 1 | Mastering Excel for Data Analysis</a:t>
            </a:r>
            <a:endParaRPr lang="en-US" sz="1800" dirty="0"/>
          </a:p>
        </p:txBody>
      </p:sp>
      <p:sp>
        <p:nvSpPr>
          <p:cNvPr id="9" name="Text 7"/>
          <p:cNvSpPr/>
          <p:nvPr/>
        </p:nvSpPr>
        <p:spPr>
          <a:xfrm>
            <a:off x="457200" y="3931920"/>
            <a:ext cx="1828800" cy="365760"/>
          </a:xfrm>
          <a:prstGeom prst="rect">
            <a:avLst/>
          </a:prstGeom>
          <a:noFill/>
          <a:ln/>
        </p:spPr>
        <p:txBody>
          <a:bodyPr wrap="square" rtlCol="0" anchor="ctr"/>
          <a:lstStyle/>
          <a:p>
            <a:pPr marL="0" indent="0" algn="ctr">
              <a:buNone/>
            </a:pPr>
            <a:r>
              <a:rPr lang="en-US" sz="3200" b="1" dirty="0">
                <a:solidFill>
                  <a:srgbClr val="3B82F6"/>
                </a:solidFill>
              </a:rPr>
              <a:t>01</a:t>
            </a:r>
            <a:endParaRPr lang="en-US" sz="3200" dirty="0"/>
          </a:p>
        </p:txBody>
      </p:sp>
      <p:sp>
        <p:nvSpPr>
          <p:cNvPr id="10" name="Text 8"/>
          <p:cNvSpPr/>
          <p:nvPr/>
        </p:nvSpPr>
        <p:spPr>
          <a:xfrm>
            <a:off x="457200" y="4343400"/>
            <a:ext cx="1828800" cy="274320"/>
          </a:xfrm>
          <a:prstGeom prst="rect">
            <a:avLst/>
          </a:prstGeom>
          <a:noFill/>
          <a:ln/>
        </p:spPr>
        <p:txBody>
          <a:bodyPr wrap="square" rtlCol="0" anchor="ctr"/>
          <a:lstStyle/>
          <a:p>
            <a:pPr marL="0" indent="0" algn="ctr">
              <a:buNone/>
            </a:pPr>
            <a:r>
              <a:rPr lang="en-US" sz="1200" dirty="0">
                <a:solidFill>
                  <a:srgbClr val="6B7280"/>
                </a:solidFill>
              </a:rPr>
              <a:t>Phase</a:t>
            </a:r>
            <a:endParaRPr lang="en-US" sz="1200" dirty="0"/>
          </a:p>
        </p:txBody>
      </p:sp>
      <p:sp>
        <p:nvSpPr>
          <p:cNvPr id="11" name="Text 9"/>
          <p:cNvSpPr/>
          <p:nvPr/>
        </p:nvSpPr>
        <p:spPr>
          <a:xfrm>
            <a:off x="2560320" y="3931920"/>
            <a:ext cx="1828800" cy="365760"/>
          </a:xfrm>
          <a:prstGeom prst="rect">
            <a:avLst/>
          </a:prstGeom>
          <a:noFill/>
          <a:ln/>
        </p:spPr>
        <p:txBody>
          <a:bodyPr wrap="square" rtlCol="0" anchor="ctr"/>
          <a:lstStyle/>
          <a:p>
            <a:pPr marL="0" indent="0" algn="ctr">
              <a:buNone/>
            </a:pPr>
            <a:r>
              <a:rPr lang="en-US" sz="3200" b="1" dirty="0">
                <a:solidFill>
                  <a:srgbClr val="3B82F6"/>
                </a:solidFill>
              </a:rPr>
              <a:t>1</a:t>
            </a:r>
            <a:endParaRPr lang="en-US" sz="3200" dirty="0"/>
          </a:p>
        </p:txBody>
      </p:sp>
      <p:sp>
        <p:nvSpPr>
          <p:cNvPr id="12" name="Text 10"/>
          <p:cNvSpPr/>
          <p:nvPr/>
        </p:nvSpPr>
        <p:spPr>
          <a:xfrm>
            <a:off x="2560320" y="4343400"/>
            <a:ext cx="1828800" cy="274320"/>
          </a:xfrm>
          <a:prstGeom prst="rect">
            <a:avLst/>
          </a:prstGeom>
          <a:noFill/>
          <a:ln/>
        </p:spPr>
        <p:txBody>
          <a:bodyPr wrap="square" rtlCol="0" anchor="ctr"/>
          <a:lstStyle/>
          <a:p>
            <a:pPr marL="0" indent="0" algn="ctr">
              <a:buNone/>
            </a:pPr>
            <a:r>
              <a:rPr lang="en-US" sz="1200" dirty="0">
                <a:solidFill>
                  <a:srgbClr val="6B7280"/>
                </a:solidFill>
              </a:rPr>
              <a:t>Week</a:t>
            </a:r>
            <a:endParaRPr lang="en-US" sz="1200" dirty="0"/>
          </a:p>
        </p:txBody>
      </p:sp>
      <p:sp>
        <p:nvSpPr>
          <p:cNvPr id="13" name="Text 11"/>
          <p:cNvSpPr/>
          <p:nvPr/>
        </p:nvSpPr>
        <p:spPr>
          <a:xfrm>
            <a:off x="4663440" y="3931920"/>
            <a:ext cx="1828800" cy="365760"/>
          </a:xfrm>
          <a:prstGeom prst="rect">
            <a:avLst/>
          </a:prstGeom>
          <a:noFill/>
          <a:ln/>
        </p:spPr>
        <p:txBody>
          <a:bodyPr wrap="square" rtlCol="0" anchor="ctr"/>
          <a:lstStyle/>
          <a:p>
            <a:pPr marL="0" indent="0" algn="ctr">
              <a:buNone/>
            </a:pPr>
            <a:r>
              <a:rPr lang="en-US" sz="3200" b="1" dirty="0">
                <a:solidFill>
                  <a:srgbClr val="3B82F6"/>
                </a:solidFill>
              </a:rPr>
              <a:t>4</a:t>
            </a:r>
            <a:endParaRPr lang="en-US" sz="3200" dirty="0"/>
          </a:p>
        </p:txBody>
      </p:sp>
      <p:sp>
        <p:nvSpPr>
          <p:cNvPr id="14" name="Text 12"/>
          <p:cNvSpPr/>
          <p:nvPr/>
        </p:nvSpPr>
        <p:spPr>
          <a:xfrm>
            <a:off x="4663440" y="4343400"/>
            <a:ext cx="1828800" cy="274320"/>
          </a:xfrm>
          <a:prstGeom prst="rect">
            <a:avLst/>
          </a:prstGeom>
          <a:noFill/>
          <a:ln/>
        </p:spPr>
        <p:txBody>
          <a:bodyPr wrap="square" rtlCol="0" anchor="ctr"/>
          <a:lstStyle/>
          <a:p>
            <a:pPr marL="0" indent="0" algn="ctr">
              <a:buNone/>
            </a:pPr>
            <a:r>
              <a:rPr lang="en-US" sz="1200" dirty="0">
                <a:solidFill>
                  <a:srgbClr val="6B7280"/>
                </a:solidFill>
              </a:rPr>
              <a:t>Day</a:t>
            </a:r>
            <a:endParaRPr lang="en-US" sz="1200" dirty="0"/>
          </a:p>
        </p:txBody>
      </p:sp>
      <p:sp>
        <p:nvSpPr>
          <p:cNvPr id="15" name="Text 13"/>
          <p:cNvSpPr/>
          <p:nvPr/>
        </p:nvSpPr>
        <p:spPr>
          <a:xfrm>
            <a:off x="6766560" y="3931920"/>
            <a:ext cx="1828800" cy="365760"/>
          </a:xfrm>
          <a:prstGeom prst="rect">
            <a:avLst/>
          </a:prstGeom>
          <a:noFill/>
          <a:ln/>
        </p:spPr>
        <p:txBody>
          <a:bodyPr wrap="square" rtlCol="0" anchor="ctr"/>
          <a:lstStyle/>
          <a:p>
            <a:pPr marL="0" indent="0" algn="ctr">
              <a:buNone/>
            </a:pPr>
            <a:r>
              <a:rPr lang="en-US" sz="3200" b="1" dirty="0">
                <a:solidFill>
                  <a:srgbClr val="3B82F6"/>
                </a:solidFill>
              </a:rPr>
              <a:t>2.5hrs</a:t>
            </a:r>
            <a:endParaRPr lang="en-US" sz="3200" dirty="0"/>
          </a:p>
        </p:txBody>
      </p:sp>
      <p:sp>
        <p:nvSpPr>
          <p:cNvPr id="16" name="Text 14"/>
          <p:cNvSpPr/>
          <p:nvPr/>
        </p:nvSpPr>
        <p:spPr>
          <a:xfrm>
            <a:off x="6766560" y="4343400"/>
            <a:ext cx="1828800" cy="274320"/>
          </a:xfrm>
          <a:prstGeom prst="rect">
            <a:avLst/>
          </a:prstGeom>
          <a:noFill/>
          <a:ln/>
        </p:spPr>
        <p:txBody>
          <a:bodyPr wrap="square" rtlCol="0" anchor="ctr"/>
          <a:lstStyle/>
          <a:p>
            <a:pPr marL="0" indent="0" algn="ctr">
              <a:buNone/>
            </a:pPr>
            <a:r>
              <a:rPr lang="en-US" sz="1200" dirty="0">
                <a:solidFill>
                  <a:srgbClr val="6B7280"/>
                </a:solidFill>
              </a:rPr>
              <a:t>Duration</a:t>
            </a:r>
            <a:endParaRPr lang="en-US" sz="1200" dirty="0"/>
          </a:p>
        </p:txBody>
      </p:sp>
      <p:sp>
        <p:nvSpPr>
          <p:cNvPr id="17" name="Text 15"/>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TODAY'S AGENDA</a:t>
            </a:r>
            <a:endParaRPr lang="en-US" sz="3600" dirty="0"/>
          </a:p>
        </p:txBody>
      </p:sp>
      <p:sp>
        <p:nvSpPr>
          <p:cNvPr id="3" name="Text 1"/>
          <p:cNvSpPr/>
          <p:nvPr/>
        </p:nvSpPr>
        <p:spPr>
          <a:xfrm>
            <a:off x="457200" y="1005840"/>
            <a:ext cx="8229600" cy="274320"/>
          </a:xfrm>
          <a:prstGeom prst="rect">
            <a:avLst/>
          </a:prstGeom>
          <a:noFill/>
          <a:ln/>
        </p:spPr>
        <p:txBody>
          <a:bodyPr wrap="square" rtlCol="0" anchor="ctr"/>
          <a:lstStyle/>
          <a:p>
            <a:pPr marL="0" indent="0">
              <a:buNone/>
            </a:pPr>
            <a:r>
              <a:rPr lang="en-US" sz="1600" dirty="0">
                <a:solidFill>
                  <a:srgbClr val="1F2937"/>
                </a:solidFill>
              </a:rPr>
              <a:t>Master the most powerful data retrieval functions in Excel</a:t>
            </a:r>
            <a:endParaRPr lang="en-US" sz="1600" dirty="0"/>
          </a:p>
        </p:txBody>
      </p:sp>
      <p:sp>
        <p:nvSpPr>
          <p:cNvPr id="4" name="Shape 2"/>
          <p:cNvSpPr/>
          <p:nvPr/>
        </p:nvSpPr>
        <p:spPr>
          <a:xfrm>
            <a:off x="457200" y="1554480"/>
            <a:ext cx="8229600" cy="640080"/>
          </a:xfrm>
          <a:prstGeom prst="rect">
            <a:avLst/>
          </a:prstGeom>
          <a:solidFill>
            <a:srgbClr val="FFFFFF"/>
          </a:solidFill>
          <a:ln w="12700">
            <a:solidFill>
              <a:srgbClr val="3B82F6"/>
            </a:solidFill>
            <a:prstDash val="solid"/>
          </a:ln>
          <a:effectLst>
            <a:outerShdw blurRad="645160000" dist="161290000" algn="bl" rotWithShape="0">
              <a:srgbClr val="000000">
                <a:alpha val="0"/>
              </a:srgbClr>
            </a:outerShdw>
          </a:effectLst>
        </p:spPr>
      </p:sp>
      <p:sp>
        <p:nvSpPr>
          <p:cNvPr id="5" name="Text 3"/>
          <p:cNvSpPr/>
          <p:nvPr/>
        </p:nvSpPr>
        <p:spPr>
          <a:xfrm>
            <a:off x="640080" y="1691640"/>
            <a:ext cx="365760" cy="3657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6" name="Text 4"/>
          <p:cNvSpPr/>
          <p:nvPr/>
        </p:nvSpPr>
        <p:spPr>
          <a:xfrm>
            <a:off x="1097280" y="1664208"/>
            <a:ext cx="1371600" cy="228600"/>
          </a:xfrm>
          <a:prstGeom prst="rect">
            <a:avLst/>
          </a:prstGeom>
          <a:noFill/>
          <a:ln/>
        </p:spPr>
        <p:txBody>
          <a:bodyPr wrap="square" rtlCol="0" anchor="ctr"/>
          <a:lstStyle/>
          <a:p>
            <a:pPr marL="0" indent="0">
              <a:buNone/>
            </a:pPr>
            <a:r>
              <a:rPr lang="en-US" sz="1300" b="1" dirty="0">
                <a:solidFill>
                  <a:srgbClr val="3B82F6"/>
                </a:solidFill>
              </a:rPr>
              <a:t>0:00-1:00</a:t>
            </a:r>
            <a:endParaRPr lang="en-US" sz="1300" dirty="0"/>
          </a:p>
        </p:txBody>
      </p:sp>
      <p:sp>
        <p:nvSpPr>
          <p:cNvPr id="7" name="Text 5"/>
          <p:cNvSpPr/>
          <p:nvPr/>
        </p:nvSpPr>
        <p:spPr>
          <a:xfrm>
            <a:off x="2560320" y="1664208"/>
            <a:ext cx="5943600" cy="228600"/>
          </a:xfrm>
          <a:prstGeom prst="rect">
            <a:avLst/>
          </a:prstGeom>
          <a:noFill/>
          <a:ln/>
        </p:spPr>
        <p:txBody>
          <a:bodyPr wrap="square" rtlCol="0" anchor="ctr"/>
          <a:lstStyle/>
          <a:p>
            <a:pPr marL="0" indent="0">
              <a:buNone/>
            </a:pPr>
            <a:r>
              <a:rPr lang="en-US" sz="1400" b="1" dirty="0">
                <a:solidFill>
                  <a:srgbClr val="0A1628"/>
                </a:solidFill>
              </a:rPr>
              <a:t>VLOOKUP - Complete Deep Dive</a:t>
            </a:r>
            <a:endParaRPr lang="en-US" sz="1400" dirty="0"/>
          </a:p>
        </p:txBody>
      </p:sp>
      <p:sp>
        <p:nvSpPr>
          <p:cNvPr id="8" name="Text 6"/>
          <p:cNvSpPr/>
          <p:nvPr/>
        </p:nvSpPr>
        <p:spPr>
          <a:xfrm>
            <a:off x="2560320" y="1920240"/>
            <a:ext cx="5943600" cy="182880"/>
          </a:xfrm>
          <a:prstGeom prst="rect">
            <a:avLst/>
          </a:prstGeom>
          <a:noFill/>
          <a:ln/>
        </p:spPr>
        <p:txBody>
          <a:bodyPr wrap="square" rtlCol="0" anchor="ctr"/>
          <a:lstStyle/>
          <a:p>
            <a:pPr marL="0" indent="0">
              <a:buNone/>
            </a:pPr>
            <a:r>
              <a:rPr lang="en-US" sz="1000" i="1" dirty="0">
                <a:solidFill>
                  <a:srgbClr val="1F2937"/>
                </a:solidFill>
              </a:rPr>
              <a:t>Syntax, examples, common errors, best practices</a:t>
            </a:r>
            <a:endParaRPr lang="en-US" sz="1000" dirty="0"/>
          </a:p>
        </p:txBody>
      </p:sp>
      <p:sp>
        <p:nvSpPr>
          <p:cNvPr id="9" name="Shape 7"/>
          <p:cNvSpPr/>
          <p:nvPr/>
        </p:nvSpPr>
        <p:spPr>
          <a:xfrm>
            <a:off x="457200" y="2267712"/>
            <a:ext cx="8229600" cy="640080"/>
          </a:xfrm>
          <a:prstGeom prst="rect">
            <a:avLst/>
          </a:prstGeom>
          <a:solidFill>
            <a:srgbClr val="FFFFFF"/>
          </a:solidFill>
          <a:ln w="12700">
            <a:solidFill>
              <a:srgbClr val="3B82F6"/>
            </a:solidFill>
            <a:prstDash val="solid"/>
          </a:ln>
          <a:effectLst>
            <a:outerShdw blurRad="645160000" dist="161290000" algn="bl" rotWithShape="0">
              <a:srgbClr val="000000">
                <a:alpha val="0"/>
              </a:srgbClr>
            </a:outerShdw>
          </a:effectLst>
        </p:spPr>
      </p:sp>
      <p:sp>
        <p:nvSpPr>
          <p:cNvPr id="10" name="Text 8"/>
          <p:cNvSpPr/>
          <p:nvPr/>
        </p:nvSpPr>
        <p:spPr>
          <a:xfrm>
            <a:off x="640080" y="2404872"/>
            <a:ext cx="365760" cy="3657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1" name="Text 9"/>
          <p:cNvSpPr/>
          <p:nvPr/>
        </p:nvSpPr>
        <p:spPr>
          <a:xfrm>
            <a:off x="1097280" y="2377440"/>
            <a:ext cx="1371600" cy="228600"/>
          </a:xfrm>
          <a:prstGeom prst="rect">
            <a:avLst/>
          </a:prstGeom>
          <a:noFill/>
          <a:ln/>
        </p:spPr>
        <p:txBody>
          <a:bodyPr wrap="square" rtlCol="0" anchor="ctr"/>
          <a:lstStyle/>
          <a:p>
            <a:pPr marL="0" indent="0">
              <a:buNone/>
            </a:pPr>
            <a:r>
              <a:rPr lang="en-US" sz="1300" b="1" dirty="0">
                <a:solidFill>
                  <a:srgbClr val="3B82F6"/>
                </a:solidFill>
              </a:rPr>
              <a:t>1:00-1:20</a:t>
            </a:r>
            <a:endParaRPr lang="en-US" sz="1300" dirty="0"/>
          </a:p>
        </p:txBody>
      </p:sp>
      <p:sp>
        <p:nvSpPr>
          <p:cNvPr id="12" name="Text 10"/>
          <p:cNvSpPr/>
          <p:nvPr/>
        </p:nvSpPr>
        <p:spPr>
          <a:xfrm>
            <a:off x="2560320" y="2377440"/>
            <a:ext cx="5943600" cy="228600"/>
          </a:xfrm>
          <a:prstGeom prst="rect">
            <a:avLst/>
          </a:prstGeom>
          <a:noFill/>
          <a:ln/>
        </p:spPr>
        <p:txBody>
          <a:bodyPr wrap="square" rtlCol="0" anchor="ctr"/>
          <a:lstStyle/>
          <a:p>
            <a:pPr marL="0" indent="0">
              <a:buNone/>
            </a:pPr>
            <a:r>
              <a:rPr lang="en-US" sz="1400" b="1" dirty="0">
                <a:solidFill>
                  <a:srgbClr val="0A1628"/>
                </a:solidFill>
              </a:rPr>
              <a:t>HLOOKUP Function</a:t>
            </a:r>
            <a:endParaRPr lang="en-US" sz="1400" dirty="0"/>
          </a:p>
        </p:txBody>
      </p:sp>
      <p:sp>
        <p:nvSpPr>
          <p:cNvPr id="13" name="Text 11"/>
          <p:cNvSpPr/>
          <p:nvPr/>
        </p:nvSpPr>
        <p:spPr>
          <a:xfrm>
            <a:off x="2560320" y="2633472"/>
            <a:ext cx="5943600" cy="182880"/>
          </a:xfrm>
          <a:prstGeom prst="rect">
            <a:avLst/>
          </a:prstGeom>
          <a:noFill/>
          <a:ln/>
        </p:spPr>
        <p:txBody>
          <a:bodyPr wrap="square" rtlCol="0" anchor="ctr"/>
          <a:lstStyle/>
          <a:p>
            <a:pPr marL="0" indent="0">
              <a:buNone/>
            </a:pPr>
            <a:r>
              <a:rPr lang="en-US" sz="1000" i="1" dirty="0">
                <a:solidFill>
                  <a:srgbClr val="1F2937"/>
                </a:solidFill>
              </a:rPr>
              <a:t>Horizontal lookups and when to use them</a:t>
            </a:r>
            <a:endParaRPr lang="en-US" sz="1000" dirty="0"/>
          </a:p>
        </p:txBody>
      </p:sp>
      <p:sp>
        <p:nvSpPr>
          <p:cNvPr id="14" name="Shape 12"/>
          <p:cNvSpPr/>
          <p:nvPr/>
        </p:nvSpPr>
        <p:spPr>
          <a:xfrm>
            <a:off x="457200" y="2980944"/>
            <a:ext cx="8229600" cy="640080"/>
          </a:xfrm>
          <a:prstGeom prst="rect">
            <a:avLst/>
          </a:prstGeom>
          <a:solidFill>
            <a:srgbClr val="FFFFFF"/>
          </a:solidFill>
          <a:ln w="12700">
            <a:solidFill>
              <a:srgbClr val="3B82F6"/>
            </a:solidFill>
            <a:prstDash val="solid"/>
          </a:ln>
          <a:effectLst>
            <a:outerShdw blurRad="645160000" dist="161290000" algn="bl" rotWithShape="0">
              <a:srgbClr val="000000">
                <a:alpha val="0"/>
              </a:srgbClr>
            </a:outerShdw>
          </a:effectLst>
        </p:spPr>
      </p:sp>
      <p:sp>
        <p:nvSpPr>
          <p:cNvPr id="15" name="Text 13"/>
          <p:cNvSpPr/>
          <p:nvPr/>
        </p:nvSpPr>
        <p:spPr>
          <a:xfrm>
            <a:off x="640080" y="3118104"/>
            <a:ext cx="365760" cy="3657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6" name="Text 14"/>
          <p:cNvSpPr/>
          <p:nvPr/>
        </p:nvSpPr>
        <p:spPr>
          <a:xfrm>
            <a:off x="1097280" y="3090672"/>
            <a:ext cx="1371600" cy="228600"/>
          </a:xfrm>
          <a:prstGeom prst="rect">
            <a:avLst/>
          </a:prstGeom>
          <a:noFill/>
          <a:ln/>
        </p:spPr>
        <p:txBody>
          <a:bodyPr wrap="square" rtlCol="0" anchor="ctr"/>
          <a:lstStyle/>
          <a:p>
            <a:pPr marL="0" indent="0">
              <a:buNone/>
            </a:pPr>
            <a:r>
              <a:rPr lang="en-US" sz="1300" b="1" dirty="0">
                <a:solidFill>
                  <a:srgbClr val="3B82F6"/>
                </a:solidFill>
              </a:rPr>
              <a:t>1:20-2:00</a:t>
            </a:r>
            <a:endParaRPr lang="en-US" sz="1300" dirty="0"/>
          </a:p>
        </p:txBody>
      </p:sp>
      <p:sp>
        <p:nvSpPr>
          <p:cNvPr id="17" name="Text 15"/>
          <p:cNvSpPr/>
          <p:nvPr/>
        </p:nvSpPr>
        <p:spPr>
          <a:xfrm>
            <a:off x="2560320" y="3090672"/>
            <a:ext cx="5943600" cy="228600"/>
          </a:xfrm>
          <a:prstGeom prst="rect">
            <a:avLst/>
          </a:prstGeom>
          <a:noFill/>
          <a:ln/>
        </p:spPr>
        <p:txBody>
          <a:bodyPr wrap="square" rtlCol="0" anchor="ctr"/>
          <a:lstStyle/>
          <a:p>
            <a:pPr marL="0" indent="0">
              <a:buNone/>
            </a:pPr>
            <a:r>
              <a:rPr lang="en-US" sz="1400" b="1" dirty="0">
                <a:solidFill>
                  <a:srgbClr val="0A1628"/>
                </a:solidFill>
              </a:rPr>
              <a:t>INDEX-MATCH Combination</a:t>
            </a:r>
            <a:endParaRPr lang="en-US" sz="1400" dirty="0"/>
          </a:p>
        </p:txBody>
      </p:sp>
      <p:sp>
        <p:nvSpPr>
          <p:cNvPr id="18" name="Text 16"/>
          <p:cNvSpPr/>
          <p:nvPr/>
        </p:nvSpPr>
        <p:spPr>
          <a:xfrm>
            <a:off x="2560320" y="3346704"/>
            <a:ext cx="5943600" cy="182880"/>
          </a:xfrm>
          <a:prstGeom prst="rect">
            <a:avLst/>
          </a:prstGeom>
          <a:noFill/>
          <a:ln/>
        </p:spPr>
        <p:txBody>
          <a:bodyPr wrap="square" rtlCol="0" anchor="ctr"/>
          <a:lstStyle/>
          <a:p>
            <a:pPr marL="0" indent="0">
              <a:buNone/>
            </a:pPr>
            <a:r>
              <a:rPr lang="en-US" sz="1000" i="1" dirty="0">
                <a:solidFill>
                  <a:srgbClr val="1F2937"/>
                </a:solidFill>
              </a:rPr>
              <a:t>The professional's choice - more powerful than VLOOKUP</a:t>
            </a:r>
            <a:endParaRPr lang="en-US" sz="1000" dirty="0"/>
          </a:p>
        </p:txBody>
      </p:sp>
      <p:sp>
        <p:nvSpPr>
          <p:cNvPr id="19" name="Shape 17"/>
          <p:cNvSpPr/>
          <p:nvPr/>
        </p:nvSpPr>
        <p:spPr>
          <a:xfrm>
            <a:off x="457200" y="3694176"/>
            <a:ext cx="8229600" cy="640080"/>
          </a:xfrm>
          <a:prstGeom prst="rect">
            <a:avLst/>
          </a:prstGeom>
          <a:solidFill>
            <a:srgbClr val="FFFFFF"/>
          </a:solidFill>
          <a:ln w="12700">
            <a:solidFill>
              <a:srgbClr val="3B82F6"/>
            </a:solidFill>
            <a:prstDash val="solid"/>
          </a:ln>
          <a:effectLst>
            <a:outerShdw blurRad="645160000" dist="161290000" algn="bl" rotWithShape="0">
              <a:srgbClr val="000000">
                <a:alpha val="0"/>
              </a:srgbClr>
            </a:outerShdw>
          </a:effectLst>
        </p:spPr>
      </p:sp>
      <p:sp>
        <p:nvSpPr>
          <p:cNvPr id="20" name="Text 18"/>
          <p:cNvSpPr/>
          <p:nvPr/>
        </p:nvSpPr>
        <p:spPr>
          <a:xfrm>
            <a:off x="640080" y="3831336"/>
            <a:ext cx="365760" cy="3657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1097280" y="3803904"/>
            <a:ext cx="1371600" cy="228600"/>
          </a:xfrm>
          <a:prstGeom prst="rect">
            <a:avLst/>
          </a:prstGeom>
          <a:noFill/>
          <a:ln/>
        </p:spPr>
        <p:txBody>
          <a:bodyPr wrap="square" rtlCol="0" anchor="ctr"/>
          <a:lstStyle/>
          <a:p>
            <a:pPr marL="0" indent="0">
              <a:buNone/>
            </a:pPr>
            <a:r>
              <a:rPr lang="en-US" sz="1300" b="1" dirty="0">
                <a:solidFill>
                  <a:srgbClr val="3B82F6"/>
                </a:solidFill>
              </a:rPr>
              <a:t>2:00-2:30</a:t>
            </a:r>
            <a:endParaRPr lang="en-US" sz="1300" dirty="0"/>
          </a:p>
        </p:txBody>
      </p:sp>
      <p:sp>
        <p:nvSpPr>
          <p:cNvPr id="22" name="Text 20"/>
          <p:cNvSpPr/>
          <p:nvPr/>
        </p:nvSpPr>
        <p:spPr>
          <a:xfrm>
            <a:off x="2560320" y="3803904"/>
            <a:ext cx="5943600" cy="228600"/>
          </a:xfrm>
          <a:prstGeom prst="rect">
            <a:avLst/>
          </a:prstGeom>
          <a:noFill/>
          <a:ln/>
        </p:spPr>
        <p:txBody>
          <a:bodyPr wrap="square" rtlCol="0" anchor="ctr"/>
          <a:lstStyle/>
          <a:p>
            <a:pPr marL="0" indent="0">
              <a:buNone/>
            </a:pPr>
            <a:r>
              <a:rPr lang="en-US" sz="1400" b="1" dirty="0">
                <a:solidFill>
                  <a:srgbClr val="0A1628"/>
                </a:solidFill>
              </a:rPr>
              <a:t>Practice Exercise</a:t>
            </a:r>
            <a:endParaRPr lang="en-US" sz="1400" dirty="0"/>
          </a:p>
        </p:txBody>
      </p:sp>
      <p:sp>
        <p:nvSpPr>
          <p:cNvPr id="23" name="Text 21"/>
          <p:cNvSpPr/>
          <p:nvPr/>
        </p:nvSpPr>
        <p:spPr>
          <a:xfrm>
            <a:off x="2560320" y="4059936"/>
            <a:ext cx="5943600" cy="182880"/>
          </a:xfrm>
          <a:prstGeom prst="rect">
            <a:avLst/>
          </a:prstGeom>
          <a:noFill/>
          <a:ln/>
        </p:spPr>
        <p:txBody>
          <a:bodyPr wrap="square" rtlCol="0" anchor="ctr"/>
          <a:lstStyle/>
          <a:p>
            <a:pPr marL="0" indent="0">
              <a:buNone/>
            </a:pPr>
            <a:r>
              <a:rPr lang="en-US" sz="1000" i="1" dirty="0">
                <a:solidFill>
                  <a:srgbClr val="1F2937"/>
                </a:solidFill>
              </a:rPr>
              <a:t>Employee database lookup - real-world application</a:t>
            </a:r>
            <a:endParaRPr lang="en-US" sz="1000" dirty="0"/>
          </a:p>
        </p:txBody>
      </p:sp>
      <p:sp>
        <p:nvSpPr>
          <p:cNvPr id="24" name="Text 22"/>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WHY LOOKUP FUNCTIONS MATTER</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i="1" dirty="0">
                <a:solidFill>
                  <a:srgbClr val="1F2937"/>
                </a:solidFill>
              </a:rPr>
              <a:t>The foundation of data analysis in Excel</a:t>
            </a:r>
            <a:endParaRPr lang="en-US" sz="1600" dirty="0"/>
          </a:p>
        </p:txBody>
      </p:sp>
      <p:sp>
        <p:nvSpPr>
          <p:cNvPr id="4" name="Shape 2"/>
          <p:cNvSpPr/>
          <p:nvPr/>
        </p:nvSpPr>
        <p:spPr>
          <a:xfrm>
            <a:off x="457200" y="1371600"/>
            <a:ext cx="8229600" cy="914400"/>
          </a:xfrm>
          <a:prstGeom prst="rect">
            <a:avLst/>
          </a:prstGeom>
          <a:solidFill>
            <a:srgbClr val="FFFFFF"/>
          </a:solidFill>
          <a:ln w="25400">
            <a:solidFill>
              <a:srgbClr val="3B82F6"/>
            </a:solidFill>
            <a:prstDash val="solid"/>
          </a:ln>
          <a:effectLst>
            <a:outerShdw blurRad="967740000" dist="322580000" algn="bl" rotWithShape="0">
              <a:srgbClr val="000000">
                <a:alpha val="0"/>
              </a:srgbClr>
            </a:outerShdw>
          </a:effectLst>
        </p:spPr>
      </p:sp>
      <p:sp>
        <p:nvSpPr>
          <p:cNvPr id="5" name="Text 3"/>
          <p:cNvSpPr/>
          <p:nvPr/>
        </p:nvSpPr>
        <p:spPr>
          <a:xfrm>
            <a:off x="731520" y="1600200"/>
            <a:ext cx="7680960" cy="640080"/>
          </a:xfrm>
          <a:prstGeom prst="rect">
            <a:avLst/>
          </a:prstGeom>
          <a:noFill/>
          <a:ln/>
        </p:spPr>
        <p:txBody>
          <a:bodyPr wrap="square" rtlCol="0" anchor="ctr"/>
          <a:lstStyle/>
          <a:p>
            <a:pPr marL="0" indent="0">
              <a:buNone/>
            </a:pPr>
            <a:r>
              <a:rPr lang="en-US" sz="1400" b="1" dirty="0">
                <a:solidFill>
                  <a:srgbClr val="3B82F6"/>
                </a:solidFill>
              </a:rPr>
              <a:t>Lookup functions </a:t>
            </a:r>
            <a:r>
              <a:rPr lang="en-US" sz="1400" dirty="0">
                <a:solidFill>
                  <a:srgbClr val="1F2937"/>
                </a:solidFill>
              </a:rPr>
              <a:t>automatically find and retrieve data from tables. Instead of manually searching through thousands of rows, these functions instantly find the exact information you need. They're essential for combining data from different sources, creating reports, and building dashboards.</a:t>
            </a:r>
            <a:endParaRPr lang="en-US" sz="1400" dirty="0"/>
          </a:p>
        </p:txBody>
      </p:sp>
      <p:sp>
        <p:nvSpPr>
          <p:cNvPr id="6" name="Text 4"/>
          <p:cNvSpPr/>
          <p:nvPr/>
        </p:nvSpPr>
        <p:spPr>
          <a:xfrm>
            <a:off x="457200" y="2468880"/>
            <a:ext cx="8229600" cy="274320"/>
          </a:xfrm>
          <a:prstGeom prst="rect">
            <a:avLst/>
          </a:prstGeom>
          <a:noFill/>
          <a:ln/>
        </p:spPr>
        <p:txBody>
          <a:bodyPr wrap="square" rtlCol="0" anchor="ctr"/>
          <a:lstStyle/>
          <a:p>
            <a:pPr marL="0" indent="0">
              <a:buNone/>
            </a:pPr>
            <a:r>
              <a:rPr lang="en-US" sz="1800" b="1" dirty="0">
                <a:solidFill>
                  <a:srgbClr val="0A1628"/>
                </a:solidFill>
              </a:rPr>
              <a:t>Real-World Business Problems They Solve:</a:t>
            </a:r>
            <a:endParaRPr lang="en-US" sz="1800" dirty="0"/>
          </a:p>
        </p:txBody>
      </p:sp>
      <p:sp>
        <p:nvSpPr>
          <p:cNvPr id="7" name="Shape 5"/>
          <p:cNvSpPr/>
          <p:nvPr/>
        </p:nvSpPr>
        <p:spPr>
          <a:xfrm>
            <a:off x="594360" y="2871216"/>
            <a:ext cx="109728" cy="109728"/>
          </a:xfrm>
          <a:prstGeom prst="ellipse">
            <a:avLst/>
          </a:prstGeom>
          <a:solidFill>
            <a:srgbClr val="10B981"/>
          </a:solidFill>
          <a:ln/>
        </p:spPr>
      </p:sp>
      <p:sp>
        <p:nvSpPr>
          <p:cNvPr id="8" name="Text 6"/>
          <p:cNvSpPr/>
          <p:nvPr/>
        </p:nvSpPr>
        <p:spPr>
          <a:xfrm>
            <a:off x="777240" y="2834640"/>
            <a:ext cx="3200400" cy="182880"/>
          </a:xfrm>
          <a:prstGeom prst="rect">
            <a:avLst/>
          </a:prstGeom>
          <a:noFill/>
          <a:ln/>
        </p:spPr>
        <p:txBody>
          <a:bodyPr wrap="square" rtlCol="0" anchor="ctr"/>
          <a:lstStyle/>
          <a:p>
            <a:pPr marL="0" indent="0">
              <a:buNone/>
            </a:pPr>
            <a:r>
              <a:rPr lang="en-US" sz="1000" b="1" dirty="0">
                <a:solidFill>
                  <a:srgbClr val="0A1628"/>
                </a:solidFill>
              </a:rPr>
              <a:t>Find employee salary by ID</a:t>
            </a:r>
            <a:endParaRPr lang="en-US" sz="1000" dirty="0"/>
          </a:p>
        </p:txBody>
      </p:sp>
      <p:sp>
        <p:nvSpPr>
          <p:cNvPr id="9" name="Text 7"/>
          <p:cNvSpPr/>
          <p:nvPr/>
        </p:nvSpPr>
        <p:spPr>
          <a:xfrm>
            <a:off x="4023360" y="2834640"/>
            <a:ext cx="4663440" cy="182880"/>
          </a:xfrm>
          <a:prstGeom prst="rect">
            <a:avLst/>
          </a:prstGeom>
          <a:noFill/>
          <a:ln/>
        </p:spPr>
        <p:txBody>
          <a:bodyPr wrap="square" rtlCol="0" anchor="ctr"/>
          <a:lstStyle/>
          <a:p>
            <a:pPr marL="0" indent="0">
              <a:buNone/>
            </a:pPr>
            <a:r>
              <a:rPr lang="en-US" sz="900" dirty="0">
                <a:solidFill>
                  <a:srgbClr val="1F2937"/>
                </a:solidFill>
              </a:rPr>
              <a:t>→ VLOOKUP employee ID, return salary column</a:t>
            </a:r>
            <a:endParaRPr lang="en-US" sz="900" dirty="0"/>
          </a:p>
        </p:txBody>
      </p:sp>
      <p:sp>
        <p:nvSpPr>
          <p:cNvPr id="10" name="Shape 8"/>
          <p:cNvSpPr/>
          <p:nvPr/>
        </p:nvSpPr>
        <p:spPr>
          <a:xfrm>
            <a:off x="594360" y="3218688"/>
            <a:ext cx="109728" cy="109728"/>
          </a:xfrm>
          <a:prstGeom prst="ellipse">
            <a:avLst/>
          </a:prstGeom>
          <a:solidFill>
            <a:srgbClr val="10B981"/>
          </a:solidFill>
          <a:ln/>
        </p:spPr>
      </p:sp>
      <p:sp>
        <p:nvSpPr>
          <p:cNvPr id="11" name="Text 9"/>
          <p:cNvSpPr/>
          <p:nvPr/>
        </p:nvSpPr>
        <p:spPr>
          <a:xfrm>
            <a:off x="777240" y="3182112"/>
            <a:ext cx="3200400" cy="182880"/>
          </a:xfrm>
          <a:prstGeom prst="rect">
            <a:avLst/>
          </a:prstGeom>
          <a:noFill/>
          <a:ln/>
        </p:spPr>
        <p:txBody>
          <a:bodyPr wrap="square" rtlCol="0" anchor="ctr"/>
          <a:lstStyle/>
          <a:p>
            <a:pPr marL="0" indent="0">
              <a:buNone/>
            </a:pPr>
            <a:r>
              <a:rPr lang="en-US" sz="1000" b="1" dirty="0">
                <a:solidFill>
                  <a:srgbClr val="0A1628"/>
                </a:solidFill>
              </a:rPr>
              <a:t>Get product price from catalog</a:t>
            </a:r>
            <a:endParaRPr lang="en-US" sz="1000" dirty="0"/>
          </a:p>
        </p:txBody>
      </p:sp>
      <p:sp>
        <p:nvSpPr>
          <p:cNvPr id="12" name="Text 10"/>
          <p:cNvSpPr/>
          <p:nvPr/>
        </p:nvSpPr>
        <p:spPr>
          <a:xfrm>
            <a:off x="4023360" y="3182112"/>
            <a:ext cx="4663440" cy="182880"/>
          </a:xfrm>
          <a:prstGeom prst="rect">
            <a:avLst/>
          </a:prstGeom>
          <a:noFill/>
          <a:ln/>
        </p:spPr>
        <p:txBody>
          <a:bodyPr wrap="square" rtlCol="0" anchor="ctr"/>
          <a:lstStyle/>
          <a:p>
            <a:pPr marL="0" indent="0">
              <a:buNone/>
            </a:pPr>
            <a:r>
              <a:rPr lang="en-US" sz="900" dirty="0">
                <a:solidFill>
                  <a:srgbClr val="1F2937"/>
                </a:solidFill>
              </a:rPr>
              <a:t>→ VLOOKUP product code, return price</a:t>
            </a:r>
            <a:endParaRPr lang="en-US" sz="900" dirty="0"/>
          </a:p>
        </p:txBody>
      </p:sp>
      <p:sp>
        <p:nvSpPr>
          <p:cNvPr id="13" name="Shape 11"/>
          <p:cNvSpPr/>
          <p:nvPr/>
        </p:nvSpPr>
        <p:spPr>
          <a:xfrm>
            <a:off x="594360" y="3566160"/>
            <a:ext cx="109728" cy="109728"/>
          </a:xfrm>
          <a:prstGeom prst="ellipse">
            <a:avLst/>
          </a:prstGeom>
          <a:solidFill>
            <a:srgbClr val="10B981"/>
          </a:solidFill>
          <a:ln/>
        </p:spPr>
      </p:sp>
      <p:sp>
        <p:nvSpPr>
          <p:cNvPr id="14" name="Text 12"/>
          <p:cNvSpPr/>
          <p:nvPr/>
        </p:nvSpPr>
        <p:spPr>
          <a:xfrm>
            <a:off x="777240" y="3529584"/>
            <a:ext cx="3200400" cy="182880"/>
          </a:xfrm>
          <a:prstGeom prst="rect">
            <a:avLst/>
          </a:prstGeom>
          <a:noFill/>
          <a:ln/>
        </p:spPr>
        <p:txBody>
          <a:bodyPr wrap="square" rtlCol="0" anchor="ctr"/>
          <a:lstStyle/>
          <a:p>
            <a:pPr marL="0" indent="0">
              <a:buNone/>
            </a:pPr>
            <a:r>
              <a:rPr lang="en-US" sz="1000" b="1" dirty="0">
                <a:solidFill>
                  <a:srgbClr val="0A1628"/>
                </a:solidFill>
              </a:rPr>
              <a:t>Match customer names to accounts</a:t>
            </a:r>
            <a:endParaRPr lang="en-US" sz="1000" dirty="0"/>
          </a:p>
        </p:txBody>
      </p:sp>
      <p:sp>
        <p:nvSpPr>
          <p:cNvPr id="15" name="Text 13"/>
          <p:cNvSpPr/>
          <p:nvPr/>
        </p:nvSpPr>
        <p:spPr>
          <a:xfrm>
            <a:off x="4023360" y="3529584"/>
            <a:ext cx="4663440" cy="182880"/>
          </a:xfrm>
          <a:prstGeom prst="rect">
            <a:avLst/>
          </a:prstGeom>
          <a:noFill/>
          <a:ln/>
        </p:spPr>
        <p:txBody>
          <a:bodyPr wrap="square" rtlCol="0" anchor="ctr"/>
          <a:lstStyle/>
          <a:p>
            <a:pPr marL="0" indent="0">
              <a:buNone/>
            </a:pPr>
            <a:r>
              <a:rPr lang="en-US" sz="900" dirty="0">
                <a:solidFill>
                  <a:srgbClr val="1F2937"/>
                </a:solidFill>
              </a:rPr>
              <a:t>→ VLOOKUP customer name, return account number</a:t>
            </a:r>
            <a:endParaRPr lang="en-US" sz="900" dirty="0"/>
          </a:p>
        </p:txBody>
      </p:sp>
      <p:sp>
        <p:nvSpPr>
          <p:cNvPr id="16" name="Shape 14"/>
          <p:cNvSpPr/>
          <p:nvPr/>
        </p:nvSpPr>
        <p:spPr>
          <a:xfrm>
            <a:off x="594360" y="3913632"/>
            <a:ext cx="109728" cy="109728"/>
          </a:xfrm>
          <a:prstGeom prst="ellipse">
            <a:avLst/>
          </a:prstGeom>
          <a:solidFill>
            <a:srgbClr val="10B981"/>
          </a:solidFill>
          <a:ln/>
        </p:spPr>
      </p:sp>
      <p:sp>
        <p:nvSpPr>
          <p:cNvPr id="17" name="Text 15"/>
          <p:cNvSpPr/>
          <p:nvPr/>
        </p:nvSpPr>
        <p:spPr>
          <a:xfrm>
            <a:off x="777240" y="3877056"/>
            <a:ext cx="3200400" cy="182880"/>
          </a:xfrm>
          <a:prstGeom prst="rect">
            <a:avLst/>
          </a:prstGeom>
          <a:noFill/>
          <a:ln/>
        </p:spPr>
        <p:txBody>
          <a:bodyPr wrap="square" rtlCol="0" anchor="ctr"/>
          <a:lstStyle/>
          <a:p>
            <a:pPr marL="0" indent="0">
              <a:buNone/>
            </a:pPr>
            <a:r>
              <a:rPr lang="en-US" sz="1000" b="1" dirty="0">
                <a:solidFill>
                  <a:srgbClr val="0A1628"/>
                </a:solidFill>
              </a:rPr>
              <a:t>Retrieve order details from database</a:t>
            </a:r>
            <a:endParaRPr lang="en-US" sz="1000" dirty="0"/>
          </a:p>
        </p:txBody>
      </p:sp>
      <p:sp>
        <p:nvSpPr>
          <p:cNvPr id="18" name="Text 16"/>
          <p:cNvSpPr/>
          <p:nvPr/>
        </p:nvSpPr>
        <p:spPr>
          <a:xfrm>
            <a:off x="4023360" y="3877056"/>
            <a:ext cx="4663440" cy="182880"/>
          </a:xfrm>
          <a:prstGeom prst="rect">
            <a:avLst/>
          </a:prstGeom>
          <a:noFill/>
          <a:ln/>
        </p:spPr>
        <p:txBody>
          <a:bodyPr wrap="square" rtlCol="0" anchor="ctr"/>
          <a:lstStyle/>
          <a:p>
            <a:pPr marL="0" indent="0">
              <a:buNone/>
            </a:pPr>
            <a:r>
              <a:rPr lang="en-US" sz="900" dirty="0">
                <a:solidFill>
                  <a:srgbClr val="1F2937"/>
                </a:solidFill>
              </a:rPr>
              <a:t>→ INDEX-MATCH order ID, return any column</a:t>
            </a:r>
            <a:endParaRPr lang="en-US" sz="900" dirty="0"/>
          </a:p>
        </p:txBody>
      </p:sp>
      <p:sp>
        <p:nvSpPr>
          <p:cNvPr id="19" name="Shape 17"/>
          <p:cNvSpPr/>
          <p:nvPr/>
        </p:nvSpPr>
        <p:spPr>
          <a:xfrm>
            <a:off x="594360" y="4261104"/>
            <a:ext cx="109728" cy="109728"/>
          </a:xfrm>
          <a:prstGeom prst="ellipse">
            <a:avLst/>
          </a:prstGeom>
          <a:solidFill>
            <a:srgbClr val="10B981"/>
          </a:solidFill>
          <a:ln/>
        </p:spPr>
      </p:sp>
      <p:sp>
        <p:nvSpPr>
          <p:cNvPr id="20" name="Text 18"/>
          <p:cNvSpPr/>
          <p:nvPr/>
        </p:nvSpPr>
        <p:spPr>
          <a:xfrm>
            <a:off x="777240" y="4224528"/>
            <a:ext cx="3200400" cy="182880"/>
          </a:xfrm>
          <a:prstGeom prst="rect">
            <a:avLst/>
          </a:prstGeom>
          <a:noFill/>
          <a:ln/>
        </p:spPr>
        <p:txBody>
          <a:bodyPr wrap="square" rtlCol="0" anchor="ctr"/>
          <a:lstStyle/>
          <a:p>
            <a:pPr marL="0" indent="0">
              <a:buNone/>
            </a:pPr>
            <a:r>
              <a:rPr lang="en-US" sz="1000" b="1" dirty="0">
                <a:solidFill>
                  <a:srgbClr val="0A1628"/>
                </a:solidFill>
              </a:rPr>
              <a:t>Combine data from multiple sheets</a:t>
            </a:r>
            <a:endParaRPr lang="en-US" sz="1000" dirty="0"/>
          </a:p>
        </p:txBody>
      </p:sp>
      <p:sp>
        <p:nvSpPr>
          <p:cNvPr id="21" name="Text 19"/>
          <p:cNvSpPr/>
          <p:nvPr/>
        </p:nvSpPr>
        <p:spPr>
          <a:xfrm>
            <a:off x="4023360" y="4224528"/>
            <a:ext cx="4663440" cy="182880"/>
          </a:xfrm>
          <a:prstGeom prst="rect">
            <a:avLst/>
          </a:prstGeom>
          <a:noFill/>
          <a:ln/>
        </p:spPr>
        <p:txBody>
          <a:bodyPr wrap="square" rtlCol="0" anchor="ctr"/>
          <a:lstStyle/>
          <a:p>
            <a:pPr marL="0" indent="0">
              <a:buNone/>
            </a:pPr>
            <a:r>
              <a:rPr lang="en-US" sz="900" dirty="0">
                <a:solidFill>
                  <a:srgbClr val="1F2937"/>
                </a:solidFill>
              </a:rPr>
              <a:t>→ Lookup functions connect related data</a:t>
            </a:r>
            <a:endParaRPr lang="en-US" sz="900" dirty="0"/>
          </a:p>
        </p:txBody>
      </p:sp>
      <p:sp>
        <p:nvSpPr>
          <p:cNvPr id="22" name="Shape 20"/>
          <p:cNvSpPr/>
          <p:nvPr/>
        </p:nvSpPr>
        <p:spPr>
          <a:xfrm>
            <a:off x="457200" y="4572000"/>
            <a:ext cx="8229600" cy="182880"/>
          </a:xfrm>
          <a:prstGeom prst="rect">
            <a:avLst/>
          </a:prstGeom>
          <a:solidFill>
            <a:srgbClr val="F59E0B"/>
          </a:solidFill>
          <a:ln/>
        </p:spPr>
      </p:sp>
      <p:sp>
        <p:nvSpPr>
          <p:cNvPr id="23" name="Text 21"/>
          <p:cNvSpPr/>
          <p:nvPr/>
        </p:nvSpPr>
        <p:spPr>
          <a:xfrm>
            <a:off x="640080" y="4572000"/>
            <a:ext cx="7863840" cy="182880"/>
          </a:xfrm>
          <a:prstGeom prst="rect">
            <a:avLst/>
          </a:prstGeom>
          <a:noFill/>
          <a:ln/>
        </p:spPr>
        <p:txBody>
          <a:bodyPr wrap="square" rtlCol="0" anchor="ctr"/>
          <a:lstStyle/>
          <a:p>
            <a:pPr marL="0" indent="0">
              <a:buNone/>
            </a:pPr>
            <a:r>
              <a:rPr lang="en-US" sz="1000" b="1" dirty="0">
                <a:solidFill>
                  <a:srgbClr val="1F2937"/>
                </a:solidFill>
              </a:rPr>
              <a:t>💼 According to surveys, VLOOKUP is the #1 most-requested Excel skill in job interviews!</a:t>
            </a:r>
            <a:endParaRPr lang="en-US" sz="1000" dirty="0"/>
          </a:p>
        </p:txBody>
      </p:sp>
      <p:sp>
        <p:nvSpPr>
          <p:cNvPr id="24" name="Text 22"/>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VLOOKUP FUNCTION</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500" dirty="0">
                <a:solidFill>
                  <a:srgbClr val="1F2937"/>
                </a:solidFill>
              </a:rPr>
              <a:t>Vertical Lookup - Search down a column, return value from same row</a:t>
            </a:r>
            <a:endParaRPr lang="en-US" sz="1500" dirty="0"/>
          </a:p>
        </p:txBody>
      </p:sp>
      <p:sp>
        <p:nvSpPr>
          <p:cNvPr id="4" name="Shape 2"/>
          <p:cNvSpPr/>
          <p:nvPr/>
        </p:nvSpPr>
        <p:spPr>
          <a:xfrm>
            <a:off x="457200" y="1371600"/>
            <a:ext cx="8229600" cy="1554480"/>
          </a:xfrm>
          <a:prstGeom prst="rect">
            <a:avLst/>
          </a:prstGeom>
          <a:solidFill>
            <a:srgbClr val="FFFFFF"/>
          </a:solidFill>
          <a:ln w="25400">
            <a:solidFill>
              <a:srgbClr val="8B5CF6"/>
            </a:solidFill>
            <a:prstDash val="solid"/>
          </a:ln>
          <a:effectLst>
            <a:outerShdw blurRad="967740000" dist="322580000" algn="bl" rotWithShape="0">
              <a:srgbClr val="000000">
                <a:alpha val="0"/>
              </a:srgbClr>
            </a:outerShdw>
          </a:effectLst>
        </p:spPr>
      </p:sp>
      <p:sp>
        <p:nvSpPr>
          <p:cNvPr id="5" name="Text 3"/>
          <p:cNvSpPr/>
          <p:nvPr/>
        </p:nvSpPr>
        <p:spPr>
          <a:xfrm>
            <a:off x="640080" y="1508760"/>
            <a:ext cx="1371600" cy="274320"/>
          </a:xfrm>
          <a:prstGeom prst="rect">
            <a:avLst/>
          </a:prstGeom>
          <a:noFill/>
          <a:ln/>
        </p:spPr>
        <p:txBody>
          <a:bodyPr wrap="square" rtlCol="0" anchor="ctr"/>
          <a:lstStyle/>
          <a:p>
            <a:pPr marL="0" indent="0">
              <a:buNone/>
            </a:pPr>
            <a:r>
              <a:rPr lang="en-US" sz="1400" b="1" dirty="0">
                <a:solidFill>
                  <a:srgbClr val="0A1628"/>
                </a:solidFill>
              </a:rPr>
              <a:t>Syntax:</a:t>
            </a:r>
            <a:endParaRPr lang="en-US" sz="1400" dirty="0"/>
          </a:p>
        </p:txBody>
      </p:sp>
      <p:sp>
        <p:nvSpPr>
          <p:cNvPr id="6" name="Text 4"/>
          <p:cNvSpPr/>
          <p:nvPr/>
        </p:nvSpPr>
        <p:spPr>
          <a:xfrm>
            <a:off x="2103120" y="1508760"/>
            <a:ext cx="6309360" cy="274320"/>
          </a:xfrm>
          <a:prstGeom prst="rect">
            <a:avLst/>
          </a:prstGeom>
          <a:noFill/>
          <a:ln/>
        </p:spPr>
        <p:txBody>
          <a:bodyPr wrap="square" rtlCol="0" anchor="ctr"/>
          <a:lstStyle/>
          <a:p>
            <a:pPr marL="0" indent="0">
              <a:buNone/>
            </a:pPr>
            <a:r>
              <a:rPr lang="en-US" sz="1200" b="1" dirty="0">
                <a:solidFill>
                  <a:srgbClr val="8B5CF6"/>
                </a:solidFill>
                <a:latin typeface="Consolas" pitchFamily="34" charset="0"/>
                <a:ea typeface="Consolas" pitchFamily="34" charset="-122"/>
                <a:cs typeface="Consolas" pitchFamily="34" charset="-120"/>
              </a:rPr>
              <a:t>=VLOOKUP(lookup_value, table_array, col_index_num, [range_lookup])</a:t>
            </a:r>
            <a:endParaRPr lang="en-US" sz="1200" dirty="0"/>
          </a:p>
        </p:txBody>
      </p:sp>
      <p:sp>
        <p:nvSpPr>
          <p:cNvPr id="7" name="Text 5"/>
          <p:cNvSpPr/>
          <p:nvPr/>
        </p:nvSpPr>
        <p:spPr>
          <a:xfrm>
            <a:off x="640080" y="1874520"/>
            <a:ext cx="7863840" cy="228600"/>
          </a:xfrm>
          <a:prstGeom prst="rect">
            <a:avLst/>
          </a:prstGeom>
          <a:noFill/>
          <a:ln/>
        </p:spPr>
        <p:txBody>
          <a:bodyPr wrap="square" rtlCol="0" anchor="ctr"/>
          <a:lstStyle/>
          <a:p>
            <a:pPr marL="0" indent="0">
              <a:buNone/>
            </a:pPr>
            <a:r>
              <a:rPr lang="en-US" sz="1300" b="1" dirty="0">
                <a:solidFill>
                  <a:srgbClr val="0A1628"/>
                </a:solidFill>
              </a:rPr>
              <a:t>Breaking Down Each Parameter:</a:t>
            </a:r>
            <a:endParaRPr lang="en-US" sz="1300" dirty="0"/>
          </a:p>
        </p:txBody>
      </p:sp>
      <p:sp>
        <p:nvSpPr>
          <p:cNvPr id="8" name="Shape 6"/>
          <p:cNvSpPr/>
          <p:nvPr/>
        </p:nvSpPr>
        <p:spPr>
          <a:xfrm>
            <a:off x="640080" y="2167128"/>
            <a:ext cx="118872" cy="118872"/>
          </a:xfrm>
          <a:prstGeom prst="ellipse">
            <a:avLst/>
          </a:prstGeom>
          <a:solidFill>
            <a:srgbClr val="8B5CF6"/>
          </a:solidFill>
          <a:ln/>
        </p:spPr>
      </p:sp>
      <p:sp>
        <p:nvSpPr>
          <p:cNvPr id="9" name="Text 7"/>
          <p:cNvSpPr/>
          <p:nvPr/>
        </p:nvSpPr>
        <p:spPr>
          <a:xfrm>
            <a:off x="640080" y="2167128"/>
            <a:ext cx="118872" cy="118872"/>
          </a:xfrm>
          <a:prstGeom prst="rect">
            <a:avLst/>
          </a:prstGeom>
          <a:noFill/>
          <a:ln/>
        </p:spPr>
        <p:txBody>
          <a:bodyPr wrap="square" rtlCol="0" anchor="ctr"/>
          <a:lstStyle/>
          <a:p>
            <a:pPr marL="0" indent="0" algn="ctr">
              <a:buNone/>
            </a:pPr>
            <a:r>
              <a:rPr lang="en-US" sz="900" b="1" dirty="0">
                <a:solidFill>
                  <a:srgbClr val="FFFFFF"/>
                </a:solidFill>
              </a:rPr>
              <a:t>1</a:t>
            </a:r>
            <a:endParaRPr lang="en-US" sz="900" dirty="0"/>
          </a:p>
        </p:txBody>
      </p:sp>
      <p:sp>
        <p:nvSpPr>
          <p:cNvPr id="10" name="Text 8"/>
          <p:cNvSpPr/>
          <p:nvPr/>
        </p:nvSpPr>
        <p:spPr>
          <a:xfrm>
            <a:off x="822960" y="2148840"/>
            <a:ext cx="1645920" cy="155448"/>
          </a:xfrm>
          <a:prstGeom prst="rect">
            <a:avLst/>
          </a:prstGeom>
          <a:noFill/>
          <a:ln/>
        </p:spPr>
        <p:txBody>
          <a:bodyPr wrap="square" rtlCol="0" anchor="ctr"/>
          <a:lstStyle/>
          <a:p>
            <a:pPr marL="0" indent="0">
              <a:buNone/>
            </a:pPr>
            <a:r>
              <a:rPr lang="en-US" sz="1000" b="1" dirty="0">
                <a:solidFill>
                  <a:srgbClr val="8B5CF6"/>
                </a:solidFill>
              </a:rPr>
              <a:t>lookup_value:</a:t>
            </a:r>
            <a:endParaRPr lang="en-US" sz="1000" dirty="0"/>
          </a:p>
        </p:txBody>
      </p:sp>
      <p:sp>
        <p:nvSpPr>
          <p:cNvPr id="11" name="Text 9"/>
          <p:cNvSpPr/>
          <p:nvPr/>
        </p:nvSpPr>
        <p:spPr>
          <a:xfrm>
            <a:off x="2514600" y="2148840"/>
            <a:ext cx="5989320" cy="155448"/>
          </a:xfrm>
          <a:prstGeom prst="rect">
            <a:avLst/>
          </a:prstGeom>
          <a:noFill/>
          <a:ln/>
        </p:spPr>
        <p:txBody>
          <a:bodyPr wrap="square" rtlCol="0" anchor="ctr"/>
          <a:lstStyle/>
          <a:p>
            <a:pPr marL="0" indent="0">
              <a:buNone/>
            </a:pPr>
            <a:r>
              <a:rPr lang="en-US" sz="900" dirty="0">
                <a:solidFill>
                  <a:srgbClr val="1F2937"/>
                </a:solidFill>
              </a:rPr>
              <a:t>The value you want to find (e.g., Employee ID: 'E001')</a:t>
            </a:r>
            <a:endParaRPr lang="en-US" sz="900" dirty="0"/>
          </a:p>
        </p:txBody>
      </p:sp>
      <p:sp>
        <p:nvSpPr>
          <p:cNvPr id="12" name="Shape 10"/>
          <p:cNvSpPr/>
          <p:nvPr/>
        </p:nvSpPr>
        <p:spPr>
          <a:xfrm>
            <a:off x="640080" y="2331720"/>
            <a:ext cx="118872" cy="118872"/>
          </a:xfrm>
          <a:prstGeom prst="ellipse">
            <a:avLst/>
          </a:prstGeom>
          <a:solidFill>
            <a:srgbClr val="8B5CF6"/>
          </a:solidFill>
          <a:ln/>
        </p:spPr>
      </p:sp>
      <p:sp>
        <p:nvSpPr>
          <p:cNvPr id="13" name="Text 11"/>
          <p:cNvSpPr/>
          <p:nvPr/>
        </p:nvSpPr>
        <p:spPr>
          <a:xfrm>
            <a:off x="640080" y="2331720"/>
            <a:ext cx="118872" cy="118872"/>
          </a:xfrm>
          <a:prstGeom prst="rect">
            <a:avLst/>
          </a:prstGeom>
          <a:noFill/>
          <a:ln/>
        </p:spPr>
        <p:txBody>
          <a:bodyPr wrap="square" rtlCol="0" anchor="ctr"/>
          <a:lstStyle/>
          <a:p>
            <a:pPr marL="0" indent="0" algn="ctr">
              <a:buNone/>
            </a:pPr>
            <a:r>
              <a:rPr lang="en-US" sz="900" b="1" dirty="0">
                <a:solidFill>
                  <a:srgbClr val="FFFFFF"/>
                </a:solidFill>
              </a:rPr>
              <a:t>2</a:t>
            </a:r>
            <a:endParaRPr lang="en-US" sz="900" dirty="0"/>
          </a:p>
        </p:txBody>
      </p:sp>
      <p:sp>
        <p:nvSpPr>
          <p:cNvPr id="14" name="Text 12"/>
          <p:cNvSpPr/>
          <p:nvPr/>
        </p:nvSpPr>
        <p:spPr>
          <a:xfrm>
            <a:off x="822960" y="2313432"/>
            <a:ext cx="1645920" cy="155448"/>
          </a:xfrm>
          <a:prstGeom prst="rect">
            <a:avLst/>
          </a:prstGeom>
          <a:noFill/>
          <a:ln/>
        </p:spPr>
        <p:txBody>
          <a:bodyPr wrap="square" rtlCol="0" anchor="ctr"/>
          <a:lstStyle/>
          <a:p>
            <a:pPr marL="0" indent="0">
              <a:buNone/>
            </a:pPr>
            <a:r>
              <a:rPr lang="en-US" sz="1000" b="1" dirty="0">
                <a:solidFill>
                  <a:srgbClr val="8B5CF6"/>
                </a:solidFill>
              </a:rPr>
              <a:t>table_array:</a:t>
            </a:r>
            <a:endParaRPr lang="en-US" sz="1000" dirty="0"/>
          </a:p>
        </p:txBody>
      </p:sp>
      <p:sp>
        <p:nvSpPr>
          <p:cNvPr id="15" name="Text 13"/>
          <p:cNvSpPr/>
          <p:nvPr/>
        </p:nvSpPr>
        <p:spPr>
          <a:xfrm>
            <a:off x="2514600" y="2313432"/>
            <a:ext cx="5989320" cy="155448"/>
          </a:xfrm>
          <a:prstGeom prst="rect">
            <a:avLst/>
          </a:prstGeom>
          <a:noFill/>
          <a:ln/>
        </p:spPr>
        <p:txBody>
          <a:bodyPr wrap="square" rtlCol="0" anchor="ctr"/>
          <a:lstStyle/>
          <a:p>
            <a:pPr marL="0" indent="0">
              <a:buNone/>
            </a:pPr>
            <a:r>
              <a:rPr lang="en-US" sz="900" dirty="0">
                <a:solidFill>
                  <a:srgbClr val="1F2937"/>
                </a:solidFill>
              </a:rPr>
              <a:t>The range where data is stored (e.g., A2:D100)</a:t>
            </a:r>
            <a:endParaRPr lang="en-US" sz="900" dirty="0"/>
          </a:p>
        </p:txBody>
      </p:sp>
      <p:sp>
        <p:nvSpPr>
          <p:cNvPr id="16" name="Shape 14"/>
          <p:cNvSpPr/>
          <p:nvPr/>
        </p:nvSpPr>
        <p:spPr>
          <a:xfrm>
            <a:off x="640080" y="2496312"/>
            <a:ext cx="118872" cy="118872"/>
          </a:xfrm>
          <a:prstGeom prst="ellipse">
            <a:avLst/>
          </a:prstGeom>
          <a:solidFill>
            <a:srgbClr val="8B5CF6"/>
          </a:solidFill>
          <a:ln/>
        </p:spPr>
      </p:sp>
      <p:sp>
        <p:nvSpPr>
          <p:cNvPr id="17" name="Text 15"/>
          <p:cNvSpPr/>
          <p:nvPr/>
        </p:nvSpPr>
        <p:spPr>
          <a:xfrm>
            <a:off x="640080" y="2496312"/>
            <a:ext cx="118872" cy="118872"/>
          </a:xfrm>
          <a:prstGeom prst="rect">
            <a:avLst/>
          </a:prstGeom>
          <a:noFill/>
          <a:ln/>
        </p:spPr>
        <p:txBody>
          <a:bodyPr wrap="square" rtlCol="0" anchor="ctr"/>
          <a:lstStyle/>
          <a:p>
            <a:pPr marL="0" indent="0" algn="ctr">
              <a:buNone/>
            </a:pPr>
            <a:r>
              <a:rPr lang="en-US" sz="900" b="1" dirty="0">
                <a:solidFill>
                  <a:srgbClr val="FFFFFF"/>
                </a:solidFill>
              </a:rPr>
              <a:t>3</a:t>
            </a:r>
            <a:endParaRPr lang="en-US" sz="900" dirty="0"/>
          </a:p>
        </p:txBody>
      </p:sp>
      <p:sp>
        <p:nvSpPr>
          <p:cNvPr id="18" name="Text 16"/>
          <p:cNvSpPr/>
          <p:nvPr/>
        </p:nvSpPr>
        <p:spPr>
          <a:xfrm>
            <a:off x="822960" y="2478024"/>
            <a:ext cx="1645920" cy="155448"/>
          </a:xfrm>
          <a:prstGeom prst="rect">
            <a:avLst/>
          </a:prstGeom>
          <a:noFill/>
          <a:ln/>
        </p:spPr>
        <p:txBody>
          <a:bodyPr wrap="square" rtlCol="0" anchor="ctr"/>
          <a:lstStyle/>
          <a:p>
            <a:pPr marL="0" indent="0">
              <a:buNone/>
            </a:pPr>
            <a:r>
              <a:rPr lang="en-US" sz="1000" b="1" dirty="0">
                <a:solidFill>
                  <a:srgbClr val="8B5CF6"/>
                </a:solidFill>
              </a:rPr>
              <a:t>col_index_num:</a:t>
            </a:r>
            <a:endParaRPr lang="en-US" sz="1000" dirty="0"/>
          </a:p>
        </p:txBody>
      </p:sp>
      <p:sp>
        <p:nvSpPr>
          <p:cNvPr id="19" name="Text 17"/>
          <p:cNvSpPr/>
          <p:nvPr/>
        </p:nvSpPr>
        <p:spPr>
          <a:xfrm>
            <a:off x="2514600" y="2478024"/>
            <a:ext cx="5989320" cy="155448"/>
          </a:xfrm>
          <a:prstGeom prst="rect">
            <a:avLst/>
          </a:prstGeom>
          <a:noFill/>
          <a:ln/>
        </p:spPr>
        <p:txBody>
          <a:bodyPr wrap="square" rtlCol="0" anchor="ctr"/>
          <a:lstStyle/>
          <a:p>
            <a:pPr marL="0" indent="0">
              <a:buNone/>
            </a:pPr>
            <a:r>
              <a:rPr lang="en-US" sz="900" dirty="0">
                <a:solidFill>
                  <a:srgbClr val="1F2937"/>
                </a:solidFill>
              </a:rPr>
              <a:t>Which column to return (1 = first column, 2 = second, etc.)</a:t>
            </a:r>
            <a:endParaRPr lang="en-US" sz="900" dirty="0"/>
          </a:p>
        </p:txBody>
      </p:sp>
      <p:sp>
        <p:nvSpPr>
          <p:cNvPr id="20" name="Shape 18"/>
          <p:cNvSpPr/>
          <p:nvPr/>
        </p:nvSpPr>
        <p:spPr>
          <a:xfrm>
            <a:off x="640080" y="2660904"/>
            <a:ext cx="118872" cy="118872"/>
          </a:xfrm>
          <a:prstGeom prst="ellipse">
            <a:avLst/>
          </a:prstGeom>
          <a:solidFill>
            <a:srgbClr val="8B5CF6"/>
          </a:solidFill>
          <a:ln/>
        </p:spPr>
      </p:sp>
      <p:sp>
        <p:nvSpPr>
          <p:cNvPr id="21" name="Text 19"/>
          <p:cNvSpPr/>
          <p:nvPr/>
        </p:nvSpPr>
        <p:spPr>
          <a:xfrm>
            <a:off x="640080" y="2660904"/>
            <a:ext cx="118872" cy="118872"/>
          </a:xfrm>
          <a:prstGeom prst="rect">
            <a:avLst/>
          </a:prstGeom>
          <a:noFill/>
          <a:ln/>
        </p:spPr>
        <p:txBody>
          <a:bodyPr wrap="square" rtlCol="0" anchor="ctr"/>
          <a:lstStyle/>
          <a:p>
            <a:pPr marL="0" indent="0" algn="ctr">
              <a:buNone/>
            </a:pPr>
            <a:r>
              <a:rPr lang="en-US" sz="900" b="1" dirty="0">
                <a:solidFill>
                  <a:srgbClr val="FFFFFF"/>
                </a:solidFill>
              </a:rPr>
              <a:t>4</a:t>
            </a:r>
            <a:endParaRPr lang="en-US" sz="900" dirty="0"/>
          </a:p>
        </p:txBody>
      </p:sp>
      <p:sp>
        <p:nvSpPr>
          <p:cNvPr id="22" name="Text 20"/>
          <p:cNvSpPr/>
          <p:nvPr/>
        </p:nvSpPr>
        <p:spPr>
          <a:xfrm>
            <a:off x="822960" y="2642616"/>
            <a:ext cx="1645920" cy="155448"/>
          </a:xfrm>
          <a:prstGeom prst="rect">
            <a:avLst/>
          </a:prstGeom>
          <a:noFill/>
          <a:ln/>
        </p:spPr>
        <p:txBody>
          <a:bodyPr wrap="square" rtlCol="0" anchor="ctr"/>
          <a:lstStyle/>
          <a:p>
            <a:pPr marL="0" indent="0">
              <a:buNone/>
            </a:pPr>
            <a:r>
              <a:rPr lang="en-US" sz="1000" b="1" dirty="0">
                <a:solidFill>
                  <a:srgbClr val="8B5CF6"/>
                </a:solidFill>
              </a:rPr>
              <a:t>range_lookup:</a:t>
            </a:r>
            <a:endParaRPr lang="en-US" sz="1000" dirty="0"/>
          </a:p>
        </p:txBody>
      </p:sp>
      <p:sp>
        <p:nvSpPr>
          <p:cNvPr id="23" name="Text 21"/>
          <p:cNvSpPr/>
          <p:nvPr/>
        </p:nvSpPr>
        <p:spPr>
          <a:xfrm>
            <a:off x="2514600" y="2642616"/>
            <a:ext cx="5989320" cy="155448"/>
          </a:xfrm>
          <a:prstGeom prst="rect">
            <a:avLst/>
          </a:prstGeom>
          <a:noFill/>
          <a:ln/>
        </p:spPr>
        <p:txBody>
          <a:bodyPr wrap="square" rtlCol="0" anchor="ctr"/>
          <a:lstStyle/>
          <a:p>
            <a:pPr marL="0" indent="0">
              <a:buNone/>
            </a:pPr>
            <a:r>
              <a:rPr lang="en-US" sz="900" dirty="0">
                <a:solidFill>
                  <a:srgbClr val="1F2937"/>
                </a:solidFill>
              </a:rPr>
              <a:t>FALSE = Exact match (use this 99% of the time) | TRUE = Approximate</a:t>
            </a:r>
            <a:endParaRPr lang="en-US" sz="900" dirty="0"/>
          </a:p>
        </p:txBody>
      </p:sp>
      <p:sp>
        <p:nvSpPr>
          <p:cNvPr id="24" name="Text 22"/>
          <p:cNvSpPr/>
          <p:nvPr/>
        </p:nvSpPr>
        <p:spPr>
          <a:xfrm>
            <a:off x="457200" y="2926080"/>
            <a:ext cx="8229600" cy="228600"/>
          </a:xfrm>
          <a:prstGeom prst="rect">
            <a:avLst/>
          </a:prstGeom>
          <a:noFill/>
          <a:ln/>
        </p:spPr>
        <p:txBody>
          <a:bodyPr wrap="square" rtlCol="0" anchor="ctr"/>
          <a:lstStyle/>
          <a:p>
            <a:pPr marL="0" indent="0">
              <a:buNone/>
            </a:pPr>
            <a:r>
              <a:rPr lang="en-US" sz="1600" b="1" dirty="0">
                <a:solidFill>
                  <a:srgbClr val="0A1628"/>
                </a:solidFill>
              </a:rPr>
              <a:t>Visual Example:</a:t>
            </a:r>
            <a:endParaRPr lang="en-US" sz="1600" dirty="0"/>
          </a:p>
        </p:txBody>
      </p:sp>
      <p:sp>
        <p:nvSpPr>
          <p:cNvPr id="25" name="Text 23"/>
          <p:cNvSpPr/>
          <p:nvPr/>
        </p:nvSpPr>
        <p:spPr>
          <a:xfrm>
            <a:off x="457200" y="3200400"/>
            <a:ext cx="8229600" cy="182880"/>
          </a:xfrm>
          <a:prstGeom prst="rect">
            <a:avLst/>
          </a:prstGeom>
          <a:noFill/>
          <a:ln/>
        </p:spPr>
        <p:txBody>
          <a:bodyPr wrap="square" rtlCol="0" anchor="ctr"/>
          <a:lstStyle/>
          <a:p>
            <a:pPr marL="0" indent="0">
              <a:buNone/>
            </a:pPr>
            <a:r>
              <a:rPr lang="en-US" sz="1100" dirty="0">
                <a:solidFill>
                  <a:srgbClr val="1F2937"/>
                </a:solidFill>
              </a:rPr>
              <a:t>You have an employee table (Columns: ID, Name, Department, Salary)</a:t>
            </a:r>
            <a:endParaRPr lang="en-US" sz="1100" dirty="0"/>
          </a:p>
        </p:txBody>
      </p:sp>
      <p:sp>
        <p:nvSpPr>
          <p:cNvPr id="26" name="Shape 24"/>
          <p:cNvSpPr/>
          <p:nvPr/>
        </p:nvSpPr>
        <p:spPr>
          <a:xfrm>
            <a:off x="457200" y="3429000"/>
            <a:ext cx="8229600" cy="320040"/>
          </a:xfrm>
          <a:prstGeom prst="rect">
            <a:avLst/>
          </a:prstGeom>
          <a:solidFill>
            <a:srgbClr val="0A1628"/>
          </a:solidFill>
          <a:ln/>
        </p:spPr>
      </p:sp>
      <p:sp>
        <p:nvSpPr>
          <p:cNvPr id="27" name="Text 25"/>
          <p:cNvSpPr/>
          <p:nvPr/>
        </p:nvSpPr>
        <p:spPr>
          <a:xfrm>
            <a:off x="640080" y="3520440"/>
            <a:ext cx="7863840" cy="137160"/>
          </a:xfrm>
          <a:prstGeom prst="rect">
            <a:avLst/>
          </a:prstGeom>
          <a:noFill/>
          <a:ln/>
        </p:spPr>
        <p:txBody>
          <a:bodyPr wrap="square"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=VLOOKUP("E003", A2:D100, 4, FALSE)</a:t>
            </a:r>
            <a:endParaRPr lang="en-US" sz="1300" dirty="0"/>
          </a:p>
        </p:txBody>
      </p:sp>
      <p:sp>
        <p:nvSpPr>
          <p:cNvPr id="28" name="Text 26"/>
          <p:cNvSpPr/>
          <p:nvPr/>
        </p:nvSpPr>
        <p:spPr>
          <a:xfrm>
            <a:off x="457200" y="3794760"/>
            <a:ext cx="8229600" cy="182880"/>
          </a:xfrm>
          <a:prstGeom prst="rect">
            <a:avLst/>
          </a:prstGeom>
          <a:noFill/>
          <a:ln/>
        </p:spPr>
        <p:txBody>
          <a:bodyPr wrap="square" rtlCol="0" anchor="ctr"/>
          <a:lstStyle/>
          <a:p>
            <a:pPr marL="0" indent="0">
              <a:buNone/>
            </a:pPr>
            <a:r>
              <a:rPr lang="en-US" sz="1100" i="1" dirty="0">
                <a:solidFill>
                  <a:srgbClr val="1F2937"/>
                </a:solidFill>
              </a:rPr>
              <a:t>Translation: Find employee E003, and return the value from column 4 (Salary)</a:t>
            </a:r>
            <a:endParaRPr lang="en-US" sz="1100" dirty="0"/>
          </a:p>
        </p:txBody>
      </p:sp>
      <p:sp>
        <p:nvSpPr>
          <p:cNvPr id="29" name="Text 27"/>
          <p:cNvSpPr/>
          <p:nvPr/>
        </p:nvSpPr>
        <p:spPr>
          <a:xfrm>
            <a:off x="640080" y="4023360"/>
            <a:ext cx="8046720" cy="164592"/>
          </a:xfrm>
          <a:prstGeom prst="rect">
            <a:avLst/>
          </a:prstGeom>
          <a:noFill/>
          <a:ln/>
        </p:spPr>
        <p:txBody>
          <a:bodyPr wrap="square" rtlCol="0" anchor="ctr"/>
          <a:lstStyle/>
          <a:p>
            <a:pPr marL="0" indent="0">
              <a:buNone/>
            </a:pPr>
            <a:r>
              <a:rPr lang="en-US" sz="900" dirty="0">
                <a:solidFill>
                  <a:srgbClr val="1F2937"/>
                </a:solidFill>
              </a:rPr>
              <a:t>• "E003" = Look for this employee ID</a:t>
            </a:r>
            <a:endParaRPr lang="en-US" sz="900" dirty="0"/>
          </a:p>
        </p:txBody>
      </p:sp>
      <p:sp>
        <p:nvSpPr>
          <p:cNvPr id="30" name="Text 28"/>
          <p:cNvSpPr/>
          <p:nvPr/>
        </p:nvSpPr>
        <p:spPr>
          <a:xfrm>
            <a:off x="640080" y="4206240"/>
            <a:ext cx="8046720" cy="164592"/>
          </a:xfrm>
          <a:prstGeom prst="rect">
            <a:avLst/>
          </a:prstGeom>
          <a:noFill/>
          <a:ln/>
        </p:spPr>
        <p:txBody>
          <a:bodyPr wrap="square" rtlCol="0" anchor="ctr"/>
          <a:lstStyle/>
          <a:p>
            <a:pPr marL="0" indent="0">
              <a:buNone/>
            </a:pPr>
            <a:r>
              <a:rPr lang="en-US" sz="900" dirty="0">
                <a:solidFill>
                  <a:srgbClr val="1F2937"/>
                </a:solidFill>
              </a:rPr>
              <a:t>• A2:D100 = Search in this table</a:t>
            </a:r>
            <a:endParaRPr lang="en-US" sz="900" dirty="0"/>
          </a:p>
        </p:txBody>
      </p:sp>
      <p:sp>
        <p:nvSpPr>
          <p:cNvPr id="31" name="Text 29"/>
          <p:cNvSpPr/>
          <p:nvPr/>
        </p:nvSpPr>
        <p:spPr>
          <a:xfrm>
            <a:off x="640080" y="4407408"/>
            <a:ext cx="8046720" cy="164592"/>
          </a:xfrm>
          <a:prstGeom prst="rect">
            <a:avLst/>
          </a:prstGeom>
          <a:noFill/>
          <a:ln/>
        </p:spPr>
        <p:txBody>
          <a:bodyPr wrap="square" rtlCol="0" anchor="ctr"/>
          <a:lstStyle/>
          <a:p>
            <a:pPr marL="0" indent="0">
              <a:buNone/>
            </a:pPr>
            <a:r>
              <a:rPr lang="en-US" sz="900" dirty="0">
                <a:solidFill>
                  <a:srgbClr val="1F2937"/>
                </a:solidFill>
              </a:rPr>
              <a:t>• 4 = Return value from 4th column (Salary)</a:t>
            </a:r>
            <a:endParaRPr lang="en-US" sz="900" dirty="0"/>
          </a:p>
        </p:txBody>
      </p:sp>
      <p:sp>
        <p:nvSpPr>
          <p:cNvPr id="32" name="Text 30"/>
          <p:cNvSpPr/>
          <p:nvPr/>
        </p:nvSpPr>
        <p:spPr>
          <a:xfrm>
            <a:off x="640080" y="4572000"/>
            <a:ext cx="8046720" cy="164592"/>
          </a:xfrm>
          <a:prstGeom prst="rect">
            <a:avLst/>
          </a:prstGeom>
          <a:noFill/>
          <a:ln/>
        </p:spPr>
        <p:txBody>
          <a:bodyPr wrap="square" rtlCol="0" anchor="ctr"/>
          <a:lstStyle/>
          <a:p>
            <a:pPr marL="0" indent="0">
              <a:buNone/>
            </a:pPr>
            <a:r>
              <a:rPr lang="en-US" sz="900" dirty="0">
                <a:solidFill>
                  <a:srgbClr val="1F2937"/>
                </a:solidFill>
              </a:rPr>
              <a:t>• FALSE = Must be exact match</a:t>
            </a:r>
            <a:endParaRPr lang="en-US" sz="900" dirty="0"/>
          </a:p>
        </p:txBody>
      </p:sp>
      <p:sp>
        <p:nvSpPr>
          <p:cNvPr id="33" name="Text 31"/>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VLOOKUP: COMPLETE EXAMPLE</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b="1" dirty="0">
                <a:solidFill>
                  <a:srgbClr val="3B82F6"/>
                </a:solidFill>
              </a:rPr>
              <a:t>Employee Database Lookup</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4114800" cy="1106424"/>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219456">
                <a:tc>
                  <a:txBody>
                    <a:bodyPr/>
                    <a:lstStyle/>
                    <a:p>
                      <a:pPr marL="0" indent="0" algn="ctr">
                        <a:buNone/>
                      </a:pPr>
                      <a:r>
                        <a:rPr lang="en-US" sz="900" b="1" dirty="0">
                          <a:solidFill>
                            <a:srgbClr val="FFFFFF"/>
                          </a:solidFill>
                        </a:rPr>
                        <a:t>Emp ID</a:t>
                      </a:r>
                      <a:endParaRPr lang="en-US" sz="9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8B5CF6"/>
                    </a:solidFill>
                  </a:tcPr>
                </a:tc>
                <a:tc>
                  <a:txBody>
                    <a:bodyPr/>
                    <a:lstStyle/>
                    <a:p>
                      <a:pPr marL="0" indent="0" algn="ctr">
                        <a:buNone/>
                      </a:pPr>
                      <a:r>
                        <a:rPr lang="en-US" sz="900" b="1" dirty="0">
                          <a:solidFill>
                            <a:srgbClr val="FFFFFF"/>
                          </a:solidFill>
                        </a:rPr>
                        <a:t>Name</a:t>
                      </a:r>
                      <a:endParaRPr lang="en-US" sz="9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8B5CF6"/>
                    </a:solidFill>
                  </a:tcPr>
                </a:tc>
                <a:tc>
                  <a:txBody>
                    <a:bodyPr/>
                    <a:lstStyle/>
                    <a:p>
                      <a:pPr marL="0" indent="0" algn="ctr">
                        <a:buNone/>
                      </a:pPr>
                      <a:r>
                        <a:rPr lang="en-US" sz="900" b="1" dirty="0">
                          <a:solidFill>
                            <a:srgbClr val="FFFFFF"/>
                          </a:solidFill>
                        </a:rPr>
                        <a:t>Department</a:t>
                      </a:r>
                      <a:endParaRPr lang="en-US" sz="9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8B5CF6"/>
                    </a:solidFill>
                  </a:tcPr>
                </a:tc>
                <a:tc>
                  <a:txBody>
                    <a:bodyPr/>
                    <a:lstStyle/>
                    <a:p>
                      <a:pPr marL="0" indent="0" algn="ctr">
                        <a:buNone/>
                      </a:pPr>
                      <a:r>
                        <a:rPr lang="en-US" sz="900" b="1" dirty="0">
                          <a:solidFill>
                            <a:srgbClr val="FFFFFF"/>
                          </a:solidFill>
                        </a:rPr>
                        <a:t>Salary</a:t>
                      </a:r>
                      <a:endParaRPr lang="en-US" sz="9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8B5CF6"/>
                    </a:solidFill>
                  </a:tcPr>
                </a:tc>
                <a:extLst>
                  <a:ext uri="{0D108BD9-81ED-4DB2-BD59-A6C34878D82A}">
                    <a16:rowId xmlns:a16="http://schemas.microsoft.com/office/drawing/2014/main" val="10000"/>
                  </a:ext>
                </a:extLst>
              </a:tr>
              <a:tr h="219456">
                <a:tc>
                  <a:txBody>
                    <a:bodyPr/>
                    <a:lstStyle/>
                    <a:p>
                      <a:pPr marL="0" indent="0" algn="ctr">
                        <a:buNone/>
                      </a:pPr>
                      <a:r>
                        <a:rPr lang="en-US" sz="800" dirty="0">
                          <a:solidFill>
                            <a:srgbClr val="000000"/>
                          </a:solidFill>
                        </a:rPr>
                        <a:t>E001</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Alice Johnson</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IT</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$75,000</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lgn="ctr">
                        <a:buNone/>
                      </a:pPr>
                      <a:r>
                        <a:rPr lang="en-US" sz="800" dirty="0">
                          <a:solidFill>
                            <a:srgbClr val="000000"/>
                          </a:solidFill>
                        </a:rPr>
                        <a:t>E002</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Bob Smith</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HR</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$65,000</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lgn="ctr">
                        <a:buNone/>
                      </a:pPr>
                      <a:r>
                        <a:rPr lang="en-US" sz="800" dirty="0">
                          <a:solidFill>
                            <a:srgbClr val="000000"/>
                          </a:solidFill>
                        </a:rPr>
                        <a:t>E003</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Charlie Brown</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Finance</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$80,000</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lgn="ctr">
                        <a:buNone/>
                      </a:pPr>
                      <a:r>
                        <a:rPr lang="en-US" sz="800" dirty="0">
                          <a:solidFill>
                            <a:srgbClr val="000000"/>
                          </a:solidFill>
                        </a:rPr>
                        <a:t>E004</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Diana Prince</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Sales</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$70,000</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640080" y="2423160"/>
            <a:ext cx="4114800" cy="137160"/>
          </a:xfrm>
          <a:prstGeom prst="rect">
            <a:avLst/>
          </a:prstGeom>
          <a:noFill/>
          <a:ln/>
        </p:spPr>
        <p:txBody>
          <a:bodyPr wrap="square" rtlCol="0" anchor="ctr"/>
          <a:lstStyle/>
          <a:p>
            <a:pPr marL="0" indent="0" algn="ctr">
              <a:buNone/>
            </a:pPr>
            <a:r>
              <a:rPr lang="en-US" sz="900" i="1" dirty="0">
                <a:solidFill>
                  <a:srgbClr val="6B7280"/>
                </a:solidFill>
              </a:rPr>
              <a:t>Range: A1:D5</a:t>
            </a:r>
            <a:endParaRPr lang="en-US" sz="900" dirty="0"/>
          </a:p>
        </p:txBody>
      </p:sp>
      <p:sp>
        <p:nvSpPr>
          <p:cNvPr id="4" name="Text 3"/>
          <p:cNvSpPr/>
          <p:nvPr/>
        </p:nvSpPr>
        <p:spPr>
          <a:xfrm>
            <a:off x="4937760" y="1280160"/>
            <a:ext cx="3749040" cy="228600"/>
          </a:xfrm>
          <a:prstGeom prst="rect">
            <a:avLst/>
          </a:prstGeom>
          <a:noFill/>
          <a:ln/>
        </p:spPr>
        <p:txBody>
          <a:bodyPr wrap="square" rtlCol="0" anchor="ctr"/>
          <a:lstStyle/>
          <a:p>
            <a:pPr marL="0" indent="0">
              <a:buNone/>
            </a:pPr>
            <a:r>
              <a:rPr lang="en-US" sz="1400" b="1" dirty="0">
                <a:solidFill>
                  <a:srgbClr val="0A1628"/>
                </a:solidFill>
              </a:rPr>
              <a:t>VLOOKUP Examples:</a:t>
            </a:r>
            <a:endParaRPr lang="en-US" sz="1400" dirty="0"/>
          </a:p>
        </p:txBody>
      </p:sp>
      <p:sp>
        <p:nvSpPr>
          <p:cNvPr id="7" name="Text 4"/>
          <p:cNvSpPr/>
          <p:nvPr/>
        </p:nvSpPr>
        <p:spPr>
          <a:xfrm>
            <a:off x="5029200" y="1600200"/>
            <a:ext cx="3566160" cy="155448"/>
          </a:xfrm>
          <a:prstGeom prst="rect">
            <a:avLst/>
          </a:prstGeom>
          <a:noFill/>
          <a:ln/>
        </p:spPr>
        <p:txBody>
          <a:bodyPr wrap="square" rtlCol="0" anchor="ctr"/>
          <a:lstStyle/>
          <a:p>
            <a:pPr marL="0" indent="0">
              <a:buNone/>
            </a:pPr>
            <a:r>
              <a:rPr lang="en-US" sz="1000" b="1" dirty="0">
                <a:solidFill>
                  <a:srgbClr val="0A1628"/>
                </a:solidFill>
              </a:rPr>
              <a:t>Find Bob's department:</a:t>
            </a:r>
            <a:endParaRPr lang="en-US" sz="1000" dirty="0"/>
          </a:p>
        </p:txBody>
      </p:sp>
      <p:sp>
        <p:nvSpPr>
          <p:cNvPr id="8" name="Shape 5"/>
          <p:cNvSpPr/>
          <p:nvPr/>
        </p:nvSpPr>
        <p:spPr>
          <a:xfrm>
            <a:off x="5029200" y="1773936"/>
            <a:ext cx="3200400" cy="155448"/>
          </a:xfrm>
          <a:prstGeom prst="rect">
            <a:avLst/>
          </a:prstGeom>
          <a:solidFill>
            <a:srgbClr val="0A1628"/>
          </a:solidFill>
          <a:ln/>
        </p:spPr>
      </p:sp>
      <p:sp>
        <p:nvSpPr>
          <p:cNvPr id="9" name="Text 6"/>
          <p:cNvSpPr/>
          <p:nvPr/>
        </p:nvSpPr>
        <p:spPr>
          <a:xfrm>
            <a:off x="5074920" y="1773936"/>
            <a:ext cx="3108960" cy="155448"/>
          </a:xfrm>
          <a:prstGeom prst="rect">
            <a:avLst/>
          </a:prstGeom>
          <a:noFill/>
          <a:ln/>
        </p:spPr>
        <p:txBody>
          <a:bodyPr wrap="square" rtlCol="0" anchor="ctr"/>
          <a:lstStyle/>
          <a:p>
            <a:pPr marL="0" indent="0">
              <a:buNone/>
            </a:pPr>
            <a:r>
              <a:rPr lang="en-US" sz="700" dirty="0">
                <a:solidFill>
                  <a:srgbClr val="FFFFFF"/>
                </a:solidFill>
                <a:latin typeface="Consolas" pitchFamily="34" charset="0"/>
                <a:ea typeface="Consolas" pitchFamily="34" charset="-122"/>
                <a:cs typeface="Consolas" pitchFamily="34" charset="-120"/>
              </a:rPr>
              <a:t>=VLOOKUP("E002", A2:D5, 3, FALSE)</a:t>
            </a:r>
            <a:endParaRPr lang="en-US" sz="700" dirty="0"/>
          </a:p>
        </p:txBody>
      </p:sp>
      <p:sp>
        <p:nvSpPr>
          <p:cNvPr id="10" name="Shape 7"/>
          <p:cNvSpPr/>
          <p:nvPr/>
        </p:nvSpPr>
        <p:spPr>
          <a:xfrm>
            <a:off x="8321040" y="1773936"/>
            <a:ext cx="320040" cy="155448"/>
          </a:xfrm>
          <a:prstGeom prst="rect">
            <a:avLst/>
          </a:prstGeom>
          <a:solidFill>
            <a:srgbClr val="10B981"/>
          </a:solidFill>
          <a:ln/>
        </p:spPr>
      </p:sp>
      <p:sp>
        <p:nvSpPr>
          <p:cNvPr id="11" name="Text 8"/>
          <p:cNvSpPr/>
          <p:nvPr/>
        </p:nvSpPr>
        <p:spPr>
          <a:xfrm>
            <a:off x="8339328" y="1773936"/>
            <a:ext cx="45720" cy="155448"/>
          </a:xfrm>
          <a:prstGeom prst="rect">
            <a:avLst/>
          </a:prstGeom>
          <a:noFill/>
          <a:ln/>
        </p:spPr>
        <p:txBody>
          <a:bodyPr wrap="square" rtlCol="0" anchor="ctr"/>
          <a:lstStyle/>
          <a:p>
            <a:pPr marL="0" indent="0">
              <a:buNone/>
            </a:pPr>
            <a:r>
              <a:rPr lang="en-US" sz="1000" b="1" dirty="0">
                <a:solidFill>
                  <a:srgbClr val="FFFFFF"/>
                </a:solidFill>
              </a:rPr>
              <a:t>→</a:t>
            </a:r>
            <a:endParaRPr lang="en-US" sz="1000" dirty="0"/>
          </a:p>
        </p:txBody>
      </p:sp>
      <p:sp>
        <p:nvSpPr>
          <p:cNvPr id="12" name="Text 9"/>
          <p:cNvSpPr/>
          <p:nvPr/>
        </p:nvSpPr>
        <p:spPr>
          <a:xfrm>
            <a:off x="5029200" y="1947672"/>
            <a:ext cx="3566160" cy="137160"/>
          </a:xfrm>
          <a:prstGeom prst="rect">
            <a:avLst/>
          </a:prstGeom>
          <a:noFill/>
          <a:ln/>
        </p:spPr>
        <p:txBody>
          <a:bodyPr wrap="square" rtlCol="0" anchor="ctr"/>
          <a:lstStyle/>
          <a:p>
            <a:pPr marL="0" indent="0">
              <a:buNone/>
            </a:pPr>
            <a:r>
              <a:rPr lang="en-US" sz="900" b="1" i="1" dirty="0">
                <a:solidFill>
                  <a:srgbClr val="8B5CF6"/>
                </a:solidFill>
              </a:rPr>
              <a:t>HR</a:t>
            </a:r>
            <a:endParaRPr lang="en-US" sz="900" dirty="0"/>
          </a:p>
        </p:txBody>
      </p:sp>
      <p:sp>
        <p:nvSpPr>
          <p:cNvPr id="13" name="Text 10"/>
          <p:cNvSpPr/>
          <p:nvPr/>
        </p:nvSpPr>
        <p:spPr>
          <a:xfrm>
            <a:off x="5029200" y="2103120"/>
            <a:ext cx="3566160" cy="155448"/>
          </a:xfrm>
          <a:prstGeom prst="rect">
            <a:avLst/>
          </a:prstGeom>
          <a:noFill/>
          <a:ln/>
        </p:spPr>
        <p:txBody>
          <a:bodyPr wrap="square" rtlCol="0" anchor="ctr"/>
          <a:lstStyle/>
          <a:p>
            <a:pPr marL="0" indent="0">
              <a:buNone/>
            </a:pPr>
            <a:r>
              <a:rPr lang="en-US" sz="1000" b="1" dirty="0">
                <a:solidFill>
                  <a:srgbClr val="0A1628"/>
                </a:solidFill>
              </a:rPr>
              <a:t>Find Alice's salary:</a:t>
            </a:r>
            <a:endParaRPr lang="en-US" sz="1000" dirty="0"/>
          </a:p>
        </p:txBody>
      </p:sp>
      <p:sp>
        <p:nvSpPr>
          <p:cNvPr id="14" name="Shape 11"/>
          <p:cNvSpPr/>
          <p:nvPr/>
        </p:nvSpPr>
        <p:spPr>
          <a:xfrm>
            <a:off x="5029200" y="2276856"/>
            <a:ext cx="3200400" cy="155448"/>
          </a:xfrm>
          <a:prstGeom prst="rect">
            <a:avLst/>
          </a:prstGeom>
          <a:solidFill>
            <a:srgbClr val="0A1628"/>
          </a:solidFill>
          <a:ln/>
        </p:spPr>
      </p:sp>
      <p:sp>
        <p:nvSpPr>
          <p:cNvPr id="15" name="Text 12"/>
          <p:cNvSpPr/>
          <p:nvPr/>
        </p:nvSpPr>
        <p:spPr>
          <a:xfrm>
            <a:off x="5074920" y="2276856"/>
            <a:ext cx="3108960" cy="155448"/>
          </a:xfrm>
          <a:prstGeom prst="rect">
            <a:avLst/>
          </a:prstGeom>
          <a:noFill/>
          <a:ln/>
        </p:spPr>
        <p:txBody>
          <a:bodyPr wrap="square" rtlCol="0" anchor="ctr"/>
          <a:lstStyle/>
          <a:p>
            <a:pPr marL="0" indent="0">
              <a:buNone/>
            </a:pPr>
            <a:r>
              <a:rPr lang="en-US" sz="700" dirty="0">
                <a:solidFill>
                  <a:srgbClr val="FFFFFF"/>
                </a:solidFill>
                <a:latin typeface="Consolas" pitchFamily="34" charset="0"/>
                <a:ea typeface="Consolas" pitchFamily="34" charset="-122"/>
                <a:cs typeface="Consolas" pitchFamily="34" charset="-120"/>
              </a:rPr>
              <a:t>=VLOOKUP("E001", A2:D5, 4, FALSE)</a:t>
            </a:r>
            <a:endParaRPr lang="en-US" sz="700" dirty="0"/>
          </a:p>
        </p:txBody>
      </p:sp>
      <p:sp>
        <p:nvSpPr>
          <p:cNvPr id="16" name="Shape 13"/>
          <p:cNvSpPr/>
          <p:nvPr/>
        </p:nvSpPr>
        <p:spPr>
          <a:xfrm>
            <a:off x="8321040" y="2276856"/>
            <a:ext cx="320040" cy="155448"/>
          </a:xfrm>
          <a:prstGeom prst="rect">
            <a:avLst/>
          </a:prstGeom>
          <a:solidFill>
            <a:srgbClr val="10B981"/>
          </a:solidFill>
          <a:ln/>
        </p:spPr>
      </p:sp>
      <p:sp>
        <p:nvSpPr>
          <p:cNvPr id="17" name="Text 14"/>
          <p:cNvSpPr/>
          <p:nvPr/>
        </p:nvSpPr>
        <p:spPr>
          <a:xfrm>
            <a:off x="8339328" y="2276856"/>
            <a:ext cx="45720" cy="155448"/>
          </a:xfrm>
          <a:prstGeom prst="rect">
            <a:avLst/>
          </a:prstGeom>
          <a:noFill/>
          <a:ln/>
        </p:spPr>
        <p:txBody>
          <a:bodyPr wrap="square" rtlCol="0" anchor="ctr"/>
          <a:lstStyle/>
          <a:p>
            <a:pPr marL="0" indent="0">
              <a:buNone/>
            </a:pPr>
            <a:r>
              <a:rPr lang="en-US" sz="1000" b="1" dirty="0">
                <a:solidFill>
                  <a:srgbClr val="FFFFFF"/>
                </a:solidFill>
              </a:rPr>
              <a:t>→</a:t>
            </a:r>
            <a:endParaRPr lang="en-US" sz="1000" dirty="0"/>
          </a:p>
        </p:txBody>
      </p:sp>
      <p:sp>
        <p:nvSpPr>
          <p:cNvPr id="18" name="Text 15"/>
          <p:cNvSpPr/>
          <p:nvPr/>
        </p:nvSpPr>
        <p:spPr>
          <a:xfrm>
            <a:off x="5029200" y="2450592"/>
            <a:ext cx="3566160" cy="137160"/>
          </a:xfrm>
          <a:prstGeom prst="rect">
            <a:avLst/>
          </a:prstGeom>
          <a:noFill/>
          <a:ln/>
        </p:spPr>
        <p:txBody>
          <a:bodyPr wrap="square" rtlCol="0" anchor="ctr"/>
          <a:lstStyle/>
          <a:p>
            <a:pPr marL="0" indent="0">
              <a:buNone/>
            </a:pPr>
            <a:r>
              <a:rPr lang="en-US" sz="900" b="1" i="1" dirty="0">
                <a:solidFill>
                  <a:srgbClr val="8B5CF6"/>
                </a:solidFill>
              </a:rPr>
              <a:t>$75,000</a:t>
            </a:r>
            <a:endParaRPr lang="en-US" sz="900" dirty="0"/>
          </a:p>
        </p:txBody>
      </p:sp>
      <p:sp>
        <p:nvSpPr>
          <p:cNvPr id="19" name="Text 16"/>
          <p:cNvSpPr/>
          <p:nvPr/>
        </p:nvSpPr>
        <p:spPr>
          <a:xfrm>
            <a:off x="5029200" y="2606040"/>
            <a:ext cx="3566160" cy="155448"/>
          </a:xfrm>
          <a:prstGeom prst="rect">
            <a:avLst/>
          </a:prstGeom>
          <a:noFill/>
          <a:ln/>
        </p:spPr>
        <p:txBody>
          <a:bodyPr wrap="square" rtlCol="0" anchor="ctr"/>
          <a:lstStyle/>
          <a:p>
            <a:pPr marL="0" indent="0">
              <a:buNone/>
            </a:pPr>
            <a:r>
              <a:rPr lang="en-US" sz="1000" b="1" dirty="0">
                <a:solidFill>
                  <a:srgbClr val="0A1628"/>
                </a:solidFill>
              </a:rPr>
              <a:t>Find Charlie's name:</a:t>
            </a:r>
            <a:endParaRPr lang="en-US" sz="1000" dirty="0"/>
          </a:p>
        </p:txBody>
      </p:sp>
      <p:sp>
        <p:nvSpPr>
          <p:cNvPr id="20" name="Shape 17"/>
          <p:cNvSpPr/>
          <p:nvPr/>
        </p:nvSpPr>
        <p:spPr>
          <a:xfrm>
            <a:off x="5029200" y="2779776"/>
            <a:ext cx="3200400" cy="155448"/>
          </a:xfrm>
          <a:prstGeom prst="rect">
            <a:avLst/>
          </a:prstGeom>
          <a:solidFill>
            <a:srgbClr val="0A1628"/>
          </a:solidFill>
          <a:ln/>
        </p:spPr>
      </p:sp>
      <p:sp>
        <p:nvSpPr>
          <p:cNvPr id="21" name="Text 18"/>
          <p:cNvSpPr/>
          <p:nvPr/>
        </p:nvSpPr>
        <p:spPr>
          <a:xfrm>
            <a:off x="5074920" y="2779776"/>
            <a:ext cx="3108960" cy="155448"/>
          </a:xfrm>
          <a:prstGeom prst="rect">
            <a:avLst/>
          </a:prstGeom>
          <a:noFill/>
          <a:ln/>
        </p:spPr>
        <p:txBody>
          <a:bodyPr wrap="square" rtlCol="0" anchor="ctr"/>
          <a:lstStyle/>
          <a:p>
            <a:pPr marL="0" indent="0">
              <a:buNone/>
            </a:pPr>
            <a:r>
              <a:rPr lang="en-US" sz="700" dirty="0">
                <a:solidFill>
                  <a:srgbClr val="FFFFFF"/>
                </a:solidFill>
                <a:latin typeface="Consolas" pitchFamily="34" charset="0"/>
                <a:ea typeface="Consolas" pitchFamily="34" charset="-122"/>
                <a:cs typeface="Consolas" pitchFamily="34" charset="-120"/>
              </a:rPr>
              <a:t>=VLOOKUP("E003", A2:D5, 2, FALSE)</a:t>
            </a:r>
            <a:endParaRPr lang="en-US" sz="700" dirty="0"/>
          </a:p>
        </p:txBody>
      </p:sp>
      <p:sp>
        <p:nvSpPr>
          <p:cNvPr id="22" name="Shape 19"/>
          <p:cNvSpPr/>
          <p:nvPr/>
        </p:nvSpPr>
        <p:spPr>
          <a:xfrm>
            <a:off x="8321040" y="2779776"/>
            <a:ext cx="320040" cy="155448"/>
          </a:xfrm>
          <a:prstGeom prst="rect">
            <a:avLst/>
          </a:prstGeom>
          <a:solidFill>
            <a:srgbClr val="10B981"/>
          </a:solidFill>
          <a:ln/>
        </p:spPr>
      </p:sp>
      <p:sp>
        <p:nvSpPr>
          <p:cNvPr id="23" name="Text 20"/>
          <p:cNvSpPr/>
          <p:nvPr/>
        </p:nvSpPr>
        <p:spPr>
          <a:xfrm>
            <a:off x="8339328" y="2779776"/>
            <a:ext cx="45720" cy="155448"/>
          </a:xfrm>
          <a:prstGeom prst="rect">
            <a:avLst/>
          </a:prstGeom>
          <a:noFill/>
          <a:ln/>
        </p:spPr>
        <p:txBody>
          <a:bodyPr wrap="square" rtlCol="0" anchor="ctr"/>
          <a:lstStyle/>
          <a:p>
            <a:pPr marL="0" indent="0">
              <a:buNone/>
            </a:pPr>
            <a:r>
              <a:rPr lang="en-US" sz="1000" b="1" dirty="0">
                <a:solidFill>
                  <a:srgbClr val="FFFFFF"/>
                </a:solidFill>
              </a:rPr>
              <a:t>→</a:t>
            </a:r>
            <a:endParaRPr lang="en-US" sz="1000" dirty="0"/>
          </a:p>
        </p:txBody>
      </p:sp>
      <p:sp>
        <p:nvSpPr>
          <p:cNvPr id="24" name="Text 21"/>
          <p:cNvSpPr/>
          <p:nvPr/>
        </p:nvSpPr>
        <p:spPr>
          <a:xfrm>
            <a:off x="5029200" y="2953512"/>
            <a:ext cx="3566160" cy="137160"/>
          </a:xfrm>
          <a:prstGeom prst="rect">
            <a:avLst/>
          </a:prstGeom>
          <a:noFill/>
          <a:ln/>
        </p:spPr>
        <p:txBody>
          <a:bodyPr wrap="square" rtlCol="0" anchor="ctr"/>
          <a:lstStyle/>
          <a:p>
            <a:pPr marL="0" indent="0">
              <a:buNone/>
            </a:pPr>
            <a:r>
              <a:rPr lang="en-US" sz="900" b="1" i="1" dirty="0">
                <a:solidFill>
                  <a:srgbClr val="8B5CF6"/>
                </a:solidFill>
              </a:rPr>
              <a:t>Charlie Brown</a:t>
            </a:r>
            <a:endParaRPr lang="en-US" sz="900" dirty="0"/>
          </a:p>
        </p:txBody>
      </p:sp>
      <p:sp>
        <p:nvSpPr>
          <p:cNvPr id="25" name="Text 22"/>
          <p:cNvSpPr/>
          <p:nvPr/>
        </p:nvSpPr>
        <p:spPr>
          <a:xfrm>
            <a:off x="5029200" y="3108960"/>
            <a:ext cx="3566160" cy="155448"/>
          </a:xfrm>
          <a:prstGeom prst="rect">
            <a:avLst/>
          </a:prstGeom>
          <a:noFill/>
          <a:ln/>
        </p:spPr>
        <p:txBody>
          <a:bodyPr wrap="square" rtlCol="0" anchor="ctr"/>
          <a:lstStyle/>
          <a:p>
            <a:pPr marL="0" indent="0">
              <a:buNone/>
            </a:pPr>
            <a:r>
              <a:rPr lang="en-US" sz="1000" b="1" dirty="0">
                <a:solidFill>
                  <a:srgbClr val="0A1628"/>
                </a:solidFill>
              </a:rPr>
              <a:t>Find Diana's department:</a:t>
            </a:r>
            <a:endParaRPr lang="en-US" sz="1000" dirty="0"/>
          </a:p>
        </p:txBody>
      </p:sp>
      <p:sp>
        <p:nvSpPr>
          <p:cNvPr id="26" name="Shape 23"/>
          <p:cNvSpPr/>
          <p:nvPr/>
        </p:nvSpPr>
        <p:spPr>
          <a:xfrm>
            <a:off x="5029200" y="3282696"/>
            <a:ext cx="3200400" cy="155448"/>
          </a:xfrm>
          <a:prstGeom prst="rect">
            <a:avLst/>
          </a:prstGeom>
          <a:solidFill>
            <a:srgbClr val="0A1628"/>
          </a:solidFill>
          <a:ln/>
        </p:spPr>
      </p:sp>
      <p:sp>
        <p:nvSpPr>
          <p:cNvPr id="27" name="Text 24"/>
          <p:cNvSpPr/>
          <p:nvPr/>
        </p:nvSpPr>
        <p:spPr>
          <a:xfrm>
            <a:off x="5074920" y="3282696"/>
            <a:ext cx="3108960" cy="155448"/>
          </a:xfrm>
          <a:prstGeom prst="rect">
            <a:avLst/>
          </a:prstGeom>
          <a:noFill/>
          <a:ln/>
        </p:spPr>
        <p:txBody>
          <a:bodyPr wrap="square" rtlCol="0" anchor="ctr"/>
          <a:lstStyle/>
          <a:p>
            <a:pPr marL="0" indent="0">
              <a:buNone/>
            </a:pPr>
            <a:r>
              <a:rPr lang="en-US" sz="700" dirty="0">
                <a:solidFill>
                  <a:srgbClr val="FFFFFF"/>
                </a:solidFill>
                <a:latin typeface="Consolas" pitchFamily="34" charset="0"/>
                <a:ea typeface="Consolas" pitchFamily="34" charset="-122"/>
                <a:cs typeface="Consolas" pitchFamily="34" charset="-120"/>
              </a:rPr>
              <a:t>=VLOOKUP("E004", A2:D5, 3, FALSE)</a:t>
            </a:r>
            <a:endParaRPr lang="en-US" sz="700" dirty="0"/>
          </a:p>
        </p:txBody>
      </p:sp>
      <p:sp>
        <p:nvSpPr>
          <p:cNvPr id="28" name="Shape 25"/>
          <p:cNvSpPr/>
          <p:nvPr/>
        </p:nvSpPr>
        <p:spPr>
          <a:xfrm>
            <a:off x="8321040" y="3282696"/>
            <a:ext cx="320040" cy="155448"/>
          </a:xfrm>
          <a:prstGeom prst="rect">
            <a:avLst/>
          </a:prstGeom>
          <a:solidFill>
            <a:srgbClr val="10B981"/>
          </a:solidFill>
          <a:ln/>
        </p:spPr>
      </p:sp>
      <p:sp>
        <p:nvSpPr>
          <p:cNvPr id="29" name="Text 26"/>
          <p:cNvSpPr/>
          <p:nvPr/>
        </p:nvSpPr>
        <p:spPr>
          <a:xfrm>
            <a:off x="8339328" y="3282696"/>
            <a:ext cx="45720" cy="155448"/>
          </a:xfrm>
          <a:prstGeom prst="rect">
            <a:avLst/>
          </a:prstGeom>
          <a:noFill/>
          <a:ln/>
        </p:spPr>
        <p:txBody>
          <a:bodyPr wrap="square" rtlCol="0" anchor="ctr"/>
          <a:lstStyle/>
          <a:p>
            <a:pPr marL="0" indent="0">
              <a:buNone/>
            </a:pPr>
            <a:r>
              <a:rPr lang="en-US" sz="1000" b="1" dirty="0">
                <a:solidFill>
                  <a:srgbClr val="FFFFFF"/>
                </a:solidFill>
              </a:rPr>
              <a:t>→</a:t>
            </a:r>
            <a:endParaRPr lang="en-US" sz="1000" dirty="0"/>
          </a:p>
        </p:txBody>
      </p:sp>
      <p:sp>
        <p:nvSpPr>
          <p:cNvPr id="30" name="Text 27"/>
          <p:cNvSpPr/>
          <p:nvPr/>
        </p:nvSpPr>
        <p:spPr>
          <a:xfrm>
            <a:off x="5029200" y="3456432"/>
            <a:ext cx="3566160" cy="137160"/>
          </a:xfrm>
          <a:prstGeom prst="rect">
            <a:avLst/>
          </a:prstGeom>
          <a:noFill/>
          <a:ln/>
        </p:spPr>
        <p:txBody>
          <a:bodyPr wrap="square" rtlCol="0" anchor="ctr"/>
          <a:lstStyle/>
          <a:p>
            <a:pPr marL="0" indent="0">
              <a:buNone/>
            </a:pPr>
            <a:r>
              <a:rPr lang="en-US" sz="900" b="1" i="1" dirty="0">
                <a:solidFill>
                  <a:srgbClr val="8B5CF6"/>
                </a:solidFill>
              </a:rPr>
              <a:t>Sales</a:t>
            </a:r>
            <a:endParaRPr lang="en-US" sz="900" dirty="0"/>
          </a:p>
        </p:txBody>
      </p:sp>
      <p:sp>
        <p:nvSpPr>
          <p:cNvPr id="31" name="Text 28"/>
          <p:cNvSpPr/>
          <p:nvPr/>
        </p:nvSpPr>
        <p:spPr>
          <a:xfrm>
            <a:off x="457200" y="3657600"/>
            <a:ext cx="8229600" cy="228600"/>
          </a:xfrm>
          <a:prstGeom prst="rect">
            <a:avLst/>
          </a:prstGeom>
          <a:noFill/>
          <a:ln/>
        </p:spPr>
        <p:txBody>
          <a:bodyPr wrap="square" rtlCol="0" anchor="ctr"/>
          <a:lstStyle/>
          <a:p>
            <a:pPr marL="0" indent="0">
              <a:buNone/>
            </a:pPr>
            <a:r>
              <a:rPr lang="en-US" sz="1400" b="1" dirty="0">
                <a:solidFill>
                  <a:srgbClr val="0A1628"/>
                </a:solidFill>
              </a:rPr>
              <a:t>How VLOOKUP Works:</a:t>
            </a:r>
            <a:endParaRPr lang="en-US" sz="1400" dirty="0"/>
          </a:p>
        </p:txBody>
      </p:sp>
      <p:sp>
        <p:nvSpPr>
          <p:cNvPr id="32" name="Text 29"/>
          <p:cNvSpPr/>
          <p:nvPr/>
        </p:nvSpPr>
        <p:spPr>
          <a:xfrm>
            <a:off x="640080" y="3931920"/>
            <a:ext cx="8046720" cy="182880"/>
          </a:xfrm>
          <a:prstGeom prst="rect">
            <a:avLst/>
          </a:prstGeom>
          <a:noFill/>
          <a:ln/>
        </p:spPr>
        <p:txBody>
          <a:bodyPr wrap="square" rtlCol="0" anchor="ctr"/>
          <a:lstStyle/>
          <a:p>
            <a:pPr marL="0" indent="0">
              <a:buNone/>
            </a:pPr>
            <a:r>
              <a:rPr lang="en-US" sz="1000" dirty="0">
                <a:solidFill>
                  <a:srgbClr val="1F2937"/>
                </a:solidFill>
              </a:rPr>
              <a:t>1. Searches the FIRST column (A) for your lookup value</a:t>
            </a:r>
            <a:endParaRPr lang="en-US" sz="1000" dirty="0"/>
          </a:p>
        </p:txBody>
      </p:sp>
      <p:sp>
        <p:nvSpPr>
          <p:cNvPr id="33" name="Text 30"/>
          <p:cNvSpPr/>
          <p:nvPr/>
        </p:nvSpPr>
        <p:spPr>
          <a:xfrm>
            <a:off x="640080" y="4133088"/>
            <a:ext cx="8046720" cy="182880"/>
          </a:xfrm>
          <a:prstGeom prst="rect">
            <a:avLst/>
          </a:prstGeom>
          <a:noFill/>
          <a:ln/>
        </p:spPr>
        <p:txBody>
          <a:bodyPr wrap="square" rtlCol="0" anchor="ctr"/>
          <a:lstStyle/>
          <a:p>
            <a:pPr marL="0" indent="0">
              <a:buNone/>
            </a:pPr>
            <a:r>
              <a:rPr lang="en-US" sz="1000" dirty="0">
                <a:solidFill>
                  <a:srgbClr val="1F2937"/>
                </a:solidFill>
              </a:rPr>
              <a:t>2. When found (e.g., "E002"), it stays on that ROW</a:t>
            </a:r>
            <a:endParaRPr lang="en-US" sz="1000" dirty="0"/>
          </a:p>
        </p:txBody>
      </p:sp>
      <p:sp>
        <p:nvSpPr>
          <p:cNvPr id="34" name="Text 31"/>
          <p:cNvSpPr/>
          <p:nvPr/>
        </p:nvSpPr>
        <p:spPr>
          <a:xfrm>
            <a:off x="640080" y="4334256"/>
            <a:ext cx="8046720" cy="182880"/>
          </a:xfrm>
          <a:prstGeom prst="rect">
            <a:avLst/>
          </a:prstGeom>
          <a:noFill/>
          <a:ln/>
        </p:spPr>
        <p:txBody>
          <a:bodyPr wrap="square" rtlCol="0" anchor="ctr"/>
          <a:lstStyle/>
          <a:p>
            <a:pPr marL="0" indent="0">
              <a:buNone/>
            </a:pPr>
            <a:r>
              <a:rPr lang="en-US" sz="1000" dirty="0">
                <a:solidFill>
                  <a:srgbClr val="1F2937"/>
                </a:solidFill>
              </a:rPr>
              <a:t>3. Moves to the right to the column number you specified (col_index_num)</a:t>
            </a:r>
            <a:endParaRPr lang="en-US" sz="1000" dirty="0"/>
          </a:p>
        </p:txBody>
      </p:sp>
      <p:sp>
        <p:nvSpPr>
          <p:cNvPr id="35" name="Text 32"/>
          <p:cNvSpPr/>
          <p:nvPr/>
        </p:nvSpPr>
        <p:spPr>
          <a:xfrm>
            <a:off x="640080" y="4535424"/>
            <a:ext cx="8046720" cy="182880"/>
          </a:xfrm>
          <a:prstGeom prst="rect">
            <a:avLst/>
          </a:prstGeom>
          <a:noFill/>
          <a:ln/>
        </p:spPr>
        <p:txBody>
          <a:bodyPr wrap="square" rtlCol="0" anchor="ctr"/>
          <a:lstStyle/>
          <a:p>
            <a:pPr marL="0" indent="0">
              <a:buNone/>
            </a:pPr>
            <a:r>
              <a:rPr lang="en-US" sz="1000" dirty="0">
                <a:solidFill>
                  <a:srgbClr val="1F2937"/>
                </a:solidFill>
              </a:rPr>
              <a:t>4. Returns the value from that cell</a:t>
            </a:r>
            <a:endParaRPr lang="en-US" sz="1000" dirty="0"/>
          </a:p>
        </p:txBody>
      </p:sp>
      <p:sp>
        <p:nvSpPr>
          <p:cNvPr id="36" name="Text 33"/>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VLOOKUP COMMON ERRORS</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dirty="0">
                <a:solidFill>
                  <a:srgbClr val="1F2937"/>
                </a:solidFill>
              </a:rPr>
              <a:t>Learn to troubleshoot and fix these mistakes</a:t>
            </a:r>
            <a:endParaRPr lang="en-US" sz="1600" dirty="0"/>
          </a:p>
        </p:txBody>
      </p:sp>
      <p:sp>
        <p:nvSpPr>
          <p:cNvPr id="4" name="Shape 2"/>
          <p:cNvSpPr/>
          <p:nvPr/>
        </p:nvSpPr>
        <p:spPr>
          <a:xfrm>
            <a:off x="457200" y="1371600"/>
            <a:ext cx="8229600" cy="749808"/>
          </a:xfrm>
          <a:prstGeom prst="rect">
            <a:avLst/>
          </a:prstGeom>
          <a:solidFill>
            <a:srgbClr val="FFFFFF"/>
          </a:solidFill>
          <a:ln w="25400">
            <a:solidFill>
              <a:srgbClr val="EF4444"/>
            </a:solidFill>
            <a:prstDash val="solid"/>
          </a:ln>
        </p:spPr>
      </p:sp>
      <p:sp>
        <p:nvSpPr>
          <p:cNvPr id="5" name="Text 3"/>
          <p:cNvSpPr/>
          <p:nvPr/>
        </p:nvSpPr>
        <p:spPr>
          <a:xfrm>
            <a:off x="640080" y="1444752"/>
            <a:ext cx="1828800" cy="201168"/>
          </a:xfrm>
          <a:prstGeom prst="rect">
            <a:avLst/>
          </a:prstGeom>
          <a:noFill/>
          <a:ln/>
        </p:spPr>
        <p:txBody>
          <a:bodyPr wrap="square" rtlCol="0" anchor="ctr"/>
          <a:lstStyle/>
          <a:p>
            <a:pPr marL="0" indent="0">
              <a:buNone/>
            </a:pPr>
            <a:r>
              <a:rPr lang="en-US" sz="1300" b="1" dirty="0">
                <a:solidFill>
                  <a:srgbClr val="EF4444"/>
                </a:solidFill>
              </a:rPr>
              <a:t>#N/A Error</a:t>
            </a:r>
            <a:endParaRPr lang="en-US" sz="1300" dirty="0"/>
          </a:p>
        </p:txBody>
      </p:sp>
      <p:sp>
        <p:nvSpPr>
          <p:cNvPr id="6" name="Text 4"/>
          <p:cNvSpPr/>
          <p:nvPr/>
        </p:nvSpPr>
        <p:spPr>
          <a:xfrm>
            <a:off x="2560320" y="1444752"/>
            <a:ext cx="5943600" cy="201168"/>
          </a:xfrm>
          <a:prstGeom prst="rect">
            <a:avLst/>
          </a:prstGeom>
          <a:noFill/>
          <a:ln/>
        </p:spPr>
        <p:txBody>
          <a:bodyPr wrap="square" rtlCol="0" anchor="ctr"/>
          <a:lstStyle/>
          <a:p>
            <a:pPr marL="0" indent="0">
              <a:buNone/>
            </a:pPr>
            <a:r>
              <a:rPr lang="en-US" sz="1100" i="1" dirty="0">
                <a:solidFill>
                  <a:srgbClr val="1F2937"/>
                </a:solidFill>
              </a:rPr>
              <a:t>Value not found in table</a:t>
            </a:r>
            <a:endParaRPr lang="en-US" sz="1100" dirty="0"/>
          </a:p>
        </p:txBody>
      </p:sp>
      <p:sp>
        <p:nvSpPr>
          <p:cNvPr id="7" name="Text 5"/>
          <p:cNvSpPr/>
          <p:nvPr/>
        </p:nvSpPr>
        <p:spPr>
          <a:xfrm>
            <a:off x="640080" y="1691640"/>
            <a:ext cx="7863840" cy="182880"/>
          </a:xfrm>
          <a:prstGeom prst="rect">
            <a:avLst/>
          </a:prstGeom>
          <a:noFill/>
          <a:ln/>
        </p:spPr>
        <p:txBody>
          <a:bodyPr wrap="square" rtlCol="0" anchor="ctr"/>
          <a:lstStyle/>
          <a:p>
            <a:pPr marL="0" indent="0">
              <a:buNone/>
            </a:pPr>
            <a:r>
              <a:rPr lang="en-US" sz="800" dirty="0">
                <a:solidFill>
                  <a:srgbClr val="1F2937"/>
                </a:solidFill>
              </a:rPr>
              <a:t>Causes: Lookup value doesn't exist in first column • Extra spaces in data • Different data types (text vs number)</a:t>
            </a:r>
            <a:endParaRPr lang="en-US" sz="800" dirty="0"/>
          </a:p>
        </p:txBody>
      </p:sp>
      <p:sp>
        <p:nvSpPr>
          <p:cNvPr id="8" name="Shape 6"/>
          <p:cNvSpPr/>
          <p:nvPr/>
        </p:nvSpPr>
        <p:spPr>
          <a:xfrm>
            <a:off x="640080" y="1901952"/>
            <a:ext cx="7863840" cy="164592"/>
          </a:xfrm>
          <a:prstGeom prst="rect">
            <a:avLst/>
          </a:prstGeom>
          <a:solidFill>
            <a:srgbClr val="10B981"/>
          </a:solidFill>
          <a:ln/>
        </p:spPr>
      </p:sp>
      <p:sp>
        <p:nvSpPr>
          <p:cNvPr id="9" name="Text 7"/>
          <p:cNvSpPr/>
          <p:nvPr/>
        </p:nvSpPr>
        <p:spPr>
          <a:xfrm>
            <a:off x="731520" y="1920240"/>
            <a:ext cx="7680960" cy="128016"/>
          </a:xfrm>
          <a:prstGeom prst="rect">
            <a:avLst/>
          </a:prstGeom>
          <a:noFill/>
          <a:ln/>
        </p:spPr>
        <p:txBody>
          <a:bodyPr wrap="square" rtlCol="0" anchor="ctr"/>
          <a:lstStyle/>
          <a:p>
            <a:pPr marL="0" indent="0">
              <a:buNone/>
            </a:pPr>
            <a:r>
              <a:rPr lang="en-US" sz="800" b="1" dirty="0">
                <a:solidFill>
                  <a:srgbClr val="0A1628"/>
                </a:solidFill>
              </a:rPr>
              <a:t>✓ Fix: Double-check spelling, trim spaces, ensure exact match</a:t>
            </a:r>
            <a:endParaRPr lang="en-US" sz="800" dirty="0"/>
          </a:p>
        </p:txBody>
      </p:sp>
      <p:sp>
        <p:nvSpPr>
          <p:cNvPr id="10" name="Shape 8"/>
          <p:cNvSpPr/>
          <p:nvPr/>
        </p:nvSpPr>
        <p:spPr>
          <a:xfrm>
            <a:off x="457200" y="2194560"/>
            <a:ext cx="8229600" cy="749808"/>
          </a:xfrm>
          <a:prstGeom prst="rect">
            <a:avLst/>
          </a:prstGeom>
          <a:solidFill>
            <a:srgbClr val="FFFFFF"/>
          </a:solidFill>
          <a:ln w="25400">
            <a:solidFill>
              <a:srgbClr val="EF4444"/>
            </a:solidFill>
            <a:prstDash val="solid"/>
          </a:ln>
        </p:spPr>
      </p:sp>
      <p:sp>
        <p:nvSpPr>
          <p:cNvPr id="11" name="Text 9"/>
          <p:cNvSpPr/>
          <p:nvPr/>
        </p:nvSpPr>
        <p:spPr>
          <a:xfrm>
            <a:off x="640080" y="2267712"/>
            <a:ext cx="1828800" cy="201168"/>
          </a:xfrm>
          <a:prstGeom prst="rect">
            <a:avLst/>
          </a:prstGeom>
          <a:noFill/>
          <a:ln/>
        </p:spPr>
        <p:txBody>
          <a:bodyPr wrap="square" rtlCol="0" anchor="ctr"/>
          <a:lstStyle/>
          <a:p>
            <a:pPr marL="0" indent="0">
              <a:buNone/>
            </a:pPr>
            <a:r>
              <a:rPr lang="en-US" sz="1300" b="1" dirty="0">
                <a:solidFill>
                  <a:srgbClr val="EF4444"/>
                </a:solidFill>
              </a:rPr>
              <a:t>#REF! Error</a:t>
            </a:r>
            <a:endParaRPr lang="en-US" sz="1300" dirty="0"/>
          </a:p>
        </p:txBody>
      </p:sp>
      <p:sp>
        <p:nvSpPr>
          <p:cNvPr id="12" name="Text 10"/>
          <p:cNvSpPr/>
          <p:nvPr/>
        </p:nvSpPr>
        <p:spPr>
          <a:xfrm>
            <a:off x="2560320" y="2267712"/>
            <a:ext cx="5943600" cy="201168"/>
          </a:xfrm>
          <a:prstGeom prst="rect">
            <a:avLst/>
          </a:prstGeom>
          <a:noFill/>
          <a:ln/>
        </p:spPr>
        <p:txBody>
          <a:bodyPr wrap="square" rtlCol="0" anchor="ctr"/>
          <a:lstStyle/>
          <a:p>
            <a:pPr marL="0" indent="0">
              <a:buNone/>
            </a:pPr>
            <a:r>
              <a:rPr lang="en-US" sz="1100" i="1" dirty="0">
                <a:solidFill>
                  <a:srgbClr val="1F2937"/>
                </a:solidFill>
              </a:rPr>
              <a:t>Column index is too large</a:t>
            </a:r>
            <a:endParaRPr lang="en-US" sz="1100" dirty="0"/>
          </a:p>
        </p:txBody>
      </p:sp>
      <p:sp>
        <p:nvSpPr>
          <p:cNvPr id="13" name="Text 11"/>
          <p:cNvSpPr/>
          <p:nvPr/>
        </p:nvSpPr>
        <p:spPr>
          <a:xfrm>
            <a:off x="640080" y="2514600"/>
            <a:ext cx="7863840" cy="182880"/>
          </a:xfrm>
          <a:prstGeom prst="rect">
            <a:avLst/>
          </a:prstGeom>
          <a:noFill/>
          <a:ln/>
        </p:spPr>
        <p:txBody>
          <a:bodyPr wrap="square" rtlCol="0" anchor="ctr"/>
          <a:lstStyle/>
          <a:p>
            <a:pPr marL="0" indent="0">
              <a:buNone/>
            </a:pPr>
            <a:r>
              <a:rPr lang="en-US" sz="800" dirty="0">
                <a:solidFill>
                  <a:srgbClr val="1F2937"/>
                </a:solidFill>
              </a:rPr>
              <a:t>Causes: col_index_num is greater than number of columns • Asked for column 5 but table only has 4 columns</a:t>
            </a:r>
            <a:endParaRPr lang="en-US" sz="800" dirty="0"/>
          </a:p>
        </p:txBody>
      </p:sp>
      <p:sp>
        <p:nvSpPr>
          <p:cNvPr id="14" name="Shape 12"/>
          <p:cNvSpPr/>
          <p:nvPr/>
        </p:nvSpPr>
        <p:spPr>
          <a:xfrm>
            <a:off x="640080" y="2724912"/>
            <a:ext cx="7863840" cy="164592"/>
          </a:xfrm>
          <a:prstGeom prst="rect">
            <a:avLst/>
          </a:prstGeom>
          <a:solidFill>
            <a:srgbClr val="10B981"/>
          </a:solidFill>
          <a:ln/>
        </p:spPr>
      </p:sp>
      <p:sp>
        <p:nvSpPr>
          <p:cNvPr id="15" name="Text 13"/>
          <p:cNvSpPr/>
          <p:nvPr/>
        </p:nvSpPr>
        <p:spPr>
          <a:xfrm>
            <a:off x="731520" y="2743200"/>
            <a:ext cx="7680960" cy="128016"/>
          </a:xfrm>
          <a:prstGeom prst="rect">
            <a:avLst/>
          </a:prstGeom>
          <a:noFill/>
          <a:ln/>
        </p:spPr>
        <p:txBody>
          <a:bodyPr wrap="square" rtlCol="0" anchor="ctr"/>
          <a:lstStyle/>
          <a:p>
            <a:pPr marL="0" indent="0">
              <a:buNone/>
            </a:pPr>
            <a:r>
              <a:rPr lang="en-US" sz="800" b="1" dirty="0">
                <a:solidFill>
                  <a:srgbClr val="0A1628"/>
                </a:solidFill>
              </a:rPr>
              <a:t>✓ Fix: Count your columns - make sure index number is valid</a:t>
            </a:r>
            <a:endParaRPr lang="en-US" sz="800" dirty="0"/>
          </a:p>
        </p:txBody>
      </p:sp>
      <p:sp>
        <p:nvSpPr>
          <p:cNvPr id="16" name="Shape 14"/>
          <p:cNvSpPr/>
          <p:nvPr/>
        </p:nvSpPr>
        <p:spPr>
          <a:xfrm>
            <a:off x="457200" y="3017520"/>
            <a:ext cx="8229600" cy="749808"/>
          </a:xfrm>
          <a:prstGeom prst="rect">
            <a:avLst/>
          </a:prstGeom>
          <a:solidFill>
            <a:srgbClr val="FFFFFF"/>
          </a:solidFill>
          <a:ln w="25400">
            <a:solidFill>
              <a:srgbClr val="EF4444"/>
            </a:solidFill>
            <a:prstDash val="solid"/>
          </a:ln>
        </p:spPr>
      </p:sp>
      <p:sp>
        <p:nvSpPr>
          <p:cNvPr id="17" name="Text 15"/>
          <p:cNvSpPr/>
          <p:nvPr/>
        </p:nvSpPr>
        <p:spPr>
          <a:xfrm>
            <a:off x="640080" y="3090672"/>
            <a:ext cx="1828800" cy="201168"/>
          </a:xfrm>
          <a:prstGeom prst="rect">
            <a:avLst/>
          </a:prstGeom>
          <a:noFill/>
          <a:ln/>
        </p:spPr>
        <p:txBody>
          <a:bodyPr wrap="square" rtlCol="0" anchor="ctr"/>
          <a:lstStyle/>
          <a:p>
            <a:pPr marL="0" indent="0">
              <a:buNone/>
            </a:pPr>
            <a:r>
              <a:rPr lang="en-US" sz="1300" b="1" dirty="0">
                <a:solidFill>
                  <a:srgbClr val="EF4444"/>
                </a:solidFill>
              </a:rPr>
              <a:t>#VALUE! Error</a:t>
            </a:r>
            <a:endParaRPr lang="en-US" sz="1300" dirty="0"/>
          </a:p>
        </p:txBody>
      </p:sp>
      <p:sp>
        <p:nvSpPr>
          <p:cNvPr id="18" name="Text 16"/>
          <p:cNvSpPr/>
          <p:nvPr/>
        </p:nvSpPr>
        <p:spPr>
          <a:xfrm>
            <a:off x="2560320" y="3090672"/>
            <a:ext cx="5943600" cy="201168"/>
          </a:xfrm>
          <a:prstGeom prst="rect">
            <a:avLst/>
          </a:prstGeom>
          <a:noFill/>
          <a:ln/>
        </p:spPr>
        <p:txBody>
          <a:bodyPr wrap="square" rtlCol="0" anchor="ctr"/>
          <a:lstStyle/>
          <a:p>
            <a:pPr marL="0" indent="0">
              <a:buNone/>
            </a:pPr>
            <a:r>
              <a:rPr lang="en-US" sz="1100" i="1" dirty="0">
                <a:solidFill>
                  <a:srgbClr val="1F2937"/>
                </a:solidFill>
              </a:rPr>
              <a:t>Wrong data type</a:t>
            </a:r>
            <a:endParaRPr lang="en-US" sz="1100" dirty="0"/>
          </a:p>
        </p:txBody>
      </p:sp>
      <p:sp>
        <p:nvSpPr>
          <p:cNvPr id="19" name="Text 17"/>
          <p:cNvSpPr/>
          <p:nvPr/>
        </p:nvSpPr>
        <p:spPr>
          <a:xfrm>
            <a:off x="640080" y="3337560"/>
            <a:ext cx="7863840" cy="182880"/>
          </a:xfrm>
          <a:prstGeom prst="rect">
            <a:avLst/>
          </a:prstGeom>
          <a:noFill/>
          <a:ln/>
        </p:spPr>
        <p:txBody>
          <a:bodyPr wrap="square" rtlCol="0" anchor="ctr"/>
          <a:lstStyle/>
          <a:p>
            <a:pPr marL="0" indent="0">
              <a:buNone/>
            </a:pPr>
            <a:r>
              <a:rPr lang="en-US" sz="800" dirty="0">
                <a:solidFill>
                  <a:srgbClr val="1F2937"/>
                </a:solidFill>
              </a:rPr>
              <a:t>Causes: col_index_num is not a number • table_array is not properly selected</a:t>
            </a:r>
            <a:endParaRPr lang="en-US" sz="800" dirty="0"/>
          </a:p>
        </p:txBody>
      </p:sp>
      <p:sp>
        <p:nvSpPr>
          <p:cNvPr id="20" name="Shape 18"/>
          <p:cNvSpPr/>
          <p:nvPr/>
        </p:nvSpPr>
        <p:spPr>
          <a:xfrm>
            <a:off x="640080" y="3547872"/>
            <a:ext cx="7863840" cy="164592"/>
          </a:xfrm>
          <a:prstGeom prst="rect">
            <a:avLst/>
          </a:prstGeom>
          <a:solidFill>
            <a:srgbClr val="10B981"/>
          </a:solidFill>
          <a:ln/>
        </p:spPr>
      </p:sp>
      <p:sp>
        <p:nvSpPr>
          <p:cNvPr id="21" name="Text 19"/>
          <p:cNvSpPr/>
          <p:nvPr/>
        </p:nvSpPr>
        <p:spPr>
          <a:xfrm>
            <a:off x="731520" y="3566160"/>
            <a:ext cx="7680960" cy="128016"/>
          </a:xfrm>
          <a:prstGeom prst="rect">
            <a:avLst/>
          </a:prstGeom>
          <a:noFill/>
          <a:ln/>
        </p:spPr>
        <p:txBody>
          <a:bodyPr wrap="square" rtlCol="0" anchor="ctr"/>
          <a:lstStyle/>
          <a:p>
            <a:pPr marL="0" indent="0">
              <a:buNone/>
            </a:pPr>
            <a:r>
              <a:rPr lang="en-US" sz="800" b="1" dirty="0">
                <a:solidFill>
                  <a:srgbClr val="0A1628"/>
                </a:solidFill>
              </a:rPr>
              <a:t>✓ Fix: Ensure col_index_num is a positive number</a:t>
            </a:r>
            <a:endParaRPr lang="en-US" sz="800" dirty="0"/>
          </a:p>
        </p:txBody>
      </p:sp>
      <p:sp>
        <p:nvSpPr>
          <p:cNvPr id="22" name="Shape 20"/>
          <p:cNvSpPr/>
          <p:nvPr/>
        </p:nvSpPr>
        <p:spPr>
          <a:xfrm>
            <a:off x="457200" y="3840480"/>
            <a:ext cx="8229600" cy="749808"/>
          </a:xfrm>
          <a:prstGeom prst="rect">
            <a:avLst/>
          </a:prstGeom>
          <a:solidFill>
            <a:srgbClr val="FFFFFF"/>
          </a:solidFill>
          <a:ln w="25400">
            <a:solidFill>
              <a:srgbClr val="EF4444"/>
            </a:solidFill>
            <a:prstDash val="solid"/>
          </a:ln>
        </p:spPr>
      </p:sp>
      <p:sp>
        <p:nvSpPr>
          <p:cNvPr id="23" name="Text 21"/>
          <p:cNvSpPr/>
          <p:nvPr/>
        </p:nvSpPr>
        <p:spPr>
          <a:xfrm>
            <a:off x="640080" y="3913632"/>
            <a:ext cx="1828800" cy="201168"/>
          </a:xfrm>
          <a:prstGeom prst="rect">
            <a:avLst/>
          </a:prstGeom>
          <a:noFill/>
          <a:ln/>
        </p:spPr>
        <p:txBody>
          <a:bodyPr wrap="square" rtlCol="0" anchor="ctr"/>
          <a:lstStyle/>
          <a:p>
            <a:pPr marL="0" indent="0">
              <a:buNone/>
            </a:pPr>
            <a:r>
              <a:rPr lang="en-US" sz="1300" b="1" dirty="0">
                <a:solidFill>
                  <a:srgbClr val="EF4444"/>
                </a:solidFill>
              </a:rPr>
              <a:t>Wrong Result</a:t>
            </a:r>
            <a:endParaRPr lang="en-US" sz="1300" dirty="0"/>
          </a:p>
        </p:txBody>
      </p:sp>
      <p:sp>
        <p:nvSpPr>
          <p:cNvPr id="24" name="Text 22"/>
          <p:cNvSpPr/>
          <p:nvPr/>
        </p:nvSpPr>
        <p:spPr>
          <a:xfrm>
            <a:off x="2560320" y="3913632"/>
            <a:ext cx="5943600" cy="201168"/>
          </a:xfrm>
          <a:prstGeom prst="rect">
            <a:avLst/>
          </a:prstGeom>
          <a:noFill/>
          <a:ln/>
        </p:spPr>
        <p:txBody>
          <a:bodyPr wrap="square" rtlCol="0" anchor="ctr"/>
          <a:lstStyle/>
          <a:p>
            <a:pPr marL="0" indent="0">
              <a:buNone/>
            </a:pPr>
            <a:r>
              <a:rPr lang="en-US" sz="1100" i="1" dirty="0">
                <a:solidFill>
                  <a:srgbClr val="1F2937"/>
                </a:solidFill>
              </a:rPr>
              <a:t>Getting data from wrong row</a:t>
            </a:r>
            <a:endParaRPr lang="en-US" sz="1100" dirty="0"/>
          </a:p>
        </p:txBody>
      </p:sp>
      <p:sp>
        <p:nvSpPr>
          <p:cNvPr id="25" name="Text 23"/>
          <p:cNvSpPr/>
          <p:nvPr/>
        </p:nvSpPr>
        <p:spPr>
          <a:xfrm>
            <a:off x="640080" y="4160520"/>
            <a:ext cx="7863840" cy="182880"/>
          </a:xfrm>
          <a:prstGeom prst="rect">
            <a:avLst/>
          </a:prstGeom>
          <a:noFill/>
          <a:ln/>
        </p:spPr>
        <p:txBody>
          <a:bodyPr wrap="square" rtlCol="0" anchor="ctr"/>
          <a:lstStyle/>
          <a:p>
            <a:pPr marL="0" indent="0">
              <a:buNone/>
            </a:pPr>
            <a:r>
              <a:rPr lang="en-US" sz="800" dirty="0">
                <a:solidFill>
                  <a:srgbClr val="1F2937"/>
                </a:solidFill>
              </a:rPr>
              <a:t>Causes: Using TRUE instead of FALSE • Data is not sorted but using approximate match</a:t>
            </a:r>
            <a:endParaRPr lang="en-US" sz="800" dirty="0"/>
          </a:p>
        </p:txBody>
      </p:sp>
      <p:sp>
        <p:nvSpPr>
          <p:cNvPr id="26" name="Shape 24"/>
          <p:cNvSpPr/>
          <p:nvPr/>
        </p:nvSpPr>
        <p:spPr>
          <a:xfrm>
            <a:off x="640080" y="4370832"/>
            <a:ext cx="7863840" cy="164592"/>
          </a:xfrm>
          <a:prstGeom prst="rect">
            <a:avLst/>
          </a:prstGeom>
          <a:solidFill>
            <a:srgbClr val="10B981"/>
          </a:solidFill>
          <a:ln/>
        </p:spPr>
      </p:sp>
      <p:sp>
        <p:nvSpPr>
          <p:cNvPr id="27" name="Text 25"/>
          <p:cNvSpPr/>
          <p:nvPr/>
        </p:nvSpPr>
        <p:spPr>
          <a:xfrm>
            <a:off x="731520" y="4389120"/>
            <a:ext cx="7680960" cy="128016"/>
          </a:xfrm>
          <a:prstGeom prst="rect">
            <a:avLst/>
          </a:prstGeom>
          <a:noFill/>
          <a:ln/>
        </p:spPr>
        <p:txBody>
          <a:bodyPr wrap="square" rtlCol="0" anchor="ctr"/>
          <a:lstStyle/>
          <a:p>
            <a:pPr marL="0" indent="0">
              <a:buNone/>
            </a:pPr>
            <a:r>
              <a:rPr lang="en-US" sz="800" b="1" dirty="0">
                <a:solidFill>
                  <a:srgbClr val="0A1628"/>
                </a:solidFill>
              </a:rPr>
              <a:t>✓ Fix: ALWAYS use FALSE for exact matches</a:t>
            </a:r>
            <a:endParaRPr lang="en-US" sz="800" dirty="0"/>
          </a:p>
        </p:txBody>
      </p:sp>
      <p:sp>
        <p:nvSpPr>
          <p:cNvPr id="28" name="Text 26"/>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VLOOKUP BEST PRACTICES</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dirty="0">
                <a:solidFill>
                  <a:srgbClr val="1F2937"/>
                </a:solidFill>
              </a:rPr>
              <a:t>Pro tips for using VLOOKUP like an expert</a:t>
            </a:r>
            <a:endParaRPr lang="en-US" sz="1600" dirty="0"/>
          </a:p>
        </p:txBody>
      </p:sp>
      <p:sp>
        <p:nvSpPr>
          <p:cNvPr id="4" name="Shape 2"/>
          <p:cNvSpPr/>
          <p:nvPr/>
        </p:nvSpPr>
        <p:spPr>
          <a:xfrm>
            <a:off x="457200" y="1371600"/>
            <a:ext cx="8229600" cy="594360"/>
          </a:xfrm>
          <a:prstGeom prst="rect">
            <a:avLst/>
          </a:prstGeom>
          <a:solidFill>
            <a:srgbClr val="FFFFFF"/>
          </a:solidFill>
          <a:ln w="12700">
            <a:solidFill>
              <a:srgbClr val="10B981"/>
            </a:solidFill>
            <a:prstDash val="solid"/>
          </a:ln>
          <a:effectLst>
            <a:outerShdw blurRad="483870000" dist="161290000" algn="bl" rotWithShape="0">
              <a:srgbClr val="000000">
                <a:alpha val="0"/>
              </a:srgbClr>
            </a:outerShdw>
          </a:effectLst>
        </p:spPr>
      </p:sp>
      <p:sp>
        <p:nvSpPr>
          <p:cNvPr id="5" name="Shape 3"/>
          <p:cNvSpPr/>
          <p:nvPr/>
        </p:nvSpPr>
        <p:spPr>
          <a:xfrm>
            <a:off x="594360" y="1463040"/>
            <a:ext cx="182880" cy="182880"/>
          </a:xfrm>
          <a:prstGeom prst="ellipse">
            <a:avLst/>
          </a:prstGeom>
          <a:solidFill>
            <a:srgbClr val="10B981"/>
          </a:solidFill>
          <a:ln/>
        </p:spPr>
      </p:sp>
      <p:sp>
        <p:nvSpPr>
          <p:cNvPr id="6" name="Text 4"/>
          <p:cNvSpPr/>
          <p:nvPr/>
        </p:nvSpPr>
        <p:spPr>
          <a:xfrm>
            <a:off x="594360" y="1463040"/>
            <a:ext cx="182880" cy="182880"/>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868680" y="1444752"/>
            <a:ext cx="7680960" cy="182880"/>
          </a:xfrm>
          <a:prstGeom prst="rect">
            <a:avLst/>
          </a:prstGeom>
          <a:noFill/>
          <a:ln/>
        </p:spPr>
        <p:txBody>
          <a:bodyPr wrap="square" rtlCol="0" anchor="ctr"/>
          <a:lstStyle/>
          <a:p>
            <a:pPr marL="0" indent="0">
              <a:buNone/>
            </a:pPr>
            <a:r>
              <a:rPr lang="en-US" sz="1100" b="1" dirty="0">
                <a:solidFill>
                  <a:srgbClr val="0A1628"/>
                </a:solidFill>
              </a:rPr>
              <a:t>Always Use FALSE (Exact Match)</a:t>
            </a:r>
            <a:endParaRPr lang="en-US" sz="1100" dirty="0"/>
          </a:p>
        </p:txBody>
      </p:sp>
      <p:sp>
        <p:nvSpPr>
          <p:cNvPr id="8" name="Text 6"/>
          <p:cNvSpPr/>
          <p:nvPr/>
        </p:nvSpPr>
        <p:spPr>
          <a:xfrm>
            <a:off x="868680" y="1645920"/>
            <a:ext cx="7680960" cy="146304"/>
          </a:xfrm>
          <a:prstGeom prst="rect">
            <a:avLst/>
          </a:prstGeom>
          <a:noFill/>
          <a:ln/>
        </p:spPr>
        <p:txBody>
          <a:bodyPr wrap="square" rtlCol="0" anchor="ctr"/>
          <a:lstStyle/>
          <a:p>
            <a:pPr marL="0" indent="0">
              <a:buNone/>
            </a:pPr>
            <a:r>
              <a:rPr lang="en-US" sz="900" dirty="0">
                <a:solidFill>
                  <a:srgbClr val="1F2937"/>
                </a:solidFill>
              </a:rPr>
              <a:t>Why: Using TRUE can return wrong results if data isn't sorted</a:t>
            </a:r>
            <a:endParaRPr lang="en-US" sz="900" dirty="0"/>
          </a:p>
        </p:txBody>
      </p:sp>
      <p:sp>
        <p:nvSpPr>
          <p:cNvPr id="9" name="Text 7"/>
          <p:cNvSpPr/>
          <p:nvPr/>
        </p:nvSpPr>
        <p:spPr>
          <a:xfrm>
            <a:off x="868680" y="1810512"/>
            <a:ext cx="7680960" cy="128016"/>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=VLOOKUP("E001", A2:D100, 4, FALSE)</a:t>
            </a:r>
            <a:endParaRPr lang="en-US" sz="800" dirty="0"/>
          </a:p>
        </p:txBody>
      </p:sp>
      <p:sp>
        <p:nvSpPr>
          <p:cNvPr id="10" name="Shape 8"/>
          <p:cNvSpPr/>
          <p:nvPr/>
        </p:nvSpPr>
        <p:spPr>
          <a:xfrm>
            <a:off x="457200" y="2029968"/>
            <a:ext cx="8229600" cy="594360"/>
          </a:xfrm>
          <a:prstGeom prst="rect">
            <a:avLst/>
          </a:prstGeom>
          <a:solidFill>
            <a:srgbClr val="FFFFFF"/>
          </a:solidFill>
          <a:ln w="12700">
            <a:solidFill>
              <a:srgbClr val="10B981"/>
            </a:solidFill>
            <a:prstDash val="solid"/>
          </a:ln>
          <a:effectLst>
            <a:outerShdw blurRad="483870000" dist="161290000" algn="bl" rotWithShape="0">
              <a:srgbClr val="000000">
                <a:alpha val="0"/>
              </a:srgbClr>
            </a:outerShdw>
          </a:effectLst>
        </p:spPr>
      </p:sp>
      <p:sp>
        <p:nvSpPr>
          <p:cNvPr id="11" name="Shape 9"/>
          <p:cNvSpPr/>
          <p:nvPr/>
        </p:nvSpPr>
        <p:spPr>
          <a:xfrm>
            <a:off x="594360" y="2121408"/>
            <a:ext cx="182880" cy="182880"/>
          </a:xfrm>
          <a:prstGeom prst="ellipse">
            <a:avLst/>
          </a:prstGeom>
          <a:solidFill>
            <a:srgbClr val="10B981"/>
          </a:solidFill>
          <a:ln/>
        </p:spPr>
      </p:sp>
      <p:sp>
        <p:nvSpPr>
          <p:cNvPr id="12" name="Text 10"/>
          <p:cNvSpPr/>
          <p:nvPr/>
        </p:nvSpPr>
        <p:spPr>
          <a:xfrm>
            <a:off x="594360" y="2121408"/>
            <a:ext cx="182880" cy="182880"/>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13" name="Text 11"/>
          <p:cNvSpPr/>
          <p:nvPr/>
        </p:nvSpPr>
        <p:spPr>
          <a:xfrm>
            <a:off x="868680" y="2103120"/>
            <a:ext cx="7680960" cy="182880"/>
          </a:xfrm>
          <a:prstGeom prst="rect">
            <a:avLst/>
          </a:prstGeom>
          <a:noFill/>
          <a:ln/>
        </p:spPr>
        <p:txBody>
          <a:bodyPr wrap="square" rtlCol="0" anchor="ctr"/>
          <a:lstStyle/>
          <a:p>
            <a:pPr marL="0" indent="0">
              <a:buNone/>
            </a:pPr>
            <a:r>
              <a:rPr lang="en-US" sz="1100" b="1" dirty="0">
                <a:solidFill>
                  <a:srgbClr val="0A1628"/>
                </a:solidFill>
              </a:rPr>
              <a:t>Use Absolute References for Table</a:t>
            </a:r>
            <a:endParaRPr lang="en-US" sz="1100" dirty="0"/>
          </a:p>
        </p:txBody>
      </p:sp>
      <p:sp>
        <p:nvSpPr>
          <p:cNvPr id="14" name="Text 12"/>
          <p:cNvSpPr/>
          <p:nvPr/>
        </p:nvSpPr>
        <p:spPr>
          <a:xfrm>
            <a:off x="868680" y="2304288"/>
            <a:ext cx="7680960" cy="146304"/>
          </a:xfrm>
          <a:prstGeom prst="rect">
            <a:avLst/>
          </a:prstGeom>
          <a:noFill/>
          <a:ln/>
        </p:spPr>
        <p:txBody>
          <a:bodyPr wrap="square" rtlCol="0" anchor="ctr"/>
          <a:lstStyle/>
          <a:p>
            <a:pPr marL="0" indent="0">
              <a:buNone/>
            </a:pPr>
            <a:r>
              <a:rPr lang="en-US" sz="900" dirty="0">
                <a:solidFill>
                  <a:srgbClr val="1F2937"/>
                </a:solidFill>
              </a:rPr>
              <a:t>Why: Lock table range so it doesn't change when copying formula</a:t>
            </a:r>
            <a:endParaRPr lang="en-US" sz="900" dirty="0"/>
          </a:p>
        </p:txBody>
      </p:sp>
      <p:sp>
        <p:nvSpPr>
          <p:cNvPr id="15" name="Text 13"/>
          <p:cNvSpPr/>
          <p:nvPr/>
        </p:nvSpPr>
        <p:spPr>
          <a:xfrm>
            <a:off x="868680" y="2468880"/>
            <a:ext cx="7680960" cy="128016"/>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=VLOOKUP(F2, $A$2:$D$100, 4, FALSE)</a:t>
            </a:r>
            <a:endParaRPr lang="en-US" sz="800" dirty="0"/>
          </a:p>
        </p:txBody>
      </p:sp>
      <p:sp>
        <p:nvSpPr>
          <p:cNvPr id="16" name="Shape 14"/>
          <p:cNvSpPr/>
          <p:nvPr/>
        </p:nvSpPr>
        <p:spPr>
          <a:xfrm>
            <a:off x="457200" y="2688336"/>
            <a:ext cx="8229600" cy="594360"/>
          </a:xfrm>
          <a:prstGeom prst="rect">
            <a:avLst/>
          </a:prstGeom>
          <a:solidFill>
            <a:srgbClr val="FFFFFF"/>
          </a:solidFill>
          <a:ln w="12700">
            <a:solidFill>
              <a:srgbClr val="10B981"/>
            </a:solidFill>
            <a:prstDash val="solid"/>
          </a:ln>
          <a:effectLst>
            <a:outerShdw blurRad="483870000" dist="161290000" algn="bl" rotWithShape="0">
              <a:srgbClr val="000000">
                <a:alpha val="0"/>
              </a:srgbClr>
            </a:outerShdw>
          </a:effectLst>
        </p:spPr>
      </p:sp>
      <p:sp>
        <p:nvSpPr>
          <p:cNvPr id="17" name="Shape 15"/>
          <p:cNvSpPr/>
          <p:nvPr/>
        </p:nvSpPr>
        <p:spPr>
          <a:xfrm>
            <a:off x="594360" y="2779776"/>
            <a:ext cx="182880" cy="182880"/>
          </a:xfrm>
          <a:prstGeom prst="ellipse">
            <a:avLst/>
          </a:prstGeom>
          <a:solidFill>
            <a:srgbClr val="10B981"/>
          </a:solidFill>
          <a:ln/>
        </p:spPr>
      </p:sp>
      <p:sp>
        <p:nvSpPr>
          <p:cNvPr id="18" name="Text 16"/>
          <p:cNvSpPr/>
          <p:nvPr/>
        </p:nvSpPr>
        <p:spPr>
          <a:xfrm>
            <a:off x="594360" y="2779776"/>
            <a:ext cx="182880" cy="182880"/>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868680" y="2761488"/>
            <a:ext cx="7680960" cy="182880"/>
          </a:xfrm>
          <a:prstGeom prst="rect">
            <a:avLst/>
          </a:prstGeom>
          <a:noFill/>
          <a:ln/>
        </p:spPr>
        <p:txBody>
          <a:bodyPr wrap="square" rtlCol="0" anchor="ctr"/>
          <a:lstStyle/>
          <a:p>
            <a:pPr marL="0" indent="0">
              <a:buNone/>
            </a:pPr>
            <a:r>
              <a:rPr lang="en-US" sz="1100" b="1" dirty="0">
                <a:solidFill>
                  <a:srgbClr val="0A1628"/>
                </a:solidFill>
              </a:rPr>
              <a:t>Lookup Value Must Be in FIRST Column</a:t>
            </a:r>
            <a:endParaRPr lang="en-US" sz="1100" dirty="0"/>
          </a:p>
        </p:txBody>
      </p:sp>
      <p:sp>
        <p:nvSpPr>
          <p:cNvPr id="20" name="Text 18"/>
          <p:cNvSpPr/>
          <p:nvPr/>
        </p:nvSpPr>
        <p:spPr>
          <a:xfrm>
            <a:off x="868680" y="2962656"/>
            <a:ext cx="7680960" cy="146304"/>
          </a:xfrm>
          <a:prstGeom prst="rect">
            <a:avLst/>
          </a:prstGeom>
          <a:noFill/>
          <a:ln/>
        </p:spPr>
        <p:txBody>
          <a:bodyPr wrap="square" rtlCol="0" anchor="ctr"/>
          <a:lstStyle/>
          <a:p>
            <a:pPr marL="0" indent="0">
              <a:buNone/>
            </a:pPr>
            <a:r>
              <a:rPr lang="en-US" sz="900" dirty="0">
                <a:solidFill>
                  <a:srgbClr val="1F2937"/>
                </a:solidFill>
              </a:rPr>
              <a:t>Why: VLOOKUP can only search the leftmost column of your range</a:t>
            </a:r>
            <a:endParaRPr lang="en-US" sz="900" dirty="0"/>
          </a:p>
        </p:txBody>
      </p:sp>
      <p:sp>
        <p:nvSpPr>
          <p:cNvPr id="21" name="Text 19"/>
          <p:cNvSpPr/>
          <p:nvPr/>
        </p:nvSpPr>
        <p:spPr>
          <a:xfrm>
            <a:off x="868680" y="3127248"/>
            <a:ext cx="7680960" cy="128016"/>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Can't lookup Name if ID is in first column - rearrange data</a:t>
            </a:r>
            <a:endParaRPr lang="en-US" sz="800" dirty="0"/>
          </a:p>
        </p:txBody>
      </p:sp>
      <p:sp>
        <p:nvSpPr>
          <p:cNvPr id="22" name="Shape 20"/>
          <p:cNvSpPr/>
          <p:nvPr/>
        </p:nvSpPr>
        <p:spPr>
          <a:xfrm>
            <a:off x="457200" y="3346704"/>
            <a:ext cx="8229600" cy="594360"/>
          </a:xfrm>
          <a:prstGeom prst="rect">
            <a:avLst/>
          </a:prstGeom>
          <a:solidFill>
            <a:srgbClr val="FFFFFF"/>
          </a:solidFill>
          <a:ln w="12700">
            <a:solidFill>
              <a:srgbClr val="10B981"/>
            </a:solidFill>
            <a:prstDash val="solid"/>
          </a:ln>
          <a:effectLst>
            <a:outerShdw blurRad="483870000" dist="161290000" algn="bl" rotWithShape="0">
              <a:srgbClr val="000000">
                <a:alpha val="0"/>
              </a:srgbClr>
            </a:outerShdw>
          </a:effectLst>
        </p:spPr>
      </p:sp>
      <p:sp>
        <p:nvSpPr>
          <p:cNvPr id="23" name="Shape 21"/>
          <p:cNvSpPr/>
          <p:nvPr/>
        </p:nvSpPr>
        <p:spPr>
          <a:xfrm>
            <a:off x="594360" y="3438144"/>
            <a:ext cx="182880" cy="182880"/>
          </a:xfrm>
          <a:prstGeom prst="ellipse">
            <a:avLst/>
          </a:prstGeom>
          <a:solidFill>
            <a:srgbClr val="10B981"/>
          </a:solidFill>
          <a:ln/>
        </p:spPr>
      </p:sp>
      <p:sp>
        <p:nvSpPr>
          <p:cNvPr id="24" name="Text 22"/>
          <p:cNvSpPr/>
          <p:nvPr/>
        </p:nvSpPr>
        <p:spPr>
          <a:xfrm>
            <a:off x="594360" y="3438144"/>
            <a:ext cx="182880" cy="182880"/>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25" name="Text 23"/>
          <p:cNvSpPr/>
          <p:nvPr/>
        </p:nvSpPr>
        <p:spPr>
          <a:xfrm>
            <a:off x="868680" y="3419856"/>
            <a:ext cx="7680960" cy="182880"/>
          </a:xfrm>
          <a:prstGeom prst="rect">
            <a:avLst/>
          </a:prstGeom>
          <a:noFill/>
          <a:ln/>
        </p:spPr>
        <p:txBody>
          <a:bodyPr wrap="square" rtlCol="0" anchor="ctr"/>
          <a:lstStyle/>
          <a:p>
            <a:pPr marL="0" indent="0">
              <a:buNone/>
            </a:pPr>
            <a:r>
              <a:rPr lang="en-US" sz="1100" b="1" dirty="0">
                <a:solidFill>
                  <a:srgbClr val="0A1628"/>
                </a:solidFill>
              </a:rPr>
              <a:t>Clean Your Data First</a:t>
            </a:r>
            <a:endParaRPr lang="en-US" sz="1100" dirty="0"/>
          </a:p>
        </p:txBody>
      </p:sp>
      <p:sp>
        <p:nvSpPr>
          <p:cNvPr id="26" name="Text 24"/>
          <p:cNvSpPr/>
          <p:nvPr/>
        </p:nvSpPr>
        <p:spPr>
          <a:xfrm>
            <a:off x="868680" y="3621024"/>
            <a:ext cx="7680960" cy="146304"/>
          </a:xfrm>
          <a:prstGeom prst="rect">
            <a:avLst/>
          </a:prstGeom>
          <a:noFill/>
          <a:ln/>
        </p:spPr>
        <p:txBody>
          <a:bodyPr wrap="square" rtlCol="0" anchor="ctr"/>
          <a:lstStyle/>
          <a:p>
            <a:pPr marL="0" indent="0">
              <a:buNone/>
            </a:pPr>
            <a:r>
              <a:rPr lang="en-US" sz="900" dirty="0">
                <a:solidFill>
                  <a:srgbClr val="1F2937"/>
                </a:solidFill>
              </a:rPr>
              <a:t>Why: Extra spaces and inconsistent formatting cause #N/A errors</a:t>
            </a:r>
            <a:endParaRPr lang="en-US" sz="900" dirty="0"/>
          </a:p>
        </p:txBody>
      </p:sp>
      <p:sp>
        <p:nvSpPr>
          <p:cNvPr id="27" name="Text 25"/>
          <p:cNvSpPr/>
          <p:nvPr/>
        </p:nvSpPr>
        <p:spPr>
          <a:xfrm>
            <a:off x="868680" y="3785616"/>
            <a:ext cx="7680960" cy="128016"/>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Use TRIM() function to remove extra spaces</a:t>
            </a:r>
            <a:endParaRPr lang="en-US" sz="800" dirty="0"/>
          </a:p>
        </p:txBody>
      </p:sp>
      <p:sp>
        <p:nvSpPr>
          <p:cNvPr id="28" name="Shape 26"/>
          <p:cNvSpPr/>
          <p:nvPr/>
        </p:nvSpPr>
        <p:spPr>
          <a:xfrm>
            <a:off x="457200" y="4005072"/>
            <a:ext cx="8229600" cy="594360"/>
          </a:xfrm>
          <a:prstGeom prst="rect">
            <a:avLst/>
          </a:prstGeom>
          <a:solidFill>
            <a:srgbClr val="FFFFFF"/>
          </a:solidFill>
          <a:ln w="12700">
            <a:solidFill>
              <a:srgbClr val="10B981"/>
            </a:solidFill>
            <a:prstDash val="solid"/>
          </a:ln>
          <a:effectLst>
            <a:outerShdw blurRad="483870000" dist="161290000" algn="bl" rotWithShape="0">
              <a:srgbClr val="000000">
                <a:alpha val="0"/>
              </a:srgbClr>
            </a:outerShdw>
          </a:effectLst>
        </p:spPr>
      </p:sp>
      <p:sp>
        <p:nvSpPr>
          <p:cNvPr id="29" name="Shape 27"/>
          <p:cNvSpPr/>
          <p:nvPr/>
        </p:nvSpPr>
        <p:spPr>
          <a:xfrm>
            <a:off x="594360" y="4096512"/>
            <a:ext cx="182880" cy="182880"/>
          </a:xfrm>
          <a:prstGeom prst="ellipse">
            <a:avLst/>
          </a:prstGeom>
          <a:solidFill>
            <a:srgbClr val="10B981"/>
          </a:solidFill>
          <a:ln/>
        </p:spPr>
      </p:sp>
      <p:sp>
        <p:nvSpPr>
          <p:cNvPr id="30" name="Text 28"/>
          <p:cNvSpPr/>
          <p:nvPr/>
        </p:nvSpPr>
        <p:spPr>
          <a:xfrm>
            <a:off x="594360" y="4096512"/>
            <a:ext cx="182880" cy="182880"/>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31" name="Text 29"/>
          <p:cNvSpPr/>
          <p:nvPr/>
        </p:nvSpPr>
        <p:spPr>
          <a:xfrm>
            <a:off x="868680" y="4078224"/>
            <a:ext cx="7680960" cy="182880"/>
          </a:xfrm>
          <a:prstGeom prst="rect">
            <a:avLst/>
          </a:prstGeom>
          <a:noFill/>
          <a:ln/>
        </p:spPr>
        <p:txBody>
          <a:bodyPr wrap="square" rtlCol="0" anchor="ctr"/>
          <a:lstStyle/>
          <a:p>
            <a:pPr marL="0" indent="0">
              <a:buNone/>
            </a:pPr>
            <a:r>
              <a:rPr lang="en-US" sz="1100" b="1" dirty="0">
                <a:solidFill>
                  <a:srgbClr val="0A1628"/>
                </a:solidFill>
              </a:rPr>
              <a:t>Consider INDEX-MATCH for Advanced Needs</a:t>
            </a:r>
            <a:endParaRPr lang="en-US" sz="1100" dirty="0"/>
          </a:p>
        </p:txBody>
      </p:sp>
      <p:sp>
        <p:nvSpPr>
          <p:cNvPr id="32" name="Text 30"/>
          <p:cNvSpPr/>
          <p:nvPr/>
        </p:nvSpPr>
        <p:spPr>
          <a:xfrm>
            <a:off x="868680" y="4279392"/>
            <a:ext cx="7680960" cy="146304"/>
          </a:xfrm>
          <a:prstGeom prst="rect">
            <a:avLst/>
          </a:prstGeom>
          <a:noFill/>
          <a:ln/>
        </p:spPr>
        <p:txBody>
          <a:bodyPr wrap="square" rtlCol="0" anchor="ctr"/>
          <a:lstStyle/>
          <a:p>
            <a:pPr marL="0" indent="0">
              <a:buNone/>
            </a:pPr>
            <a:r>
              <a:rPr lang="en-US" sz="900" dirty="0">
                <a:solidFill>
                  <a:srgbClr val="1F2937"/>
                </a:solidFill>
              </a:rPr>
              <a:t>Why: More flexible - can look left, handles inserted columns better</a:t>
            </a:r>
            <a:endParaRPr lang="en-US" sz="900" dirty="0"/>
          </a:p>
        </p:txBody>
      </p:sp>
      <p:sp>
        <p:nvSpPr>
          <p:cNvPr id="33" name="Text 31"/>
          <p:cNvSpPr/>
          <p:nvPr/>
        </p:nvSpPr>
        <p:spPr>
          <a:xfrm>
            <a:off x="868680" y="4443984"/>
            <a:ext cx="7680960" cy="128016"/>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We'll learn this today!</a:t>
            </a:r>
            <a:endParaRPr lang="en-US" sz="800" dirty="0"/>
          </a:p>
        </p:txBody>
      </p:sp>
      <p:sp>
        <p:nvSpPr>
          <p:cNvPr id="34" name="Text 32"/>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HLOOKUP FUNCTION</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500" dirty="0">
                <a:solidFill>
                  <a:srgbClr val="1F2937"/>
                </a:solidFill>
              </a:rPr>
              <a:t>Horizontal Lookup - Search across a row, return value from same column</a:t>
            </a:r>
            <a:endParaRPr lang="en-US" sz="1500" dirty="0"/>
          </a:p>
        </p:txBody>
      </p:sp>
      <p:sp>
        <p:nvSpPr>
          <p:cNvPr id="4" name="Shape 2"/>
          <p:cNvSpPr/>
          <p:nvPr/>
        </p:nvSpPr>
        <p:spPr>
          <a:xfrm>
            <a:off x="457200" y="1371600"/>
            <a:ext cx="8229600" cy="822960"/>
          </a:xfrm>
          <a:prstGeom prst="rect">
            <a:avLst/>
          </a:prstGeom>
          <a:solidFill>
            <a:srgbClr val="FFFFFF"/>
          </a:solidFill>
          <a:ln w="25400">
            <a:solidFill>
              <a:srgbClr val="F59E0B"/>
            </a:solidFill>
            <a:prstDash val="solid"/>
          </a:ln>
          <a:effectLst>
            <a:outerShdw blurRad="967740000" dist="322580000" algn="bl" rotWithShape="0">
              <a:srgbClr val="000000">
                <a:alpha val="0"/>
              </a:srgbClr>
            </a:outerShdw>
          </a:effectLst>
        </p:spPr>
      </p:sp>
      <p:sp>
        <p:nvSpPr>
          <p:cNvPr id="5" name="Text 3"/>
          <p:cNvSpPr/>
          <p:nvPr/>
        </p:nvSpPr>
        <p:spPr>
          <a:xfrm>
            <a:off x="640080" y="1508760"/>
            <a:ext cx="1371600" cy="274320"/>
          </a:xfrm>
          <a:prstGeom prst="rect">
            <a:avLst/>
          </a:prstGeom>
          <a:noFill/>
          <a:ln/>
        </p:spPr>
        <p:txBody>
          <a:bodyPr wrap="square" rtlCol="0" anchor="ctr"/>
          <a:lstStyle/>
          <a:p>
            <a:pPr marL="0" indent="0">
              <a:buNone/>
            </a:pPr>
            <a:r>
              <a:rPr lang="en-US" sz="1400" b="1" dirty="0">
                <a:solidFill>
                  <a:srgbClr val="0A1628"/>
                </a:solidFill>
              </a:rPr>
              <a:t>Syntax:</a:t>
            </a:r>
            <a:endParaRPr lang="en-US" sz="1400" dirty="0"/>
          </a:p>
        </p:txBody>
      </p:sp>
      <p:sp>
        <p:nvSpPr>
          <p:cNvPr id="6" name="Text 4"/>
          <p:cNvSpPr/>
          <p:nvPr/>
        </p:nvSpPr>
        <p:spPr>
          <a:xfrm>
            <a:off x="2103120" y="1508760"/>
            <a:ext cx="6309360" cy="274320"/>
          </a:xfrm>
          <a:prstGeom prst="rect">
            <a:avLst/>
          </a:prstGeom>
          <a:noFill/>
          <a:ln/>
        </p:spPr>
        <p:txBody>
          <a:bodyPr wrap="square" rtlCol="0" anchor="ctr"/>
          <a:lstStyle/>
          <a:p>
            <a:pPr marL="0" indent="0">
              <a:buNone/>
            </a:pPr>
            <a:r>
              <a:rPr lang="en-US" sz="1200" b="1" dirty="0">
                <a:solidFill>
                  <a:srgbClr val="F59E0B"/>
                </a:solidFill>
                <a:latin typeface="Consolas" pitchFamily="34" charset="0"/>
                <a:ea typeface="Consolas" pitchFamily="34" charset="-122"/>
                <a:cs typeface="Consolas" pitchFamily="34" charset="-120"/>
              </a:rPr>
              <a:t>=HLOOKUP(lookup_value, table_array, row_index_num, [range_lookup])</a:t>
            </a:r>
            <a:endParaRPr lang="en-US" sz="1200" dirty="0"/>
          </a:p>
        </p:txBody>
      </p:sp>
      <p:sp>
        <p:nvSpPr>
          <p:cNvPr id="7" name="Text 5"/>
          <p:cNvSpPr/>
          <p:nvPr/>
        </p:nvSpPr>
        <p:spPr>
          <a:xfrm>
            <a:off x="640080" y="1874520"/>
            <a:ext cx="7863840" cy="228600"/>
          </a:xfrm>
          <a:prstGeom prst="rect">
            <a:avLst/>
          </a:prstGeom>
          <a:noFill/>
          <a:ln/>
        </p:spPr>
        <p:txBody>
          <a:bodyPr wrap="square" rtlCol="0" anchor="ctr"/>
          <a:lstStyle/>
          <a:p>
            <a:pPr marL="0" indent="0">
              <a:buNone/>
            </a:pPr>
            <a:r>
              <a:rPr lang="en-US" sz="1200" i="1" dirty="0">
                <a:solidFill>
                  <a:srgbClr val="1F2937"/>
                </a:solidFill>
              </a:rPr>
              <a:t>Same as VLOOKUP, but searches HORIZONTALLY (across rows)</a:t>
            </a:r>
            <a:endParaRPr lang="en-US" sz="1200" dirty="0"/>
          </a:p>
        </p:txBody>
      </p:sp>
      <p:sp>
        <p:nvSpPr>
          <p:cNvPr id="8" name="Text 6"/>
          <p:cNvSpPr/>
          <p:nvPr/>
        </p:nvSpPr>
        <p:spPr>
          <a:xfrm>
            <a:off x="457200" y="2286000"/>
            <a:ext cx="8229600" cy="274320"/>
          </a:xfrm>
          <a:prstGeom prst="rect">
            <a:avLst/>
          </a:prstGeom>
          <a:noFill/>
          <a:ln/>
        </p:spPr>
        <p:txBody>
          <a:bodyPr wrap="square" rtlCol="0" anchor="ctr"/>
          <a:lstStyle/>
          <a:p>
            <a:pPr marL="0" indent="0">
              <a:buNone/>
            </a:pPr>
            <a:r>
              <a:rPr lang="en-US" sz="1600" b="1" dirty="0">
                <a:solidFill>
                  <a:srgbClr val="0A1628"/>
                </a:solidFill>
              </a:rPr>
              <a:t>When to Use HLOOKUP:</a:t>
            </a:r>
            <a:endParaRPr lang="en-US" sz="1600" dirty="0"/>
          </a:p>
        </p:txBody>
      </p:sp>
      <p:sp>
        <p:nvSpPr>
          <p:cNvPr id="9" name="Text 7"/>
          <p:cNvSpPr/>
          <p:nvPr/>
        </p:nvSpPr>
        <p:spPr>
          <a:xfrm>
            <a:off x="640080" y="2606040"/>
            <a:ext cx="8046720" cy="182880"/>
          </a:xfrm>
          <a:prstGeom prst="rect">
            <a:avLst/>
          </a:prstGeom>
          <a:noFill/>
          <a:ln/>
        </p:spPr>
        <p:txBody>
          <a:bodyPr wrap="square" rtlCol="0" anchor="ctr"/>
          <a:lstStyle/>
          <a:p>
            <a:pPr marL="0" indent="0">
              <a:buNone/>
            </a:pPr>
            <a:r>
              <a:rPr lang="en-US" sz="1100" dirty="0">
                <a:solidFill>
                  <a:srgbClr val="1F2937"/>
                </a:solidFill>
              </a:rPr>
              <a:t>✓ When your data is organized horizontally (across columns instead of down rows)</a:t>
            </a:r>
            <a:endParaRPr lang="en-US" sz="1100" dirty="0"/>
          </a:p>
        </p:txBody>
      </p:sp>
      <p:sp>
        <p:nvSpPr>
          <p:cNvPr id="10" name="Text 8"/>
          <p:cNvSpPr/>
          <p:nvPr/>
        </p:nvSpPr>
        <p:spPr>
          <a:xfrm>
            <a:off x="640080" y="2834640"/>
            <a:ext cx="8046720" cy="182880"/>
          </a:xfrm>
          <a:prstGeom prst="rect">
            <a:avLst/>
          </a:prstGeom>
          <a:noFill/>
          <a:ln/>
        </p:spPr>
        <p:txBody>
          <a:bodyPr wrap="square" rtlCol="0" anchor="ctr"/>
          <a:lstStyle/>
          <a:p>
            <a:pPr marL="0" indent="0">
              <a:buNone/>
            </a:pPr>
            <a:r>
              <a:rPr lang="en-US" sz="1100" dirty="0">
                <a:solidFill>
                  <a:srgbClr val="1F2937"/>
                </a:solidFill>
              </a:rPr>
              <a:t>✓ When headers are in the first ROW instead of first COLUMN</a:t>
            </a:r>
            <a:endParaRPr lang="en-US" sz="1100" dirty="0"/>
          </a:p>
        </p:txBody>
      </p:sp>
      <p:sp>
        <p:nvSpPr>
          <p:cNvPr id="11" name="Text 9"/>
          <p:cNvSpPr/>
          <p:nvPr/>
        </p:nvSpPr>
        <p:spPr>
          <a:xfrm>
            <a:off x="457200" y="3108960"/>
            <a:ext cx="8229600" cy="228600"/>
          </a:xfrm>
          <a:prstGeom prst="rect">
            <a:avLst/>
          </a:prstGeom>
          <a:noFill/>
          <a:ln/>
        </p:spPr>
        <p:txBody>
          <a:bodyPr wrap="square" rtlCol="0" anchor="ctr"/>
          <a:lstStyle/>
          <a:p>
            <a:pPr marL="0" indent="0">
              <a:buNone/>
            </a:pPr>
            <a:r>
              <a:rPr lang="en-US" sz="1400" b="1" dirty="0">
                <a:solidFill>
                  <a:srgbClr val="0A1628"/>
                </a:solidFill>
              </a:rPr>
              <a:t>Example: Monthly Sales Data</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371600" y="3383280"/>
          <a:ext cx="6400800" cy="6858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228600">
                <a:tc>
                  <a:txBody>
                    <a:bodyPr/>
                    <a:lstStyle/>
                    <a:p>
                      <a:pPr marL="0" indent="0" algn="ctr">
                        <a:buNone/>
                      </a:pPr>
                      <a:r>
                        <a:rPr lang="en-US" sz="800" b="1" dirty="0">
                          <a:solidFill>
                            <a:srgbClr val="FFFFFF"/>
                          </a:solidFill>
                        </a:rPr>
                        <a:t>Month</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F59E0B"/>
                    </a:solidFill>
                  </a:tcPr>
                </a:tc>
                <a:tc>
                  <a:txBody>
                    <a:bodyPr/>
                    <a:lstStyle/>
                    <a:p>
                      <a:pPr marL="0" indent="0" algn="ctr">
                        <a:buNone/>
                      </a:pPr>
                      <a:r>
                        <a:rPr lang="en-US" sz="800" b="1" dirty="0">
                          <a:solidFill>
                            <a:srgbClr val="FFFFFF"/>
                          </a:solidFill>
                        </a:rPr>
                        <a:t>Jan</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F59E0B"/>
                    </a:solidFill>
                  </a:tcPr>
                </a:tc>
                <a:tc>
                  <a:txBody>
                    <a:bodyPr/>
                    <a:lstStyle/>
                    <a:p>
                      <a:pPr marL="0" indent="0" algn="ctr">
                        <a:buNone/>
                      </a:pPr>
                      <a:r>
                        <a:rPr lang="en-US" sz="800" b="1" dirty="0">
                          <a:solidFill>
                            <a:srgbClr val="FFFFFF"/>
                          </a:solidFill>
                        </a:rPr>
                        <a:t>Feb</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F59E0B"/>
                    </a:solidFill>
                  </a:tcPr>
                </a:tc>
                <a:tc>
                  <a:txBody>
                    <a:bodyPr/>
                    <a:lstStyle/>
                    <a:p>
                      <a:pPr marL="0" indent="0" algn="ctr">
                        <a:buNone/>
                      </a:pPr>
                      <a:r>
                        <a:rPr lang="en-US" sz="800" b="1" dirty="0">
                          <a:solidFill>
                            <a:srgbClr val="FFFFFF"/>
                          </a:solidFill>
                        </a:rPr>
                        <a:t>Mar</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F59E0B"/>
                    </a:solidFill>
                  </a:tcPr>
                </a:tc>
                <a:tc>
                  <a:txBody>
                    <a:bodyPr/>
                    <a:lstStyle/>
                    <a:p>
                      <a:pPr marL="0" indent="0" algn="ctr">
                        <a:buNone/>
                      </a:pPr>
                      <a:r>
                        <a:rPr lang="en-US" sz="800" b="1" dirty="0">
                          <a:solidFill>
                            <a:srgbClr val="FFFFFF"/>
                          </a:solidFill>
                        </a:rPr>
                        <a:t>Apr</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F59E0B"/>
                    </a:solidFill>
                  </a:tcPr>
                </a:tc>
                <a:extLst>
                  <a:ext uri="{0D108BD9-81ED-4DB2-BD59-A6C34878D82A}">
                    <a16:rowId xmlns:a16="http://schemas.microsoft.com/office/drawing/2014/main" val="10000"/>
                  </a:ext>
                </a:extLst>
              </a:tr>
              <a:tr h="228600">
                <a:tc>
                  <a:txBody>
                    <a:bodyPr/>
                    <a:lstStyle/>
                    <a:p>
                      <a:pPr marL="0" indent="0" algn="ctr">
                        <a:buNone/>
                      </a:pPr>
                      <a:r>
                        <a:rPr lang="en-US" sz="800" dirty="0">
                          <a:solidFill>
                            <a:srgbClr val="000000"/>
                          </a:solidFill>
                        </a:rPr>
                        <a:t>Sales</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$50K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$65K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$70K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$80K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ctr">
                        <a:buNone/>
                      </a:pPr>
                      <a:r>
                        <a:rPr lang="en-US" sz="800" dirty="0">
                          <a:solidFill>
                            <a:srgbClr val="000000"/>
                          </a:solidFill>
                        </a:rPr>
                        <a:t>Costs</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$30K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$35K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$40K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$45K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3" name="Shape 10"/>
          <p:cNvSpPr/>
          <p:nvPr/>
        </p:nvSpPr>
        <p:spPr>
          <a:xfrm>
            <a:off x="457200" y="4160520"/>
            <a:ext cx="8229600" cy="274320"/>
          </a:xfrm>
          <a:prstGeom prst="rect">
            <a:avLst/>
          </a:prstGeom>
          <a:solidFill>
            <a:srgbClr val="0A1628"/>
          </a:solidFill>
          <a:ln/>
        </p:spPr>
      </p:sp>
      <p:sp>
        <p:nvSpPr>
          <p:cNvPr id="14" name="Text 11"/>
          <p:cNvSpPr/>
          <p:nvPr/>
        </p:nvSpPr>
        <p:spPr>
          <a:xfrm>
            <a:off x="640080" y="4206240"/>
            <a:ext cx="7863840" cy="182880"/>
          </a:xfrm>
          <a:prstGeom prst="rect">
            <a:avLst/>
          </a:prstGeom>
          <a:noFill/>
          <a:ln/>
        </p:spPr>
        <p:txBody>
          <a:bodyPr wrap="square" rtlCol="0" anchor="ctr"/>
          <a:lstStyle/>
          <a:p>
            <a:pPr marL="0" indent="0">
              <a:buNone/>
            </a:pPr>
            <a:r>
              <a:rPr lang="en-US" sz="1200" b="1" dirty="0">
                <a:solidFill>
                  <a:srgbClr val="FFFFFF"/>
                </a:solidFill>
                <a:latin typeface="Consolas" pitchFamily="34" charset="0"/>
                <a:ea typeface="Consolas" pitchFamily="34" charset="-122"/>
                <a:cs typeface="Consolas" pitchFamily="34" charset="-120"/>
              </a:rPr>
              <a:t>=HLOOKUP("Mar", A1:E3, 2, FALSE)</a:t>
            </a:r>
            <a:endParaRPr lang="en-US" sz="1200" dirty="0"/>
          </a:p>
        </p:txBody>
      </p:sp>
      <p:sp>
        <p:nvSpPr>
          <p:cNvPr id="15" name="Text 12"/>
          <p:cNvSpPr/>
          <p:nvPr/>
        </p:nvSpPr>
        <p:spPr>
          <a:xfrm>
            <a:off x="457200" y="4480560"/>
            <a:ext cx="8229600" cy="182880"/>
          </a:xfrm>
          <a:prstGeom prst="rect">
            <a:avLst/>
          </a:prstGeom>
          <a:noFill/>
          <a:ln/>
        </p:spPr>
        <p:txBody>
          <a:bodyPr wrap="square" rtlCol="0" anchor="ctr"/>
          <a:lstStyle/>
          <a:p>
            <a:pPr marL="0" indent="0">
              <a:buNone/>
            </a:pPr>
            <a:r>
              <a:rPr lang="en-US" sz="1000" i="1" dirty="0">
                <a:solidFill>
                  <a:srgbClr val="1F2937"/>
                </a:solidFill>
              </a:rPr>
              <a:t>Translation: Find "Mar" in row 1, return value from row 2 (Sales) = $70K</a:t>
            </a:r>
            <a:endParaRPr lang="en-US" sz="1000" dirty="0"/>
          </a:p>
        </p:txBody>
      </p:sp>
      <p:sp>
        <p:nvSpPr>
          <p:cNvPr id="16" name="Text 13"/>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VLOOKUP vs HLOOKUP</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dirty="0">
                <a:solidFill>
                  <a:srgbClr val="1F2937"/>
                </a:solidFill>
              </a:rPr>
              <a:t>Understanding the difference</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2560320"/>
        </p:xfrm>
        <a:graphic>
          <a:graphicData uri="http://schemas.openxmlformats.org/drawingml/2006/table">
            <a:tbl>
              <a:tblPr/>
              <a:tblGrid>
                <a:gridCol w="2621280">
                  <a:extLst>
                    <a:ext uri="{9D8B030D-6E8A-4147-A177-3AD203B41FA5}">
                      <a16:colId xmlns:a16="http://schemas.microsoft.com/office/drawing/2014/main" val="20000"/>
                    </a:ext>
                  </a:extLst>
                </a:gridCol>
                <a:gridCol w="2621280">
                  <a:extLst>
                    <a:ext uri="{9D8B030D-6E8A-4147-A177-3AD203B41FA5}">
                      <a16:colId xmlns:a16="http://schemas.microsoft.com/office/drawing/2014/main" val="20001"/>
                    </a:ext>
                  </a:extLst>
                </a:gridCol>
                <a:gridCol w="2621280">
                  <a:extLst>
                    <a:ext uri="{9D8B030D-6E8A-4147-A177-3AD203B41FA5}">
                      <a16:colId xmlns:a16="http://schemas.microsoft.com/office/drawing/2014/main" val="20002"/>
                    </a:ext>
                  </a:extLst>
                </a:gridCol>
              </a:tblGrid>
              <a:tr h="365760">
                <a:tc>
                  <a:txBody>
                    <a:bodyPr/>
                    <a:lstStyle/>
                    <a:p>
                      <a:pPr marL="0" indent="0" algn="ctr">
                        <a:buNone/>
                      </a:pP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3B82F6"/>
                    </a:solidFill>
                  </a:tcPr>
                </a:tc>
                <a:tc>
                  <a:txBody>
                    <a:bodyPr/>
                    <a:lstStyle/>
                    <a:p>
                      <a:pPr marL="0" indent="0" algn="ctr">
                        <a:buNone/>
                      </a:pPr>
                      <a:r>
                        <a:rPr lang="en-US" sz="1000" b="1" dirty="0">
                          <a:solidFill>
                            <a:srgbClr val="FFFFFF"/>
                          </a:solidFill>
                        </a:rPr>
                        <a:t>VLOOKUP</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8B5CF6"/>
                    </a:solidFill>
                  </a:tcPr>
                </a:tc>
                <a:tc>
                  <a:txBody>
                    <a:bodyPr/>
                    <a:lstStyle/>
                    <a:p>
                      <a:pPr marL="0" indent="0" algn="ctr">
                        <a:buNone/>
                      </a:pPr>
                      <a:r>
                        <a:rPr lang="en-US" sz="1000" b="1" dirty="0">
                          <a:solidFill>
                            <a:srgbClr val="FFFFFF"/>
                          </a:solidFill>
                        </a:rPr>
                        <a:t>HLOOKUP</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F59E0B"/>
                    </a:solidFill>
                  </a:tcPr>
                </a:tc>
                <a:extLst>
                  <a:ext uri="{0D108BD9-81ED-4DB2-BD59-A6C34878D82A}">
                    <a16:rowId xmlns:a16="http://schemas.microsoft.com/office/drawing/2014/main" val="10000"/>
                  </a:ext>
                </a:extLst>
              </a:tr>
              <a:tr h="365760">
                <a:tc>
                  <a:txBody>
                    <a:bodyPr/>
                    <a:lstStyle/>
                    <a:p>
                      <a:pPr marL="0" indent="0" algn="ctr">
                        <a:buNone/>
                      </a:pPr>
                      <a:r>
                        <a:rPr lang="en-US" sz="1000" b="1" dirty="0">
                          <a:solidFill>
                            <a:srgbClr val="000000"/>
                          </a:solidFill>
                        </a:rPr>
                        <a:t>Direction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Searches DOWN (Vertical)</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Searches ACROSS (Horizontal)</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000" b="1" dirty="0">
                          <a:solidFill>
                            <a:srgbClr val="000000"/>
                          </a:solidFill>
                        </a:rPr>
                        <a:t>Lookup In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First COLUMN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First ROW</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000" b="1" dirty="0">
                          <a:solidFill>
                            <a:srgbClr val="000000"/>
                          </a:solidFill>
                        </a:rPr>
                        <a:t>Returns From</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Same ROW, different column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Same COLUMN, different row</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000" b="1" dirty="0">
                          <a:solidFill>
                            <a:srgbClr val="000000"/>
                          </a:solidFill>
                        </a:rPr>
                        <a:t>Index Parameter</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col_index_num (column number)</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row_index_num (row number)</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000" b="1" dirty="0">
                          <a:solidFill>
                            <a:srgbClr val="000000"/>
                          </a:solidFill>
                        </a:rPr>
                        <a:t>Most Common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95% of cases</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5% of cases</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000" b="1" dirty="0">
                          <a:solidFill>
                            <a:srgbClr val="000000"/>
                          </a:solidFill>
                        </a:rPr>
                        <a:t>Best For</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Standard databases, lists</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Time series, monthly reports</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457200" y="4114800"/>
            <a:ext cx="8229600" cy="548640"/>
          </a:xfrm>
          <a:prstGeom prst="rect">
            <a:avLst/>
          </a:prstGeom>
          <a:solidFill>
            <a:srgbClr val="3B82F6"/>
          </a:solidFill>
          <a:ln/>
        </p:spPr>
      </p:sp>
      <p:sp>
        <p:nvSpPr>
          <p:cNvPr id="6" name="Text 3"/>
          <p:cNvSpPr/>
          <p:nvPr/>
        </p:nvSpPr>
        <p:spPr>
          <a:xfrm>
            <a:off x="640080" y="4206240"/>
            <a:ext cx="7863840" cy="365760"/>
          </a:xfrm>
          <a:prstGeom prst="rect">
            <a:avLst/>
          </a:prstGeom>
          <a:noFill/>
          <a:ln/>
        </p:spPr>
        <p:txBody>
          <a:bodyPr wrap="square" rtlCol="0" anchor="ctr"/>
          <a:lstStyle/>
          <a:p>
            <a:pPr marL="0" indent="0">
              <a:buNone/>
            </a:pPr>
            <a:r>
              <a:rPr lang="en-US" sz="1000" b="1" dirty="0">
                <a:solidFill>
                  <a:srgbClr val="1F2937"/>
                </a:solidFill>
              </a:rPr>
              <a:t>💡 Pro Tip: 95% of the time you'll use VLOOKUP. HLOOKUP is rare because most databases are organized vertically. If you have horizontal data, consider restructuring it vertically for easier analysis!</a:t>
            </a:r>
            <a:endParaRPr lang="en-US" sz="1000" dirty="0"/>
          </a:p>
        </p:txBody>
      </p:sp>
      <p:sp>
        <p:nvSpPr>
          <p:cNvPr id="7" name="Text 4"/>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640080"/>
          </a:xfrm>
          <a:prstGeom prst="rect">
            <a:avLst/>
          </a:prstGeom>
          <a:noFill/>
          <a:ln/>
        </p:spPr>
        <p:txBody>
          <a:bodyPr wrap="square" rtlCol="0" anchor="ctr"/>
          <a:lstStyle/>
          <a:p>
            <a:pPr marL="0" indent="0" algn="ctr">
              <a:buNone/>
            </a:pPr>
            <a:r>
              <a:rPr lang="en-US" sz="4400" b="1" dirty="0">
                <a:solidFill>
                  <a:srgbClr val="FFFFFF"/>
                </a:solidFill>
              </a:rPr>
              <a:t>INDEX-MATCH</a:t>
            </a:r>
            <a:endParaRPr lang="en-US" sz="4400" dirty="0"/>
          </a:p>
        </p:txBody>
      </p:sp>
      <p:sp>
        <p:nvSpPr>
          <p:cNvPr id="3" name="Text 1"/>
          <p:cNvSpPr/>
          <p:nvPr/>
        </p:nvSpPr>
        <p:spPr>
          <a:xfrm>
            <a:off x="457200" y="2194560"/>
            <a:ext cx="8229600" cy="365760"/>
          </a:xfrm>
          <a:prstGeom prst="rect">
            <a:avLst/>
          </a:prstGeom>
          <a:noFill/>
          <a:ln/>
        </p:spPr>
        <p:txBody>
          <a:bodyPr wrap="square" rtlCol="0" anchor="ctr"/>
          <a:lstStyle/>
          <a:p>
            <a:pPr marL="0" indent="0" algn="ctr">
              <a:buNone/>
            </a:pPr>
            <a:r>
              <a:rPr lang="en-US" sz="2000" i="1" dirty="0">
                <a:solidFill>
                  <a:srgbClr val="FFFFFF"/>
                </a:solidFill>
              </a:rPr>
              <a:t>The Professional's Alternative to VLOOKUP</a:t>
            </a:r>
            <a:endParaRPr lang="en-US" sz="2000" dirty="0"/>
          </a:p>
        </p:txBody>
      </p:sp>
      <p:sp>
        <p:nvSpPr>
          <p:cNvPr id="4" name="Shape 2"/>
          <p:cNvSpPr/>
          <p:nvPr/>
        </p:nvSpPr>
        <p:spPr>
          <a:xfrm>
            <a:off x="2286000" y="2926080"/>
            <a:ext cx="4572000" cy="45720"/>
          </a:xfrm>
          <a:prstGeom prst="rect">
            <a:avLst/>
          </a:prstGeom>
          <a:solidFill>
            <a:srgbClr val="3B82F6"/>
          </a:solidFill>
          <a:ln/>
        </p:spPr>
      </p:sp>
      <p:sp>
        <p:nvSpPr>
          <p:cNvPr id="5" name="Text 3"/>
          <p:cNvSpPr/>
          <p:nvPr/>
        </p:nvSpPr>
        <p:spPr>
          <a:xfrm>
            <a:off x="457200" y="3383280"/>
            <a:ext cx="8229600" cy="274320"/>
          </a:xfrm>
          <a:prstGeom prst="rect">
            <a:avLst/>
          </a:prstGeom>
          <a:noFill/>
          <a:ln/>
        </p:spPr>
        <p:txBody>
          <a:bodyPr wrap="square" rtlCol="0" anchor="ctr"/>
          <a:lstStyle/>
          <a:p>
            <a:pPr marL="0" indent="0" algn="ctr">
              <a:buNone/>
            </a:pPr>
            <a:r>
              <a:rPr lang="en-US" sz="1600" dirty="0">
                <a:solidFill>
                  <a:srgbClr val="FFFFFF"/>
                </a:solidFill>
              </a:rPr>
              <a:t>More powerful, more flexible, more professional</a:t>
            </a:r>
            <a:endParaRPr lang="en-US" sz="1600" dirty="0"/>
          </a:p>
        </p:txBody>
      </p:sp>
      <p:sp>
        <p:nvSpPr>
          <p:cNvPr id="6" name="Text 4"/>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WHY INDEX-MATCH?</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dirty="0">
                <a:solidFill>
                  <a:srgbClr val="1F2937"/>
                </a:solidFill>
              </a:rPr>
              <a:t>Advantages over VLOOKUP</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2011680"/>
        </p:xfrm>
        <a:graphic>
          <a:graphicData uri="http://schemas.openxmlformats.org/drawingml/2006/table">
            <a:tbl>
              <a:tblPr/>
              <a:tblGrid>
                <a:gridCol w="2621280">
                  <a:extLst>
                    <a:ext uri="{9D8B030D-6E8A-4147-A177-3AD203B41FA5}">
                      <a16:colId xmlns:a16="http://schemas.microsoft.com/office/drawing/2014/main" val="20000"/>
                    </a:ext>
                  </a:extLst>
                </a:gridCol>
                <a:gridCol w="2621280">
                  <a:extLst>
                    <a:ext uri="{9D8B030D-6E8A-4147-A177-3AD203B41FA5}">
                      <a16:colId xmlns:a16="http://schemas.microsoft.com/office/drawing/2014/main" val="20001"/>
                    </a:ext>
                  </a:extLst>
                </a:gridCol>
                <a:gridCol w="2621280">
                  <a:extLst>
                    <a:ext uri="{9D8B030D-6E8A-4147-A177-3AD203B41FA5}">
                      <a16:colId xmlns:a16="http://schemas.microsoft.com/office/drawing/2014/main" val="20002"/>
                    </a:ext>
                  </a:extLst>
                </a:gridCol>
              </a:tblGrid>
              <a:tr h="335280">
                <a:tc>
                  <a:txBody>
                    <a:bodyPr/>
                    <a:lstStyle/>
                    <a:p>
                      <a:pPr marL="0" indent="0" algn="ctr">
                        <a:buNone/>
                      </a:pPr>
                      <a:r>
                        <a:rPr lang="en-US" sz="1000" b="1" dirty="0">
                          <a:solidFill>
                            <a:srgbClr val="FFFFFF"/>
                          </a:solidFill>
                        </a:rPr>
                        <a:t>Feature</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3B82F6"/>
                    </a:solidFill>
                  </a:tcPr>
                </a:tc>
                <a:tc>
                  <a:txBody>
                    <a:bodyPr/>
                    <a:lstStyle/>
                    <a:p>
                      <a:pPr marL="0" indent="0" algn="ctr">
                        <a:buNone/>
                      </a:pPr>
                      <a:r>
                        <a:rPr lang="en-US" sz="1000" b="1" dirty="0">
                          <a:solidFill>
                            <a:srgbClr val="FFFFFF"/>
                          </a:solidFill>
                        </a:rPr>
                        <a:t>VLOOKUP</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8B5CF6"/>
                    </a:solidFill>
                  </a:tcPr>
                </a:tc>
                <a:tc>
                  <a:txBody>
                    <a:bodyPr/>
                    <a:lstStyle/>
                    <a:p>
                      <a:pPr marL="0" indent="0" algn="ctr">
                        <a:buNone/>
                      </a:pPr>
                      <a:r>
                        <a:rPr lang="en-US" sz="1000" b="1" dirty="0">
                          <a:solidFill>
                            <a:srgbClr val="FFFFFF"/>
                          </a:solidFill>
                        </a:rPr>
                        <a:t>INDEX-MATCH</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10B981"/>
                    </a:solidFill>
                  </a:tcPr>
                </a:tc>
                <a:extLst>
                  <a:ext uri="{0D108BD9-81ED-4DB2-BD59-A6C34878D82A}">
                    <a16:rowId xmlns:a16="http://schemas.microsoft.com/office/drawing/2014/main" val="10000"/>
                  </a:ext>
                </a:extLst>
              </a:tr>
              <a:tr h="335280">
                <a:tc>
                  <a:txBody>
                    <a:bodyPr/>
                    <a:lstStyle/>
                    <a:p>
                      <a:pPr marL="0" indent="0" algn="ctr">
                        <a:buNone/>
                      </a:pPr>
                      <a:r>
                        <a:rPr lang="en-US" sz="1000" b="1" dirty="0">
                          <a:solidFill>
                            <a:srgbClr val="000000"/>
                          </a:solidFill>
                        </a:rPr>
                        <a:t>Look Left</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 Can't do it</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 Can look in any direction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1"/>
                  </a:ext>
                </a:extLst>
              </a:tr>
              <a:tr h="335280">
                <a:tc>
                  <a:txBody>
                    <a:bodyPr/>
                    <a:lstStyle/>
                    <a:p>
                      <a:pPr marL="0" indent="0" algn="ctr">
                        <a:buNone/>
                      </a:pPr>
                      <a:r>
                        <a:rPr lang="en-US" sz="1000" b="1" dirty="0">
                          <a:solidFill>
                            <a:srgbClr val="000000"/>
                          </a:solidFill>
                        </a:rPr>
                        <a:t>Column Insertion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 Breaks formula</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 Still works perfectly</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2"/>
                  </a:ext>
                </a:extLst>
              </a:tr>
              <a:tr h="335280">
                <a:tc>
                  <a:txBody>
                    <a:bodyPr/>
                    <a:lstStyle/>
                    <a:p>
                      <a:pPr marL="0" indent="0" algn="ctr">
                        <a:buNone/>
                      </a:pPr>
                      <a:r>
                        <a:rPr lang="en-US" sz="1000" b="1" dirty="0">
                          <a:solidFill>
                            <a:srgbClr val="000000"/>
                          </a:solidFill>
                        </a:rPr>
                        <a:t>Performance</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Slower on large data</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 Faster calculation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3"/>
                  </a:ext>
                </a:extLst>
              </a:tr>
              <a:tr h="335280">
                <a:tc>
                  <a:txBody>
                    <a:bodyPr/>
                    <a:lstStyle/>
                    <a:p>
                      <a:pPr marL="0" indent="0" algn="ctr">
                        <a:buNone/>
                      </a:pPr>
                      <a:r>
                        <a:rPr lang="en-US" sz="1000" b="1" dirty="0">
                          <a:solidFill>
                            <a:srgbClr val="000000"/>
                          </a:solidFill>
                        </a:rPr>
                        <a:t>Flexibility</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Limited to right</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 Any column, any direction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4"/>
                  </a:ext>
                </a:extLst>
              </a:tr>
              <a:tr h="335280">
                <a:tc>
                  <a:txBody>
                    <a:bodyPr/>
                    <a:lstStyle/>
                    <a:p>
                      <a:pPr marL="0" indent="0" algn="ctr">
                        <a:buNone/>
                      </a:pPr>
                      <a:r>
                        <a:rPr lang="en-US" sz="1000" b="1" dirty="0">
                          <a:solidFill>
                            <a:srgbClr val="000000"/>
                          </a:solidFill>
                        </a:rPr>
                        <a:t>Learning Curve</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 Easy to learn</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1000" dirty="0">
                          <a:solidFill>
                            <a:srgbClr val="000000"/>
                          </a:solidFill>
                        </a:rPr>
                        <a:t>Slightly more complex</a:t>
                      </a:r>
                      <a:endParaRPr lang="en-US" sz="10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457200" y="3566160"/>
            <a:ext cx="8229600" cy="548640"/>
          </a:xfrm>
          <a:prstGeom prst="rect">
            <a:avLst/>
          </a:prstGeom>
          <a:solidFill>
            <a:srgbClr val="FFFFFF"/>
          </a:solidFill>
          <a:ln w="25400">
            <a:solidFill>
              <a:srgbClr val="3B82F6"/>
            </a:solidFill>
            <a:prstDash val="solid"/>
          </a:ln>
        </p:spPr>
      </p:sp>
      <p:sp>
        <p:nvSpPr>
          <p:cNvPr id="6" name="Text 3"/>
          <p:cNvSpPr/>
          <p:nvPr/>
        </p:nvSpPr>
        <p:spPr>
          <a:xfrm>
            <a:off x="640080" y="3749040"/>
            <a:ext cx="7863840" cy="320040"/>
          </a:xfrm>
          <a:prstGeom prst="rect">
            <a:avLst/>
          </a:prstGeom>
          <a:noFill/>
          <a:ln/>
        </p:spPr>
        <p:txBody>
          <a:bodyPr wrap="square" rtlCol="0" anchor="ctr"/>
          <a:lstStyle/>
          <a:p>
            <a:pPr marL="0" indent="0">
              <a:buNone/>
            </a:pPr>
            <a:r>
              <a:rPr lang="en-US" sz="1200" b="1" dirty="0">
                <a:solidFill>
                  <a:srgbClr val="3B82F6"/>
                </a:solidFill>
              </a:rPr>
              <a:t>Bottom Line: </a:t>
            </a:r>
            <a:r>
              <a:rPr lang="en-US" sz="1200" dirty="0">
                <a:solidFill>
                  <a:srgbClr val="1F2937"/>
                </a:solidFill>
              </a:rPr>
              <a:t>VLOOKUP is good for beginners. INDEX-MATCH is what professionals use in the workplace. Once you learn it, you'll rarely go back to VLOOKUP!</a:t>
            </a:r>
            <a:endParaRPr lang="en-US" sz="1200" dirty="0"/>
          </a:p>
        </p:txBody>
      </p:sp>
      <p:sp>
        <p:nvSpPr>
          <p:cNvPr id="7" name="Text 4"/>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INDEX &amp; MATCH: SEPARATELY</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dirty="0">
                <a:solidFill>
                  <a:srgbClr val="1F2937"/>
                </a:solidFill>
              </a:rPr>
              <a:t>Understanding each function before combining them</a:t>
            </a:r>
            <a:endParaRPr lang="en-US" sz="1600" dirty="0"/>
          </a:p>
        </p:txBody>
      </p:sp>
      <p:sp>
        <p:nvSpPr>
          <p:cNvPr id="4" name="Shape 2"/>
          <p:cNvSpPr/>
          <p:nvPr/>
        </p:nvSpPr>
        <p:spPr>
          <a:xfrm>
            <a:off x="457200" y="1371600"/>
            <a:ext cx="3931920" cy="1554480"/>
          </a:xfrm>
          <a:prstGeom prst="rect">
            <a:avLst/>
          </a:prstGeom>
          <a:solidFill>
            <a:srgbClr val="FFFFFF"/>
          </a:solidFill>
          <a:ln w="25400">
            <a:solidFill>
              <a:srgbClr val="3B82F6"/>
            </a:solidFill>
            <a:prstDash val="solid"/>
          </a:ln>
        </p:spPr>
      </p:sp>
      <p:sp>
        <p:nvSpPr>
          <p:cNvPr id="5" name="Text 3"/>
          <p:cNvSpPr/>
          <p:nvPr/>
        </p:nvSpPr>
        <p:spPr>
          <a:xfrm>
            <a:off x="640080" y="1508760"/>
            <a:ext cx="3566160" cy="228600"/>
          </a:xfrm>
          <a:prstGeom prst="rect">
            <a:avLst/>
          </a:prstGeom>
          <a:noFill/>
          <a:ln/>
        </p:spPr>
        <p:txBody>
          <a:bodyPr wrap="square" rtlCol="0" anchor="ctr"/>
          <a:lstStyle/>
          <a:p>
            <a:pPr marL="0" indent="0">
              <a:buNone/>
            </a:pPr>
            <a:r>
              <a:rPr lang="en-US" sz="1400" b="1" dirty="0">
                <a:solidFill>
                  <a:srgbClr val="3B82F6"/>
                </a:solidFill>
              </a:rPr>
              <a:t>INDEX Function</a:t>
            </a:r>
            <a:endParaRPr lang="en-US" sz="1400" dirty="0"/>
          </a:p>
        </p:txBody>
      </p:sp>
      <p:sp>
        <p:nvSpPr>
          <p:cNvPr id="6" name="Text 4"/>
          <p:cNvSpPr/>
          <p:nvPr/>
        </p:nvSpPr>
        <p:spPr>
          <a:xfrm>
            <a:off x="640080" y="1783080"/>
            <a:ext cx="3566160" cy="182880"/>
          </a:xfrm>
          <a:prstGeom prst="rect">
            <a:avLst/>
          </a:prstGeom>
          <a:noFill/>
          <a:ln/>
        </p:spPr>
        <p:txBody>
          <a:bodyPr wrap="square" rtlCol="0" anchor="ctr"/>
          <a:lstStyle/>
          <a:p>
            <a:pPr marL="0" indent="0">
              <a:buNone/>
            </a:pPr>
            <a:r>
              <a:rPr lang="en-US" sz="1000" i="1" dirty="0">
                <a:solidFill>
                  <a:srgbClr val="1F2937"/>
                </a:solidFill>
              </a:rPr>
              <a:t>Returns value from specific row &amp; column</a:t>
            </a:r>
            <a:endParaRPr lang="en-US" sz="1000" dirty="0"/>
          </a:p>
        </p:txBody>
      </p:sp>
      <p:sp>
        <p:nvSpPr>
          <p:cNvPr id="7" name="Text 5"/>
          <p:cNvSpPr/>
          <p:nvPr/>
        </p:nvSpPr>
        <p:spPr>
          <a:xfrm>
            <a:off x="640080" y="2011680"/>
            <a:ext cx="3566160" cy="164592"/>
          </a:xfrm>
          <a:prstGeom prst="rect">
            <a:avLst/>
          </a:prstGeom>
          <a:noFill/>
          <a:ln/>
        </p:spPr>
        <p:txBody>
          <a:bodyPr wrap="square" rtlCol="0" anchor="ctr"/>
          <a:lstStyle/>
          <a:p>
            <a:pPr marL="0" indent="0">
              <a:buNone/>
            </a:pPr>
            <a:r>
              <a:rPr lang="en-US" sz="900" b="1" dirty="0">
                <a:solidFill>
                  <a:srgbClr val="0A1628"/>
                </a:solidFill>
                <a:latin typeface="Consolas" pitchFamily="34" charset="0"/>
                <a:ea typeface="Consolas" pitchFamily="34" charset="-122"/>
                <a:cs typeface="Consolas" pitchFamily="34" charset="-120"/>
              </a:rPr>
              <a:t>Syntax: =INDEX(array, row_num, col_num)</a:t>
            </a:r>
            <a:endParaRPr lang="en-US" sz="900" dirty="0"/>
          </a:p>
        </p:txBody>
      </p:sp>
      <p:sp>
        <p:nvSpPr>
          <p:cNvPr id="8" name="Text 6"/>
          <p:cNvSpPr/>
          <p:nvPr/>
        </p:nvSpPr>
        <p:spPr>
          <a:xfrm>
            <a:off x="640080" y="2212848"/>
            <a:ext cx="3566160" cy="137160"/>
          </a:xfrm>
          <a:prstGeom prst="rect">
            <a:avLst/>
          </a:prstGeom>
          <a:noFill/>
          <a:ln/>
        </p:spPr>
        <p:txBody>
          <a:bodyPr wrap="square" rtlCol="0" anchor="ctr"/>
          <a:lstStyle/>
          <a:p>
            <a:pPr marL="0" indent="0">
              <a:buNone/>
            </a:pPr>
            <a:r>
              <a:rPr lang="en-US" sz="900" dirty="0">
                <a:solidFill>
                  <a:srgbClr val="1F2937"/>
                </a:solidFill>
                <a:latin typeface="Consolas" pitchFamily="34" charset="0"/>
                <a:ea typeface="Consolas" pitchFamily="34" charset="-122"/>
                <a:cs typeface="Consolas" pitchFamily="34" charset="-120"/>
              </a:rPr>
              <a:t>Example: =INDEX(A2:D100, 5, 3)</a:t>
            </a:r>
            <a:endParaRPr lang="en-US" sz="900" dirty="0"/>
          </a:p>
        </p:txBody>
      </p:sp>
      <p:sp>
        <p:nvSpPr>
          <p:cNvPr id="9" name="Text 7"/>
          <p:cNvSpPr/>
          <p:nvPr/>
        </p:nvSpPr>
        <p:spPr>
          <a:xfrm>
            <a:off x="640080" y="2377440"/>
            <a:ext cx="3566160" cy="137160"/>
          </a:xfrm>
          <a:prstGeom prst="rect">
            <a:avLst/>
          </a:prstGeom>
          <a:noFill/>
          <a:ln/>
        </p:spPr>
        <p:txBody>
          <a:bodyPr wrap="square" rtlCol="0" anchor="ctr"/>
          <a:lstStyle/>
          <a:p>
            <a:pPr marL="0" indent="0">
              <a:buNone/>
            </a:pPr>
            <a:r>
              <a:rPr lang="en-US" sz="900" dirty="0">
                <a:solidFill>
                  <a:srgbClr val="1F2937"/>
                </a:solidFill>
              </a:rPr>
              <a:t>Returns value from row 5, column 3</a:t>
            </a:r>
            <a:endParaRPr lang="en-US" sz="900" dirty="0"/>
          </a:p>
        </p:txBody>
      </p:sp>
      <p:sp>
        <p:nvSpPr>
          <p:cNvPr id="10" name="Text 8"/>
          <p:cNvSpPr/>
          <p:nvPr/>
        </p:nvSpPr>
        <p:spPr>
          <a:xfrm>
            <a:off x="640080" y="2560320"/>
            <a:ext cx="3566160" cy="137160"/>
          </a:xfrm>
          <a:prstGeom prst="rect">
            <a:avLst/>
          </a:prstGeom>
          <a:noFill/>
          <a:ln/>
        </p:spPr>
        <p:txBody>
          <a:bodyPr wrap="square" rtlCol="0" anchor="ctr"/>
          <a:lstStyle/>
          <a:p>
            <a:pPr marL="0" indent="0">
              <a:buNone/>
            </a:pPr>
            <a:r>
              <a:rPr lang="en-US" sz="900" b="1" dirty="0">
                <a:solidFill>
                  <a:srgbClr val="0A1628"/>
                </a:solidFill>
              </a:rPr>
              <a:t>Think of it as:</a:t>
            </a:r>
            <a:endParaRPr lang="en-US" sz="900" dirty="0"/>
          </a:p>
        </p:txBody>
      </p:sp>
      <p:sp>
        <p:nvSpPr>
          <p:cNvPr id="11" name="Text 9"/>
          <p:cNvSpPr/>
          <p:nvPr/>
        </p:nvSpPr>
        <p:spPr>
          <a:xfrm>
            <a:off x="640080" y="2724912"/>
            <a:ext cx="3566160" cy="137160"/>
          </a:xfrm>
          <a:prstGeom prst="rect">
            <a:avLst/>
          </a:prstGeom>
          <a:noFill/>
          <a:ln/>
        </p:spPr>
        <p:txBody>
          <a:bodyPr wrap="square" rtlCol="0" anchor="ctr"/>
          <a:lstStyle/>
          <a:p>
            <a:pPr marL="0" indent="0">
              <a:buNone/>
            </a:pPr>
            <a:r>
              <a:rPr lang="en-US" sz="900" i="1" dirty="0">
                <a:solidFill>
                  <a:srgbClr val="1F2937"/>
                </a:solidFill>
              </a:rPr>
              <a:t>"Give me the value at row X, column Y"</a:t>
            </a:r>
            <a:endParaRPr lang="en-US" sz="900" dirty="0"/>
          </a:p>
        </p:txBody>
      </p:sp>
      <p:sp>
        <p:nvSpPr>
          <p:cNvPr id="12" name="Shape 10"/>
          <p:cNvSpPr/>
          <p:nvPr/>
        </p:nvSpPr>
        <p:spPr>
          <a:xfrm>
            <a:off x="4754880" y="1371600"/>
            <a:ext cx="3931920" cy="1554480"/>
          </a:xfrm>
          <a:prstGeom prst="rect">
            <a:avLst/>
          </a:prstGeom>
          <a:solidFill>
            <a:srgbClr val="FFFFFF"/>
          </a:solidFill>
          <a:ln w="25400">
            <a:solidFill>
              <a:srgbClr val="10B981"/>
            </a:solidFill>
            <a:prstDash val="solid"/>
          </a:ln>
        </p:spPr>
      </p:sp>
      <p:sp>
        <p:nvSpPr>
          <p:cNvPr id="13" name="Text 11"/>
          <p:cNvSpPr/>
          <p:nvPr/>
        </p:nvSpPr>
        <p:spPr>
          <a:xfrm>
            <a:off x="4937760" y="1508760"/>
            <a:ext cx="3566160" cy="228600"/>
          </a:xfrm>
          <a:prstGeom prst="rect">
            <a:avLst/>
          </a:prstGeom>
          <a:noFill/>
          <a:ln/>
        </p:spPr>
        <p:txBody>
          <a:bodyPr wrap="square" rtlCol="0" anchor="ctr"/>
          <a:lstStyle/>
          <a:p>
            <a:pPr marL="0" indent="0">
              <a:buNone/>
            </a:pPr>
            <a:r>
              <a:rPr lang="en-US" sz="1400" b="1" dirty="0">
                <a:solidFill>
                  <a:srgbClr val="10B981"/>
                </a:solidFill>
              </a:rPr>
              <a:t>MATCH Function</a:t>
            </a:r>
            <a:endParaRPr lang="en-US" sz="1400" dirty="0"/>
          </a:p>
        </p:txBody>
      </p:sp>
      <p:sp>
        <p:nvSpPr>
          <p:cNvPr id="14" name="Text 12"/>
          <p:cNvSpPr/>
          <p:nvPr/>
        </p:nvSpPr>
        <p:spPr>
          <a:xfrm>
            <a:off x="4937760" y="1783080"/>
            <a:ext cx="3566160" cy="182880"/>
          </a:xfrm>
          <a:prstGeom prst="rect">
            <a:avLst/>
          </a:prstGeom>
          <a:noFill/>
          <a:ln/>
        </p:spPr>
        <p:txBody>
          <a:bodyPr wrap="square" rtlCol="0" anchor="ctr"/>
          <a:lstStyle/>
          <a:p>
            <a:pPr marL="0" indent="0">
              <a:buNone/>
            </a:pPr>
            <a:r>
              <a:rPr lang="en-US" sz="1000" i="1" dirty="0">
                <a:solidFill>
                  <a:srgbClr val="1F2937"/>
                </a:solidFill>
              </a:rPr>
              <a:t>Finds position of value in range</a:t>
            </a:r>
            <a:endParaRPr lang="en-US" sz="1000" dirty="0"/>
          </a:p>
        </p:txBody>
      </p:sp>
      <p:sp>
        <p:nvSpPr>
          <p:cNvPr id="15" name="Text 13"/>
          <p:cNvSpPr/>
          <p:nvPr/>
        </p:nvSpPr>
        <p:spPr>
          <a:xfrm>
            <a:off x="4937760" y="2011680"/>
            <a:ext cx="3566160" cy="164592"/>
          </a:xfrm>
          <a:prstGeom prst="rect">
            <a:avLst/>
          </a:prstGeom>
          <a:noFill/>
          <a:ln/>
        </p:spPr>
        <p:txBody>
          <a:bodyPr wrap="square" rtlCol="0" anchor="ctr"/>
          <a:lstStyle/>
          <a:p>
            <a:pPr marL="0" indent="0">
              <a:buNone/>
            </a:pPr>
            <a:r>
              <a:rPr lang="en-US" sz="900" b="1" dirty="0">
                <a:solidFill>
                  <a:srgbClr val="0A1628"/>
                </a:solidFill>
                <a:latin typeface="Consolas" pitchFamily="34" charset="0"/>
                <a:ea typeface="Consolas" pitchFamily="34" charset="-122"/>
                <a:cs typeface="Consolas" pitchFamily="34" charset="-120"/>
              </a:rPr>
              <a:t>Syntax: =MATCH(lookup_value, array, 0)</a:t>
            </a:r>
            <a:endParaRPr lang="en-US" sz="900" dirty="0"/>
          </a:p>
        </p:txBody>
      </p:sp>
      <p:sp>
        <p:nvSpPr>
          <p:cNvPr id="16" name="Text 14"/>
          <p:cNvSpPr/>
          <p:nvPr/>
        </p:nvSpPr>
        <p:spPr>
          <a:xfrm>
            <a:off x="4937760" y="2212848"/>
            <a:ext cx="3566160" cy="137160"/>
          </a:xfrm>
          <a:prstGeom prst="rect">
            <a:avLst/>
          </a:prstGeom>
          <a:noFill/>
          <a:ln/>
        </p:spPr>
        <p:txBody>
          <a:bodyPr wrap="square" rtlCol="0" anchor="ctr"/>
          <a:lstStyle/>
          <a:p>
            <a:pPr marL="0" indent="0">
              <a:buNone/>
            </a:pPr>
            <a:r>
              <a:rPr lang="en-US" sz="900" dirty="0">
                <a:solidFill>
                  <a:srgbClr val="1F2937"/>
                </a:solidFill>
                <a:latin typeface="Consolas" pitchFamily="34" charset="0"/>
                <a:ea typeface="Consolas" pitchFamily="34" charset="-122"/>
                <a:cs typeface="Consolas" pitchFamily="34" charset="-120"/>
              </a:rPr>
              <a:t>Example: =MATCH("E003", A2:A100, 0)</a:t>
            </a:r>
            <a:endParaRPr lang="en-US" sz="900" dirty="0"/>
          </a:p>
        </p:txBody>
      </p:sp>
      <p:sp>
        <p:nvSpPr>
          <p:cNvPr id="17" name="Text 15"/>
          <p:cNvSpPr/>
          <p:nvPr/>
        </p:nvSpPr>
        <p:spPr>
          <a:xfrm>
            <a:off x="4937760" y="2377440"/>
            <a:ext cx="3566160" cy="137160"/>
          </a:xfrm>
          <a:prstGeom prst="rect">
            <a:avLst/>
          </a:prstGeom>
          <a:noFill/>
          <a:ln/>
        </p:spPr>
        <p:txBody>
          <a:bodyPr wrap="square" rtlCol="0" anchor="ctr"/>
          <a:lstStyle/>
          <a:p>
            <a:pPr marL="0" indent="0">
              <a:buNone/>
            </a:pPr>
            <a:r>
              <a:rPr lang="en-US" sz="900" dirty="0">
                <a:solidFill>
                  <a:srgbClr val="1F2937"/>
                </a:solidFill>
              </a:rPr>
              <a:t>Finds "E003" and returns its position (e.g., 3)</a:t>
            </a:r>
            <a:endParaRPr lang="en-US" sz="900" dirty="0"/>
          </a:p>
        </p:txBody>
      </p:sp>
      <p:sp>
        <p:nvSpPr>
          <p:cNvPr id="18" name="Text 16"/>
          <p:cNvSpPr/>
          <p:nvPr/>
        </p:nvSpPr>
        <p:spPr>
          <a:xfrm>
            <a:off x="4937760" y="2560320"/>
            <a:ext cx="3566160" cy="137160"/>
          </a:xfrm>
          <a:prstGeom prst="rect">
            <a:avLst/>
          </a:prstGeom>
          <a:noFill/>
          <a:ln/>
        </p:spPr>
        <p:txBody>
          <a:bodyPr wrap="square" rtlCol="0" anchor="ctr"/>
          <a:lstStyle/>
          <a:p>
            <a:pPr marL="0" indent="0">
              <a:buNone/>
            </a:pPr>
            <a:r>
              <a:rPr lang="en-US" sz="900" b="1" dirty="0">
                <a:solidFill>
                  <a:srgbClr val="0A1628"/>
                </a:solidFill>
              </a:rPr>
              <a:t>Think of it as:</a:t>
            </a:r>
            <a:endParaRPr lang="en-US" sz="900" dirty="0"/>
          </a:p>
        </p:txBody>
      </p:sp>
      <p:sp>
        <p:nvSpPr>
          <p:cNvPr id="19" name="Text 17"/>
          <p:cNvSpPr/>
          <p:nvPr/>
        </p:nvSpPr>
        <p:spPr>
          <a:xfrm>
            <a:off x="4937760" y="2724912"/>
            <a:ext cx="3566160" cy="137160"/>
          </a:xfrm>
          <a:prstGeom prst="rect">
            <a:avLst/>
          </a:prstGeom>
          <a:noFill/>
          <a:ln/>
        </p:spPr>
        <p:txBody>
          <a:bodyPr wrap="square" rtlCol="0" anchor="ctr"/>
          <a:lstStyle/>
          <a:p>
            <a:pPr marL="0" indent="0">
              <a:buNone/>
            </a:pPr>
            <a:r>
              <a:rPr lang="en-US" sz="900" i="1" dirty="0">
                <a:solidFill>
                  <a:srgbClr val="1F2937"/>
                </a:solidFill>
              </a:rPr>
              <a:t>"What row number is this value in?"</a:t>
            </a:r>
            <a:endParaRPr lang="en-US" sz="900" dirty="0"/>
          </a:p>
        </p:txBody>
      </p:sp>
      <p:sp>
        <p:nvSpPr>
          <p:cNvPr id="20" name="Text 18"/>
          <p:cNvSpPr/>
          <p:nvPr/>
        </p:nvSpPr>
        <p:spPr>
          <a:xfrm>
            <a:off x="457200" y="2926080"/>
            <a:ext cx="8229600" cy="228600"/>
          </a:xfrm>
          <a:prstGeom prst="rect">
            <a:avLst/>
          </a:prstGeom>
          <a:noFill/>
          <a:ln/>
        </p:spPr>
        <p:txBody>
          <a:bodyPr wrap="square" rtlCol="0" anchor="ctr"/>
          <a:lstStyle/>
          <a:p>
            <a:pPr marL="0" indent="0">
              <a:buNone/>
            </a:pPr>
            <a:r>
              <a:rPr lang="en-US" sz="1600" b="1" dirty="0">
                <a:solidFill>
                  <a:srgbClr val="0A1628"/>
                </a:solidFill>
              </a:rPr>
              <a:t>Combining Them:</a:t>
            </a:r>
            <a:endParaRPr lang="en-US" sz="1600" dirty="0"/>
          </a:p>
        </p:txBody>
      </p:sp>
      <p:sp>
        <p:nvSpPr>
          <p:cNvPr id="21" name="Shape 19"/>
          <p:cNvSpPr/>
          <p:nvPr/>
        </p:nvSpPr>
        <p:spPr>
          <a:xfrm>
            <a:off x="457200" y="3200400"/>
            <a:ext cx="8229600" cy="1188720"/>
          </a:xfrm>
          <a:prstGeom prst="rect">
            <a:avLst/>
          </a:prstGeom>
          <a:solidFill>
            <a:srgbClr val="FFFFFF"/>
          </a:solidFill>
          <a:ln w="25400">
            <a:solidFill>
              <a:srgbClr val="8B5CF6"/>
            </a:solidFill>
            <a:prstDash val="solid"/>
          </a:ln>
        </p:spPr>
      </p:sp>
      <p:sp>
        <p:nvSpPr>
          <p:cNvPr id="22" name="Text 20"/>
          <p:cNvSpPr/>
          <p:nvPr/>
        </p:nvSpPr>
        <p:spPr>
          <a:xfrm>
            <a:off x="640080" y="3337560"/>
            <a:ext cx="7863840" cy="182880"/>
          </a:xfrm>
          <a:prstGeom prst="rect">
            <a:avLst/>
          </a:prstGeom>
          <a:noFill/>
          <a:ln/>
        </p:spPr>
        <p:txBody>
          <a:bodyPr wrap="square" rtlCol="0" anchor="ctr"/>
          <a:lstStyle/>
          <a:p>
            <a:pPr marL="0" indent="0">
              <a:buNone/>
            </a:pPr>
            <a:r>
              <a:rPr lang="en-US" sz="1200" b="1" dirty="0">
                <a:solidFill>
                  <a:srgbClr val="8B5CF6"/>
                </a:solidFill>
              </a:rPr>
              <a:t>MATCH finds the row number → INDEX uses that number to return the value</a:t>
            </a:r>
            <a:endParaRPr lang="en-US" sz="1200" dirty="0"/>
          </a:p>
        </p:txBody>
      </p:sp>
      <p:sp>
        <p:nvSpPr>
          <p:cNvPr id="23" name="Text 21"/>
          <p:cNvSpPr/>
          <p:nvPr/>
        </p:nvSpPr>
        <p:spPr>
          <a:xfrm>
            <a:off x="640080" y="3566160"/>
            <a:ext cx="7863840" cy="182880"/>
          </a:xfrm>
          <a:prstGeom prst="rect">
            <a:avLst/>
          </a:prstGeom>
          <a:noFill/>
          <a:ln/>
        </p:spPr>
        <p:txBody>
          <a:bodyPr wrap="square" rtlCol="0" anchor="ctr"/>
          <a:lstStyle/>
          <a:p>
            <a:pPr marL="0" indent="0">
              <a:buNone/>
            </a:pPr>
            <a:r>
              <a:rPr lang="en-US" sz="1000" dirty="0">
                <a:solidFill>
                  <a:srgbClr val="1F2937"/>
                </a:solidFill>
              </a:rPr>
              <a:t>1. MATCH searches for "E003" in ID column → finds it at row 3</a:t>
            </a:r>
            <a:endParaRPr lang="en-US" sz="1000" dirty="0"/>
          </a:p>
        </p:txBody>
      </p:sp>
      <p:sp>
        <p:nvSpPr>
          <p:cNvPr id="24" name="Text 22"/>
          <p:cNvSpPr/>
          <p:nvPr/>
        </p:nvSpPr>
        <p:spPr>
          <a:xfrm>
            <a:off x="640080" y="3767328"/>
            <a:ext cx="7863840" cy="182880"/>
          </a:xfrm>
          <a:prstGeom prst="rect">
            <a:avLst/>
          </a:prstGeom>
          <a:noFill/>
          <a:ln/>
        </p:spPr>
        <p:txBody>
          <a:bodyPr wrap="square" rtlCol="0" anchor="ctr"/>
          <a:lstStyle/>
          <a:p>
            <a:pPr marL="0" indent="0">
              <a:buNone/>
            </a:pPr>
            <a:r>
              <a:rPr lang="en-US" sz="1000" dirty="0">
                <a:solidFill>
                  <a:srgbClr val="1F2937"/>
                </a:solidFill>
              </a:rPr>
              <a:t>2. INDEX takes row 3, goes to the Salary column</a:t>
            </a:r>
            <a:endParaRPr lang="en-US" sz="1000" dirty="0"/>
          </a:p>
        </p:txBody>
      </p:sp>
      <p:sp>
        <p:nvSpPr>
          <p:cNvPr id="25" name="Text 23"/>
          <p:cNvSpPr/>
          <p:nvPr/>
        </p:nvSpPr>
        <p:spPr>
          <a:xfrm>
            <a:off x="640080" y="3968496"/>
            <a:ext cx="7863840" cy="182880"/>
          </a:xfrm>
          <a:prstGeom prst="rect">
            <a:avLst/>
          </a:prstGeom>
          <a:noFill/>
          <a:ln/>
        </p:spPr>
        <p:txBody>
          <a:bodyPr wrap="square" rtlCol="0" anchor="ctr"/>
          <a:lstStyle/>
          <a:p>
            <a:pPr marL="0" indent="0">
              <a:buNone/>
            </a:pPr>
            <a:r>
              <a:rPr lang="en-US" sz="1000" dirty="0">
                <a:solidFill>
                  <a:srgbClr val="1F2937"/>
                </a:solidFill>
              </a:rPr>
              <a:t>3. Returns the salary value from that position</a:t>
            </a:r>
            <a:endParaRPr lang="en-US" sz="1000" dirty="0"/>
          </a:p>
        </p:txBody>
      </p:sp>
      <p:sp>
        <p:nvSpPr>
          <p:cNvPr id="26" name="Text 24"/>
          <p:cNvSpPr/>
          <p:nvPr/>
        </p:nvSpPr>
        <p:spPr>
          <a:xfrm>
            <a:off x="640080" y="4169664"/>
            <a:ext cx="7863840" cy="182880"/>
          </a:xfrm>
          <a:prstGeom prst="rect">
            <a:avLst/>
          </a:prstGeom>
          <a:noFill/>
          <a:ln/>
        </p:spPr>
        <p:txBody>
          <a:bodyPr wrap="square" rtlCol="0" anchor="ctr"/>
          <a:lstStyle/>
          <a:p>
            <a:pPr marL="0" indent="0">
              <a:buNone/>
            </a:pPr>
            <a:r>
              <a:rPr lang="en-US" sz="1000" dirty="0">
                <a:solidFill>
                  <a:srgbClr val="1F2937"/>
                </a:solidFill>
              </a:rPr>
              <a:t>Result: You get the data you need from any column!</a:t>
            </a:r>
            <a:endParaRPr lang="en-US" sz="1000" dirty="0"/>
          </a:p>
        </p:txBody>
      </p:sp>
      <p:sp>
        <p:nvSpPr>
          <p:cNvPr id="27" name="Text 25"/>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INDEX-MATCH: COMPLETE EXAMPLE</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b="1" dirty="0">
                <a:solidFill>
                  <a:srgbClr val="3B82F6"/>
                </a:solidFill>
              </a:rPr>
              <a:t>Same employee data, but with INDEX-MATCH</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14400" y="1280160"/>
          <a:ext cx="3657600" cy="9144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28600">
                <a:tc>
                  <a:txBody>
                    <a:bodyPr/>
                    <a:lstStyle/>
                    <a:p>
                      <a:pPr marL="0" indent="0" algn="ctr">
                        <a:buNone/>
                      </a:pPr>
                      <a:r>
                        <a:rPr lang="en-US" sz="900" b="1" dirty="0">
                          <a:solidFill>
                            <a:srgbClr val="FFFFFF"/>
                          </a:solidFill>
                        </a:rPr>
                        <a:t>ID</a:t>
                      </a:r>
                      <a:endParaRPr lang="en-US" sz="9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3B82F6"/>
                    </a:solidFill>
                  </a:tcPr>
                </a:tc>
                <a:tc>
                  <a:txBody>
                    <a:bodyPr/>
                    <a:lstStyle/>
                    <a:p>
                      <a:pPr marL="0" indent="0" algn="ctr">
                        <a:buNone/>
                      </a:pPr>
                      <a:r>
                        <a:rPr lang="en-US" sz="900" b="1" dirty="0">
                          <a:solidFill>
                            <a:srgbClr val="FFFFFF"/>
                          </a:solidFill>
                        </a:rPr>
                        <a:t>Name</a:t>
                      </a:r>
                      <a:endParaRPr lang="en-US" sz="9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3B82F6"/>
                    </a:solidFill>
                  </a:tcPr>
                </a:tc>
                <a:tc>
                  <a:txBody>
                    <a:bodyPr/>
                    <a:lstStyle/>
                    <a:p>
                      <a:pPr marL="0" indent="0" algn="ctr">
                        <a:buNone/>
                      </a:pPr>
                      <a:r>
                        <a:rPr lang="en-US" sz="900" b="1" dirty="0">
                          <a:solidFill>
                            <a:srgbClr val="FFFFFF"/>
                          </a:solidFill>
                        </a:rPr>
                        <a:t>Dept</a:t>
                      </a:r>
                      <a:endParaRPr lang="en-US" sz="9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3B82F6"/>
                    </a:solidFill>
                  </a:tcPr>
                </a:tc>
                <a:tc>
                  <a:txBody>
                    <a:bodyPr/>
                    <a:lstStyle/>
                    <a:p>
                      <a:pPr marL="0" indent="0" algn="ctr">
                        <a:buNone/>
                      </a:pPr>
                      <a:r>
                        <a:rPr lang="en-US" sz="900" b="1" dirty="0">
                          <a:solidFill>
                            <a:srgbClr val="FFFFFF"/>
                          </a:solidFill>
                        </a:rPr>
                        <a:t>Salary</a:t>
                      </a:r>
                      <a:endParaRPr lang="en-US" sz="9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3B82F6"/>
                    </a:solidFill>
                  </a:tcPr>
                </a:tc>
                <a:extLst>
                  <a:ext uri="{0D108BD9-81ED-4DB2-BD59-A6C34878D82A}">
                    <a16:rowId xmlns:a16="http://schemas.microsoft.com/office/drawing/2014/main" val="10000"/>
                  </a:ext>
                </a:extLst>
              </a:tr>
              <a:tr h="228600">
                <a:tc>
                  <a:txBody>
                    <a:bodyPr/>
                    <a:lstStyle/>
                    <a:p>
                      <a:pPr marL="0" indent="0" algn="ctr">
                        <a:buNone/>
                      </a:pPr>
                      <a:r>
                        <a:rPr lang="en-US" sz="800" dirty="0">
                          <a:solidFill>
                            <a:srgbClr val="000000"/>
                          </a:solidFill>
                        </a:rPr>
                        <a:t>E001</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Alice</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IT</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$75K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ctr">
                        <a:buNone/>
                      </a:pPr>
                      <a:r>
                        <a:rPr lang="en-US" sz="800" dirty="0">
                          <a:solidFill>
                            <a:srgbClr val="000000"/>
                          </a:solidFill>
                        </a:rPr>
                        <a:t>E002</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Bob</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HR</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$65K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ctr">
                        <a:buNone/>
                      </a:pPr>
                      <a:r>
                        <a:rPr lang="en-US" sz="800" dirty="0">
                          <a:solidFill>
                            <a:srgbClr val="000000"/>
                          </a:solidFill>
                        </a:rPr>
                        <a:t>E003</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Charlie</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Finance</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marL="0" indent="0" algn="ctr">
                        <a:buNone/>
                      </a:pPr>
                      <a:r>
                        <a:rPr lang="en-US" sz="800" dirty="0">
                          <a:solidFill>
                            <a:srgbClr val="000000"/>
                          </a:solidFill>
                        </a:rPr>
                        <a:t>$80K</a:t>
                      </a:r>
                      <a:endParaRPr lang="en-US" sz="800" dirty="0"/>
                    </a:p>
                  </a:txBody>
                  <a:tcPr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5029200" y="1280160"/>
            <a:ext cx="3657600" cy="228600"/>
          </a:xfrm>
          <a:prstGeom prst="rect">
            <a:avLst/>
          </a:prstGeom>
          <a:noFill/>
          <a:ln/>
        </p:spPr>
        <p:txBody>
          <a:bodyPr wrap="square" rtlCol="0" anchor="ctr"/>
          <a:lstStyle/>
          <a:p>
            <a:pPr marL="0" indent="0">
              <a:buNone/>
            </a:pPr>
            <a:r>
              <a:rPr lang="en-US" sz="1300" b="1" dirty="0">
                <a:solidFill>
                  <a:srgbClr val="0A1628"/>
                </a:solidFill>
              </a:rPr>
              <a:t>Task: Find Charlie's Salary</a:t>
            </a:r>
            <a:endParaRPr lang="en-US" sz="1300" dirty="0"/>
          </a:p>
        </p:txBody>
      </p:sp>
      <p:sp>
        <p:nvSpPr>
          <p:cNvPr id="6" name="Shape 3"/>
          <p:cNvSpPr/>
          <p:nvPr/>
        </p:nvSpPr>
        <p:spPr>
          <a:xfrm>
            <a:off x="5029200" y="1554480"/>
            <a:ext cx="3657600" cy="320040"/>
          </a:xfrm>
          <a:prstGeom prst="rect">
            <a:avLst/>
          </a:prstGeom>
          <a:solidFill>
            <a:srgbClr val="0A1628"/>
          </a:solidFill>
          <a:ln/>
        </p:spPr>
      </p:sp>
      <p:sp>
        <p:nvSpPr>
          <p:cNvPr id="7" name="Text 4"/>
          <p:cNvSpPr/>
          <p:nvPr/>
        </p:nvSpPr>
        <p:spPr>
          <a:xfrm>
            <a:off x="5120640" y="1627632"/>
            <a:ext cx="3474720" cy="182880"/>
          </a:xfrm>
          <a:prstGeom prst="rect">
            <a:avLst/>
          </a:prstGeom>
          <a:noFill/>
          <a:ln/>
        </p:spPr>
        <p:txBody>
          <a:bodyPr wrap="square"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=INDEX(D2:D4, MATCH("E003", A2:A4, 0))</a:t>
            </a:r>
            <a:endParaRPr lang="en-US" sz="1000" dirty="0"/>
          </a:p>
        </p:txBody>
      </p:sp>
      <p:sp>
        <p:nvSpPr>
          <p:cNvPr id="8" name="Text 5"/>
          <p:cNvSpPr/>
          <p:nvPr/>
        </p:nvSpPr>
        <p:spPr>
          <a:xfrm>
            <a:off x="5029200" y="1965960"/>
            <a:ext cx="3657600" cy="182880"/>
          </a:xfrm>
          <a:prstGeom prst="rect">
            <a:avLst/>
          </a:prstGeom>
          <a:noFill/>
          <a:ln/>
        </p:spPr>
        <p:txBody>
          <a:bodyPr wrap="square" rtlCol="0" anchor="ctr"/>
          <a:lstStyle/>
          <a:p>
            <a:pPr marL="0" indent="0">
              <a:buNone/>
            </a:pPr>
            <a:r>
              <a:rPr lang="en-US" sz="1200" b="1" dirty="0">
                <a:solidFill>
                  <a:srgbClr val="0A1628"/>
                </a:solidFill>
              </a:rPr>
              <a:t>Step-by-Step Breakdown:</a:t>
            </a:r>
            <a:endParaRPr lang="en-US" sz="1200" dirty="0"/>
          </a:p>
        </p:txBody>
      </p:sp>
      <p:sp>
        <p:nvSpPr>
          <p:cNvPr id="9" name="Shape 6"/>
          <p:cNvSpPr/>
          <p:nvPr/>
        </p:nvSpPr>
        <p:spPr>
          <a:xfrm>
            <a:off x="5074920" y="2221992"/>
            <a:ext cx="137160" cy="137160"/>
          </a:xfrm>
          <a:prstGeom prst="ellipse">
            <a:avLst/>
          </a:prstGeom>
          <a:solidFill>
            <a:srgbClr val="8B5CF6"/>
          </a:solidFill>
          <a:ln/>
        </p:spPr>
      </p:sp>
      <p:sp>
        <p:nvSpPr>
          <p:cNvPr id="10" name="Text 7"/>
          <p:cNvSpPr/>
          <p:nvPr/>
        </p:nvSpPr>
        <p:spPr>
          <a:xfrm>
            <a:off x="5074920" y="2221992"/>
            <a:ext cx="137160" cy="137160"/>
          </a:xfrm>
          <a:prstGeom prst="rect">
            <a:avLst/>
          </a:prstGeom>
          <a:noFill/>
          <a:ln/>
        </p:spPr>
        <p:txBody>
          <a:bodyPr wrap="square" rtlCol="0" anchor="ctr"/>
          <a:lstStyle/>
          <a:p>
            <a:pPr marL="0" indent="0" algn="ctr">
              <a:buNone/>
            </a:pPr>
            <a:r>
              <a:rPr lang="en-US" sz="900" b="1" dirty="0">
                <a:solidFill>
                  <a:srgbClr val="FFFFFF"/>
                </a:solidFill>
              </a:rPr>
              <a:t>1</a:t>
            </a:r>
            <a:endParaRPr lang="en-US" sz="900" dirty="0"/>
          </a:p>
        </p:txBody>
      </p:sp>
      <p:sp>
        <p:nvSpPr>
          <p:cNvPr id="11" name="Text 8"/>
          <p:cNvSpPr/>
          <p:nvPr/>
        </p:nvSpPr>
        <p:spPr>
          <a:xfrm>
            <a:off x="5257800" y="2194560"/>
            <a:ext cx="3383280" cy="137160"/>
          </a:xfrm>
          <a:prstGeom prst="rect">
            <a:avLst/>
          </a:prstGeom>
          <a:noFill/>
          <a:ln/>
        </p:spPr>
        <p:txBody>
          <a:bodyPr wrap="square" rtlCol="0" anchor="ctr"/>
          <a:lstStyle/>
          <a:p>
            <a:pPr marL="0" indent="0">
              <a:buNone/>
            </a:pPr>
            <a:r>
              <a:rPr lang="en-US" sz="900" dirty="0">
                <a:solidFill>
                  <a:srgbClr val="1F2937"/>
                </a:solidFill>
                <a:latin typeface="Consolas" pitchFamily="34" charset="0"/>
                <a:ea typeface="Consolas" pitchFamily="34" charset="-122"/>
                <a:cs typeface="Consolas" pitchFamily="34" charset="-120"/>
              </a:rPr>
              <a:t>MATCH("E003", A2:A4, 0)</a:t>
            </a:r>
            <a:endParaRPr lang="en-US" sz="900" dirty="0"/>
          </a:p>
        </p:txBody>
      </p:sp>
      <p:sp>
        <p:nvSpPr>
          <p:cNvPr id="12" name="Text 9"/>
          <p:cNvSpPr/>
          <p:nvPr/>
        </p:nvSpPr>
        <p:spPr>
          <a:xfrm>
            <a:off x="5257800" y="2350008"/>
            <a:ext cx="3383280" cy="118872"/>
          </a:xfrm>
          <a:prstGeom prst="rect">
            <a:avLst/>
          </a:prstGeom>
          <a:noFill/>
          <a:ln/>
        </p:spPr>
        <p:txBody>
          <a:bodyPr wrap="square" rtlCol="0" anchor="ctr"/>
          <a:lstStyle/>
          <a:p>
            <a:pPr marL="0" indent="0">
              <a:buNone/>
            </a:pPr>
            <a:r>
              <a:rPr lang="en-US" sz="800" i="1" dirty="0">
                <a:solidFill>
                  <a:srgbClr val="8B5CF6"/>
                </a:solidFill>
              </a:rPr>
              <a:t>→ Returns 3 (E003 is in position 3)</a:t>
            </a:r>
            <a:endParaRPr lang="en-US" sz="800" dirty="0"/>
          </a:p>
        </p:txBody>
      </p:sp>
      <p:sp>
        <p:nvSpPr>
          <p:cNvPr id="13" name="Shape 10"/>
          <p:cNvSpPr/>
          <p:nvPr/>
        </p:nvSpPr>
        <p:spPr>
          <a:xfrm>
            <a:off x="5074920" y="2542032"/>
            <a:ext cx="137160" cy="137160"/>
          </a:xfrm>
          <a:prstGeom prst="ellipse">
            <a:avLst/>
          </a:prstGeom>
          <a:solidFill>
            <a:srgbClr val="8B5CF6"/>
          </a:solidFill>
          <a:ln/>
        </p:spPr>
      </p:sp>
      <p:sp>
        <p:nvSpPr>
          <p:cNvPr id="4" name="Text 11"/>
          <p:cNvSpPr/>
          <p:nvPr/>
        </p:nvSpPr>
        <p:spPr>
          <a:xfrm>
            <a:off x="5074920" y="2542032"/>
            <a:ext cx="137160" cy="137160"/>
          </a:xfrm>
          <a:prstGeom prst="rect">
            <a:avLst/>
          </a:prstGeom>
          <a:noFill/>
          <a:ln/>
        </p:spPr>
        <p:txBody>
          <a:bodyPr wrap="square" rtlCol="0" anchor="ctr"/>
          <a:lstStyle/>
          <a:p>
            <a:pPr marL="0" indent="0" algn="ctr">
              <a:buNone/>
            </a:pPr>
            <a:r>
              <a:rPr lang="en-US" sz="900" b="1" dirty="0">
                <a:solidFill>
                  <a:srgbClr val="FFFFFF"/>
                </a:solidFill>
              </a:rPr>
              <a:t>2</a:t>
            </a:r>
            <a:endParaRPr lang="en-US" sz="900" dirty="0"/>
          </a:p>
        </p:txBody>
      </p:sp>
      <p:sp>
        <p:nvSpPr>
          <p:cNvPr id="15" name="Text 12"/>
          <p:cNvSpPr/>
          <p:nvPr/>
        </p:nvSpPr>
        <p:spPr>
          <a:xfrm>
            <a:off x="5257800" y="2514600"/>
            <a:ext cx="3383280" cy="137160"/>
          </a:xfrm>
          <a:prstGeom prst="rect">
            <a:avLst/>
          </a:prstGeom>
          <a:noFill/>
          <a:ln/>
        </p:spPr>
        <p:txBody>
          <a:bodyPr wrap="square" rtlCol="0" anchor="ctr"/>
          <a:lstStyle/>
          <a:p>
            <a:pPr marL="0" indent="0">
              <a:buNone/>
            </a:pPr>
            <a:r>
              <a:rPr lang="en-US" sz="900" dirty="0">
                <a:solidFill>
                  <a:srgbClr val="1F2937"/>
                </a:solidFill>
                <a:latin typeface="Consolas" pitchFamily="34" charset="0"/>
                <a:ea typeface="Consolas" pitchFamily="34" charset="-122"/>
                <a:cs typeface="Consolas" pitchFamily="34" charset="-120"/>
              </a:rPr>
              <a:t>INDEX(D2:D4, 3)</a:t>
            </a:r>
            <a:endParaRPr lang="en-US" sz="900" dirty="0"/>
          </a:p>
        </p:txBody>
      </p:sp>
      <p:sp>
        <p:nvSpPr>
          <p:cNvPr id="16" name="Text 13"/>
          <p:cNvSpPr/>
          <p:nvPr/>
        </p:nvSpPr>
        <p:spPr>
          <a:xfrm>
            <a:off x="5257800" y="2670048"/>
            <a:ext cx="3383280" cy="118872"/>
          </a:xfrm>
          <a:prstGeom prst="rect">
            <a:avLst/>
          </a:prstGeom>
          <a:noFill/>
          <a:ln/>
        </p:spPr>
        <p:txBody>
          <a:bodyPr wrap="square" rtlCol="0" anchor="ctr"/>
          <a:lstStyle/>
          <a:p>
            <a:pPr marL="0" indent="0">
              <a:buNone/>
            </a:pPr>
            <a:r>
              <a:rPr lang="en-US" sz="800" i="1" dirty="0">
                <a:solidFill>
                  <a:srgbClr val="8B5CF6"/>
                </a:solidFill>
              </a:rPr>
              <a:t>→ Get value from position 3 in Salary column</a:t>
            </a:r>
            <a:endParaRPr lang="en-US" sz="800" dirty="0"/>
          </a:p>
        </p:txBody>
      </p:sp>
      <p:sp>
        <p:nvSpPr>
          <p:cNvPr id="17" name="Shape 14"/>
          <p:cNvSpPr/>
          <p:nvPr/>
        </p:nvSpPr>
        <p:spPr>
          <a:xfrm>
            <a:off x="5074920" y="2862072"/>
            <a:ext cx="137160" cy="137160"/>
          </a:xfrm>
          <a:prstGeom prst="ellipse">
            <a:avLst/>
          </a:prstGeom>
          <a:solidFill>
            <a:srgbClr val="8B5CF6"/>
          </a:solidFill>
          <a:ln/>
        </p:spPr>
      </p:sp>
      <p:sp>
        <p:nvSpPr>
          <p:cNvPr id="18" name="Text 15"/>
          <p:cNvSpPr/>
          <p:nvPr/>
        </p:nvSpPr>
        <p:spPr>
          <a:xfrm>
            <a:off x="5074920" y="2862072"/>
            <a:ext cx="137160" cy="137160"/>
          </a:xfrm>
          <a:prstGeom prst="rect">
            <a:avLst/>
          </a:prstGeom>
          <a:noFill/>
          <a:ln/>
        </p:spPr>
        <p:txBody>
          <a:bodyPr wrap="square" rtlCol="0" anchor="ctr"/>
          <a:lstStyle/>
          <a:p>
            <a:pPr marL="0" indent="0" algn="ctr">
              <a:buNone/>
            </a:pPr>
            <a:r>
              <a:rPr lang="en-US" sz="900" b="1" dirty="0">
                <a:solidFill>
                  <a:srgbClr val="FFFFFF"/>
                </a:solidFill>
              </a:rPr>
              <a:t>3</a:t>
            </a:r>
            <a:endParaRPr lang="en-US" sz="900" dirty="0"/>
          </a:p>
        </p:txBody>
      </p:sp>
      <p:sp>
        <p:nvSpPr>
          <p:cNvPr id="19" name="Text 16"/>
          <p:cNvSpPr/>
          <p:nvPr/>
        </p:nvSpPr>
        <p:spPr>
          <a:xfrm>
            <a:off x="5257800" y="2834640"/>
            <a:ext cx="3383280" cy="137160"/>
          </a:xfrm>
          <a:prstGeom prst="rect">
            <a:avLst/>
          </a:prstGeom>
          <a:noFill/>
          <a:ln/>
        </p:spPr>
        <p:txBody>
          <a:bodyPr wrap="square" rtlCol="0" anchor="ctr"/>
          <a:lstStyle/>
          <a:p>
            <a:pPr marL="0" indent="0">
              <a:buNone/>
            </a:pPr>
            <a:r>
              <a:rPr lang="en-US" sz="900" dirty="0">
                <a:solidFill>
                  <a:srgbClr val="1F2937"/>
                </a:solidFill>
                <a:latin typeface="Consolas" pitchFamily="34" charset="0"/>
                <a:ea typeface="Consolas" pitchFamily="34" charset="-122"/>
                <a:cs typeface="Consolas" pitchFamily="34" charset="-120"/>
              </a:rPr>
              <a:t>Final Result:</a:t>
            </a:r>
            <a:endParaRPr lang="en-US" sz="900" dirty="0"/>
          </a:p>
        </p:txBody>
      </p:sp>
      <p:sp>
        <p:nvSpPr>
          <p:cNvPr id="20" name="Text 17"/>
          <p:cNvSpPr/>
          <p:nvPr/>
        </p:nvSpPr>
        <p:spPr>
          <a:xfrm>
            <a:off x="5257800" y="2990088"/>
            <a:ext cx="3383280" cy="118872"/>
          </a:xfrm>
          <a:prstGeom prst="rect">
            <a:avLst/>
          </a:prstGeom>
          <a:noFill/>
          <a:ln/>
        </p:spPr>
        <p:txBody>
          <a:bodyPr wrap="square" rtlCol="0" anchor="ctr"/>
          <a:lstStyle/>
          <a:p>
            <a:pPr marL="0" indent="0">
              <a:buNone/>
            </a:pPr>
            <a:r>
              <a:rPr lang="en-US" sz="800" i="1" dirty="0">
                <a:solidFill>
                  <a:srgbClr val="8B5CF6"/>
                </a:solidFill>
              </a:rPr>
              <a:t>→ $80K ✓</a:t>
            </a:r>
            <a:endParaRPr lang="en-US" sz="800" dirty="0"/>
          </a:p>
        </p:txBody>
      </p:sp>
      <p:sp>
        <p:nvSpPr>
          <p:cNvPr id="21" name="Text 18"/>
          <p:cNvSpPr/>
          <p:nvPr/>
        </p:nvSpPr>
        <p:spPr>
          <a:xfrm>
            <a:off x="457200" y="3291840"/>
            <a:ext cx="8229600" cy="228600"/>
          </a:xfrm>
          <a:prstGeom prst="rect">
            <a:avLst/>
          </a:prstGeom>
          <a:noFill/>
          <a:ln/>
        </p:spPr>
        <p:txBody>
          <a:bodyPr wrap="square" rtlCol="0" anchor="ctr"/>
          <a:lstStyle/>
          <a:p>
            <a:pPr marL="0" indent="0">
              <a:buNone/>
            </a:pPr>
            <a:r>
              <a:rPr lang="en-US" sz="1400" b="1" dirty="0">
                <a:solidFill>
                  <a:srgbClr val="0A1628"/>
                </a:solidFill>
              </a:rPr>
              <a:t>Why This is Powerful:</a:t>
            </a:r>
            <a:endParaRPr lang="en-US" sz="1400" dirty="0"/>
          </a:p>
        </p:txBody>
      </p:sp>
      <p:sp>
        <p:nvSpPr>
          <p:cNvPr id="22" name="Text 19"/>
          <p:cNvSpPr/>
          <p:nvPr/>
        </p:nvSpPr>
        <p:spPr>
          <a:xfrm>
            <a:off x="640080" y="3566160"/>
            <a:ext cx="8046720" cy="201168"/>
          </a:xfrm>
          <a:prstGeom prst="rect">
            <a:avLst/>
          </a:prstGeom>
          <a:noFill/>
          <a:ln/>
        </p:spPr>
        <p:txBody>
          <a:bodyPr wrap="square" rtlCol="0" anchor="ctr"/>
          <a:lstStyle/>
          <a:p>
            <a:pPr marL="0" indent="0">
              <a:buNone/>
            </a:pPr>
            <a:r>
              <a:rPr lang="en-US" sz="1000" dirty="0">
                <a:solidFill>
                  <a:srgbClr val="1F2937"/>
                </a:solidFill>
              </a:rPr>
              <a:t>✓ Can look up in ANY column (not just first one like VLOOKUP)</a:t>
            </a:r>
            <a:endParaRPr lang="en-US" sz="1000" dirty="0"/>
          </a:p>
        </p:txBody>
      </p:sp>
      <p:sp>
        <p:nvSpPr>
          <p:cNvPr id="23" name="Text 20"/>
          <p:cNvSpPr/>
          <p:nvPr/>
        </p:nvSpPr>
        <p:spPr>
          <a:xfrm>
            <a:off x="640080" y="3794760"/>
            <a:ext cx="8046720" cy="201168"/>
          </a:xfrm>
          <a:prstGeom prst="rect">
            <a:avLst/>
          </a:prstGeom>
          <a:noFill/>
          <a:ln/>
        </p:spPr>
        <p:txBody>
          <a:bodyPr wrap="square" rtlCol="0" anchor="ctr"/>
          <a:lstStyle/>
          <a:p>
            <a:pPr marL="0" indent="0">
              <a:buNone/>
            </a:pPr>
            <a:r>
              <a:rPr lang="en-US" sz="1000" dirty="0">
                <a:solidFill>
                  <a:srgbClr val="1F2937"/>
                </a:solidFill>
              </a:rPr>
              <a:t>✓ Can return data from columns to the LEFT of lookup column</a:t>
            </a:r>
            <a:endParaRPr lang="en-US" sz="1000" dirty="0"/>
          </a:p>
        </p:txBody>
      </p:sp>
      <p:sp>
        <p:nvSpPr>
          <p:cNvPr id="24" name="Text 21"/>
          <p:cNvSpPr/>
          <p:nvPr/>
        </p:nvSpPr>
        <p:spPr>
          <a:xfrm>
            <a:off x="640080" y="4023360"/>
            <a:ext cx="8046720" cy="201168"/>
          </a:xfrm>
          <a:prstGeom prst="rect">
            <a:avLst/>
          </a:prstGeom>
          <a:noFill/>
          <a:ln/>
        </p:spPr>
        <p:txBody>
          <a:bodyPr wrap="square" rtlCol="0" anchor="ctr"/>
          <a:lstStyle/>
          <a:p>
            <a:pPr marL="0" indent="0">
              <a:buNone/>
            </a:pPr>
            <a:r>
              <a:rPr lang="en-US" sz="1000" dirty="0">
                <a:solidFill>
                  <a:srgbClr val="1F2937"/>
                </a:solidFill>
              </a:rPr>
              <a:t>✓ If you insert columns, formula still works (column references don't break)</a:t>
            </a:r>
            <a:endParaRPr lang="en-US" sz="1000" dirty="0"/>
          </a:p>
        </p:txBody>
      </p:sp>
      <p:sp>
        <p:nvSpPr>
          <p:cNvPr id="25" name="Text 22"/>
          <p:cNvSpPr/>
          <p:nvPr/>
        </p:nvSpPr>
        <p:spPr>
          <a:xfrm>
            <a:off x="640080" y="4251960"/>
            <a:ext cx="8046720" cy="201168"/>
          </a:xfrm>
          <a:prstGeom prst="rect">
            <a:avLst/>
          </a:prstGeom>
          <a:noFill/>
          <a:ln/>
        </p:spPr>
        <p:txBody>
          <a:bodyPr wrap="square" rtlCol="0" anchor="ctr"/>
          <a:lstStyle/>
          <a:p>
            <a:pPr marL="0" indent="0">
              <a:buNone/>
            </a:pPr>
            <a:r>
              <a:rPr lang="en-US" sz="1000" dirty="0">
                <a:solidFill>
                  <a:srgbClr val="1F2937"/>
                </a:solidFill>
              </a:rPr>
              <a:t>✓ Faster performance on large datasets</a:t>
            </a:r>
            <a:endParaRPr lang="en-US" sz="1000" dirty="0"/>
          </a:p>
        </p:txBody>
      </p:sp>
      <p:sp>
        <p:nvSpPr>
          <p:cNvPr id="26" name="Text 23"/>
          <p:cNvSpPr/>
          <p:nvPr/>
        </p:nvSpPr>
        <p:spPr>
          <a:xfrm>
            <a:off x="640080" y="4480560"/>
            <a:ext cx="8046720" cy="201168"/>
          </a:xfrm>
          <a:prstGeom prst="rect">
            <a:avLst/>
          </a:prstGeom>
          <a:noFill/>
          <a:ln/>
        </p:spPr>
        <p:txBody>
          <a:bodyPr wrap="square" rtlCol="0" anchor="ctr"/>
          <a:lstStyle/>
          <a:p>
            <a:pPr marL="0" indent="0">
              <a:buNone/>
            </a:pPr>
            <a:r>
              <a:rPr lang="en-US" sz="1000" dirty="0">
                <a:solidFill>
                  <a:srgbClr val="1F2937"/>
                </a:solidFill>
              </a:rPr>
              <a:t>✓ More flexible for complex lookups</a:t>
            </a:r>
            <a:endParaRPr lang="en-US" sz="1000" dirty="0"/>
          </a:p>
        </p:txBody>
      </p:sp>
      <p:sp>
        <p:nvSpPr>
          <p:cNvPr id="27" name="Text 24"/>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INDEX-MATCH FORMULA TEMPLATE</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600" dirty="0">
                <a:solidFill>
                  <a:srgbClr val="1F2937"/>
                </a:solidFill>
              </a:rPr>
              <a:t>Copy this template for your own use</a:t>
            </a:r>
            <a:endParaRPr lang="en-US" sz="1600" dirty="0"/>
          </a:p>
        </p:txBody>
      </p:sp>
      <p:sp>
        <p:nvSpPr>
          <p:cNvPr id="4" name="Shape 2"/>
          <p:cNvSpPr/>
          <p:nvPr/>
        </p:nvSpPr>
        <p:spPr>
          <a:xfrm>
            <a:off x="457200" y="1371600"/>
            <a:ext cx="8229600" cy="640080"/>
          </a:xfrm>
          <a:prstGeom prst="rect">
            <a:avLst/>
          </a:prstGeom>
          <a:solidFill>
            <a:srgbClr val="0A1628"/>
          </a:solidFill>
          <a:ln/>
        </p:spPr>
      </p:sp>
      <p:sp>
        <p:nvSpPr>
          <p:cNvPr id="5" name="Text 3"/>
          <p:cNvSpPr/>
          <p:nvPr/>
        </p:nvSpPr>
        <p:spPr>
          <a:xfrm>
            <a:off x="640080" y="1554480"/>
            <a:ext cx="7863840" cy="274320"/>
          </a:xfrm>
          <a:prstGeom prst="rect">
            <a:avLst/>
          </a:prstGeom>
          <a:noFill/>
          <a:ln/>
        </p:spPr>
        <p:txBody>
          <a:bodyPr wrap="square" rtlCol="0" anchor="ctr"/>
          <a:lstStyle/>
          <a:p>
            <a:pPr marL="0" indent="0">
              <a:buNone/>
            </a:pPr>
            <a:r>
              <a:rPr lang="en-US" sz="1600" b="1" dirty="0">
                <a:solidFill>
                  <a:srgbClr val="FFFFFF"/>
                </a:solidFill>
                <a:latin typeface="Consolas" pitchFamily="34" charset="0"/>
                <a:ea typeface="Consolas" pitchFamily="34" charset="-122"/>
                <a:cs typeface="Consolas" pitchFamily="34" charset="-120"/>
              </a:rPr>
              <a:t>=INDEX(return_range, MATCH(lookup_value, lookup_range, 0))</a:t>
            </a:r>
            <a:endParaRPr lang="en-US" sz="1600" dirty="0"/>
          </a:p>
        </p:txBody>
      </p:sp>
      <p:sp>
        <p:nvSpPr>
          <p:cNvPr id="6" name="Text 4"/>
          <p:cNvSpPr/>
          <p:nvPr/>
        </p:nvSpPr>
        <p:spPr>
          <a:xfrm>
            <a:off x="457200" y="2194560"/>
            <a:ext cx="8229600" cy="274320"/>
          </a:xfrm>
          <a:prstGeom prst="rect">
            <a:avLst/>
          </a:prstGeom>
          <a:noFill/>
          <a:ln/>
        </p:spPr>
        <p:txBody>
          <a:bodyPr wrap="square" rtlCol="0" anchor="ctr"/>
          <a:lstStyle/>
          <a:p>
            <a:pPr marL="0" indent="0">
              <a:buNone/>
            </a:pPr>
            <a:r>
              <a:rPr lang="en-US" sz="1600" b="1" dirty="0">
                <a:solidFill>
                  <a:srgbClr val="0A1628"/>
                </a:solidFill>
              </a:rPr>
              <a:t>Replace These Parts:</a:t>
            </a:r>
            <a:endParaRPr lang="en-US" sz="1600" dirty="0"/>
          </a:p>
        </p:txBody>
      </p:sp>
      <p:sp>
        <p:nvSpPr>
          <p:cNvPr id="7" name="Shape 5"/>
          <p:cNvSpPr/>
          <p:nvPr/>
        </p:nvSpPr>
        <p:spPr>
          <a:xfrm>
            <a:off x="457200" y="2560320"/>
            <a:ext cx="8229600" cy="457200"/>
          </a:xfrm>
          <a:prstGeom prst="rect">
            <a:avLst/>
          </a:prstGeom>
          <a:solidFill>
            <a:srgbClr val="FFFFFF"/>
          </a:solidFill>
          <a:ln w="12700">
            <a:solidFill>
              <a:srgbClr val="3B82F6"/>
            </a:solidFill>
            <a:prstDash val="solid"/>
          </a:ln>
        </p:spPr>
      </p:sp>
      <p:sp>
        <p:nvSpPr>
          <p:cNvPr id="8" name="Text 6"/>
          <p:cNvSpPr/>
          <p:nvPr/>
        </p:nvSpPr>
        <p:spPr>
          <a:xfrm>
            <a:off x="640080" y="2633472"/>
            <a:ext cx="1828800" cy="164592"/>
          </a:xfrm>
          <a:prstGeom prst="rect">
            <a:avLst/>
          </a:prstGeom>
          <a:noFill/>
          <a:ln/>
        </p:spPr>
        <p:txBody>
          <a:bodyPr wrap="square" rtlCol="0" anchor="ctr"/>
          <a:lstStyle/>
          <a:p>
            <a:pPr marL="0" indent="0">
              <a:buNone/>
            </a:pPr>
            <a:r>
              <a:rPr lang="en-US" sz="1100" b="1" dirty="0">
                <a:solidFill>
                  <a:srgbClr val="3B82F6"/>
                </a:solidFill>
                <a:latin typeface="Consolas" pitchFamily="34" charset="0"/>
                <a:ea typeface="Consolas" pitchFamily="34" charset="-122"/>
                <a:cs typeface="Consolas" pitchFamily="34" charset="-120"/>
              </a:rPr>
              <a:t>return_range</a:t>
            </a:r>
            <a:endParaRPr lang="en-US" sz="1100" dirty="0"/>
          </a:p>
        </p:txBody>
      </p:sp>
      <p:sp>
        <p:nvSpPr>
          <p:cNvPr id="9" name="Text 7"/>
          <p:cNvSpPr/>
          <p:nvPr/>
        </p:nvSpPr>
        <p:spPr>
          <a:xfrm>
            <a:off x="640080" y="2816352"/>
            <a:ext cx="6400800" cy="146304"/>
          </a:xfrm>
          <a:prstGeom prst="rect">
            <a:avLst/>
          </a:prstGeom>
          <a:noFill/>
          <a:ln/>
        </p:spPr>
        <p:txBody>
          <a:bodyPr wrap="square" rtlCol="0" anchor="ctr"/>
          <a:lstStyle/>
          <a:p>
            <a:pPr marL="0" indent="0">
              <a:buNone/>
            </a:pPr>
            <a:r>
              <a:rPr lang="en-US" sz="900" dirty="0">
                <a:solidFill>
                  <a:srgbClr val="1F2937"/>
                </a:solidFill>
              </a:rPr>
              <a:t>The column you want to GET data FROM (e.g., D2:D100 for Salary)</a:t>
            </a:r>
            <a:endParaRPr lang="en-US" sz="900" dirty="0"/>
          </a:p>
        </p:txBody>
      </p:sp>
      <p:sp>
        <p:nvSpPr>
          <p:cNvPr id="10" name="Text 8"/>
          <p:cNvSpPr/>
          <p:nvPr/>
        </p:nvSpPr>
        <p:spPr>
          <a:xfrm>
            <a:off x="7132320" y="2697480"/>
            <a:ext cx="1463040" cy="228600"/>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Example: D2:D100</a:t>
            </a:r>
            <a:endParaRPr lang="en-US" sz="800" dirty="0"/>
          </a:p>
        </p:txBody>
      </p:sp>
      <p:sp>
        <p:nvSpPr>
          <p:cNvPr id="11" name="Shape 9"/>
          <p:cNvSpPr/>
          <p:nvPr/>
        </p:nvSpPr>
        <p:spPr>
          <a:xfrm>
            <a:off x="457200" y="3063240"/>
            <a:ext cx="8229600" cy="457200"/>
          </a:xfrm>
          <a:prstGeom prst="rect">
            <a:avLst/>
          </a:prstGeom>
          <a:solidFill>
            <a:srgbClr val="FFFFFF"/>
          </a:solidFill>
          <a:ln w="12700">
            <a:solidFill>
              <a:srgbClr val="3B82F6"/>
            </a:solidFill>
            <a:prstDash val="solid"/>
          </a:ln>
        </p:spPr>
      </p:sp>
      <p:sp>
        <p:nvSpPr>
          <p:cNvPr id="12" name="Text 10"/>
          <p:cNvSpPr/>
          <p:nvPr/>
        </p:nvSpPr>
        <p:spPr>
          <a:xfrm>
            <a:off x="640080" y="3136392"/>
            <a:ext cx="1828800" cy="164592"/>
          </a:xfrm>
          <a:prstGeom prst="rect">
            <a:avLst/>
          </a:prstGeom>
          <a:noFill/>
          <a:ln/>
        </p:spPr>
        <p:txBody>
          <a:bodyPr wrap="square" rtlCol="0" anchor="ctr"/>
          <a:lstStyle/>
          <a:p>
            <a:pPr marL="0" indent="0">
              <a:buNone/>
            </a:pPr>
            <a:r>
              <a:rPr lang="en-US" sz="1100" b="1" dirty="0">
                <a:solidFill>
                  <a:srgbClr val="3B82F6"/>
                </a:solidFill>
                <a:latin typeface="Consolas" pitchFamily="34" charset="0"/>
                <a:ea typeface="Consolas" pitchFamily="34" charset="-122"/>
                <a:cs typeface="Consolas" pitchFamily="34" charset="-120"/>
              </a:rPr>
              <a:t>lookup_value</a:t>
            </a:r>
            <a:endParaRPr lang="en-US" sz="1100" dirty="0"/>
          </a:p>
        </p:txBody>
      </p:sp>
      <p:sp>
        <p:nvSpPr>
          <p:cNvPr id="13" name="Text 11"/>
          <p:cNvSpPr/>
          <p:nvPr/>
        </p:nvSpPr>
        <p:spPr>
          <a:xfrm>
            <a:off x="640080" y="3319272"/>
            <a:ext cx="6400800" cy="146304"/>
          </a:xfrm>
          <a:prstGeom prst="rect">
            <a:avLst/>
          </a:prstGeom>
          <a:noFill/>
          <a:ln/>
        </p:spPr>
        <p:txBody>
          <a:bodyPr wrap="square" rtlCol="0" anchor="ctr"/>
          <a:lstStyle/>
          <a:p>
            <a:pPr marL="0" indent="0">
              <a:buNone/>
            </a:pPr>
            <a:r>
              <a:rPr lang="en-US" sz="900" dirty="0">
                <a:solidFill>
                  <a:srgbClr val="1F2937"/>
                </a:solidFill>
              </a:rPr>
              <a:t>The value you're searching FOR (e.g., "E003" or cell reference F2)</a:t>
            </a:r>
            <a:endParaRPr lang="en-US" sz="900" dirty="0"/>
          </a:p>
        </p:txBody>
      </p:sp>
      <p:sp>
        <p:nvSpPr>
          <p:cNvPr id="14" name="Text 12"/>
          <p:cNvSpPr/>
          <p:nvPr/>
        </p:nvSpPr>
        <p:spPr>
          <a:xfrm>
            <a:off x="7132320" y="3200400"/>
            <a:ext cx="1463040" cy="228600"/>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Example: "E003" or F2</a:t>
            </a:r>
            <a:endParaRPr lang="en-US" sz="800" dirty="0"/>
          </a:p>
        </p:txBody>
      </p:sp>
      <p:sp>
        <p:nvSpPr>
          <p:cNvPr id="15" name="Shape 13"/>
          <p:cNvSpPr/>
          <p:nvPr/>
        </p:nvSpPr>
        <p:spPr>
          <a:xfrm>
            <a:off x="457200" y="3566160"/>
            <a:ext cx="8229600" cy="457200"/>
          </a:xfrm>
          <a:prstGeom prst="rect">
            <a:avLst/>
          </a:prstGeom>
          <a:solidFill>
            <a:srgbClr val="FFFFFF"/>
          </a:solidFill>
          <a:ln w="12700">
            <a:solidFill>
              <a:srgbClr val="3B82F6"/>
            </a:solidFill>
            <a:prstDash val="solid"/>
          </a:ln>
        </p:spPr>
      </p:sp>
      <p:sp>
        <p:nvSpPr>
          <p:cNvPr id="16" name="Text 14"/>
          <p:cNvSpPr/>
          <p:nvPr/>
        </p:nvSpPr>
        <p:spPr>
          <a:xfrm>
            <a:off x="640080" y="3639312"/>
            <a:ext cx="1828800" cy="164592"/>
          </a:xfrm>
          <a:prstGeom prst="rect">
            <a:avLst/>
          </a:prstGeom>
          <a:noFill/>
          <a:ln/>
        </p:spPr>
        <p:txBody>
          <a:bodyPr wrap="square" rtlCol="0" anchor="ctr"/>
          <a:lstStyle/>
          <a:p>
            <a:pPr marL="0" indent="0">
              <a:buNone/>
            </a:pPr>
            <a:r>
              <a:rPr lang="en-US" sz="1100" b="1" dirty="0">
                <a:solidFill>
                  <a:srgbClr val="3B82F6"/>
                </a:solidFill>
                <a:latin typeface="Consolas" pitchFamily="34" charset="0"/>
                <a:ea typeface="Consolas" pitchFamily="34" charset="-122"/>
                <a:cs typeface="Consolas" pitchFamily="34" charset="-120"/>
              </a:rPr>
              <a:t>lookup_range</a:t>
            </a:r>
            <a:endParaRPr lang="en-US" sz="1100" dirty="0"/>
          </a:p>
        </p:txBody>
      </p:sp>
      <p:sp>
        <p:nvSpPr>
          <p:cNvPr id="17" name="Text 15"/>
          <p:cNvSpPr/>
          <p:nvPr/>
        </p:nvSpPr>
        <p:spPr>
          <a:xfrm>
            <a:off x="640080" y="3822192"/>
            <a:ext cx="6400800" cy="146304"/>
          </a:xfrm>
          <a:prstGeom prst="rect">
            <a:avLst/>
          </a:prstGeom>
          <a:noFill/>
          <a:ln/>
        </p:spPr>
        <p:txBody>
          <a:bodyPr wrap="square" rtlCol="0" anchor="ctr"/>
          <a:lstStyle/>
          <a:p>
            <a:pPr marL="0" indent="0">
              <a:buNone/>
            </a:pPr>
            <a:r>
              <a:rPr lang="en-US" sz="900" dirty="0">
                <a:solidFill>
                  <a:srgbClr val="1F2937"/>
                </a:solidFill>
              </a:rPr>
              <a:t>The column you want to SEARCH IN (e.g., A2:A100 for Employee ID)</a:t>
            </a:r>
            <a:endParaRPr lang="en-US" sz="900" dirty="0"/>
          </a:p>
        </p:txBody>
      </p:sp>
      <p:sp>
        <p:nvSpPr>
          <p:cNvPr id="18" name="Text 16"/>
          <p:cNvSpPr/>
          <p:nvPr/>
        </p:nvSpPr>
        <p:spPr>
          <a:xfrm>
            <a:off x="7132320" y="3703320"/>
            <a:ext cx="1463040" cy="228600"/>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Example: A2:A100</a:t>
            </a:r>
            <a:endParaRPr lang="en-US" sz="800" dirty="0"/>
          </a:p>
        </p:txBody>
      </p:sp>
      <p:sp>
        <p:nvSpPr>
          <p:cNvPr id="19" name="Shape 17"/>
          <p:cNvSpPr/>
          <p:nvPr/>
        </p:nvSpPr>
        <p:spPr>
          <a:xfrm>
            <a:off x="457200" y="4069080"/>
            <a:ext cx="8229600" cy="457200"/>
          </a:xfrm>
          <a:prstGeom prst="rect">
            <a:avLst/>
          </a:prstGeom>
          <a:solidFill>
            <a:srgbClr val="FFFFFF"/>
          </a:solidFill>
          <a:ln w="12700">
            <a:solidFill>
              <a:srgbClr val="3B82F6"/>
            </a:solidFill>
            <a:prstDash val="solid"/>
          </a:ln>
        </p:spPr>
      </p:sp>
      <p:sp>
        <p:nvSpPr>
          <p:cNvPr id="20" name="Text 18"/>
          <p:cNvSpPr/>
          <p:nvPr/>
        </p:nvSpPr>
        <p:spPr>
          <a:xfrm>
            <a:off x="640080" y="4142232"/>
            <a:ext cx="1828800" cy="164592"/>
          </a:xfrm>
          <a:prstGeom prst="rect">
            <a:avLst/>
          </a:prstGeom>
          <a:noFill/>
          <a:ln/>
        </p:spPr>
        <p:txBody>
          <a:bodyPr wrap="square" rtlCol="0" anchor="ctr"/>
          <a:lstStyle/>
          <a:p>
            <a:pPr marL="0" indent="0">
              <a:buNone/>
            </a:pPr>
            <a:r>
              <a:rPr lang="en-US" sz="1100" b="1" dirty="0">
                <a:solidFill>
                  <a:srgbClr val="3B82F6"/>
                </a:solidFill>
                <a:latin typeface="Consolas" pitchFamily="34" charset="0"/>
                <a:ea typeface="Consolas" pitchFamily="34" charset="-122"/>
                <a:cs typeface="Consolas" pitchFamily="34" charset="-120"/>
              </a:rPr>
              <a:t>0</a:t>
            </a:r>
            <a:endParaRPr lang="en-US" sz="1100" dirty="0"/>
          </a:p>
        </p:txBody>
      </p:sp>
      <p:sp>
        <p:nvSpPr>
          <p:cNvPr id="21" name="Text 19"/>
          <p:cNvSpPr/>
          <p:nvPr/>
        </p:nvSpPr>
        <p:spPr>
          <a:xfrm>
            <a:off x="640080" y="4325112"/>
            <a:ext cx="6400800" cy="146304"/>
          </a:xfrm>
          <a:prstGeom prst="rect">
            <a:avLst/>
          </a:prstGeom>
          <a:noFill/>
          <a:ln/>
        </p:spPr>
        <p:txBody>
          <a:bodyPr wrap="square" rtlCol="0" anchor="ctr"/>
          <a:lstStyle/>
          <a:p>
            <a:pPr marL="0" indent="0">
              <a:buNone/>
            </a:pPr>
            <a:r>
              <a:rPr lang="en-US" sz="900" dirty="0">
                <a:solidFill>
                  <a:srgbClr val="1F2937"/>
                </a:solidFill>
              </a:rPr>
              <a:t>Always use 0 for exact match (same as FALSE in VLOOKUP)</a:t>
            </a:r>
            <a:endParaRPr lang="en-US" sz="900" dirty="0"/>
          </a:p>
        </p:txBody>
      </p:sp>
      <p:sp>
        <p:nvSpPr>
          <p:cNvPr id="22" name="Text 20"/>
          <p:cNvSpPr/>
          <p:nvPr/>
        </p:nvSpPr>
        <p:spPr>
          <a:xfrm>
            <a:off x="7132320" y="4206240"/>
            <a:ext cx="1463040" cy="228600"/>
          </a:xfrm>
          <a:prstGeom prst="rect">
            <a:avLst/>
          </a:prstGeom>
          <a:noFill/>
          <a:ln/>
        </p:spPr>
        <p:txBody>
          <a:bodyPr wrap="square" rtlCol="0" anchor="ctr"/>
          <a:lstStyle/>
          <a:p>
            <a:pPr marL="0" indent="0">
              <a:buNone/>
            </a:pPr>
            <a:r>
              <a:rPr lang="en-US" sz="800" i="1" dirty="0">
                <a:solidFill>
                  <a:srgbClr val="6B7280"/>
                </a:solidFill>
                <a:latin typeface="Consolas" pitchFamily="34" charset="0"/>
                <a:ea typeface="Consolas" pitchFamily="34" charset="-122"/>
                <a:cs typeface="Consolas" pitchFamily="34" charset="-120"/>
              </a:rPr>
              <a:t>Example: 0</a:t>
            </a:r>
            <a:endParaRPr lang="en-US" sz="800" dirty="0"/>
          </a:p>
        </p:txBody>
      </p:sp>
      <p:sp>
        <p:nvSpPr>
          <p:cNvPr id="23" name="Text 21"/>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PRACTICE EXERCISE</a:t>
            </a:r>
            <a:endParaRPr lang="en-US" sz="36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800" b="1" dirty="0">
                <a:solidFill>
                  <a:srgbClr val="3B82F6"/>
                </a:solidFill>
              </a:rPr>
              <a:t>Employee Database Lookup Challenge</a:t>
            </a:r>
            <a:endParaRPr lang="en-US" sz="1800" dirty="0"/>
          </a:p>
        </p:txBody>
      </p:sp>
      <p:sp>
        <p:nvSpPr>
          <p:cNvPr id="4" name="Shape 2"/>
          <p:cNvSpPr/>
          <p:nvPr/>
        </p:nvSpPr>
        <p:spPr>
          <a:xfrm>
            <a:off x="457200" y="1280160"/>
            <a:ext cx="8229600" cy="365760"/>
          </a:xfrm>
          <a:prstGeom prst="rect">
            <a:avLst/>
          </a:prstGeom>
          <a:solidFill>
            <a:srgbClr val="3B82F6"/>
          </a:solidFill>
          <a:ln/>
        </p:spPr>
      </p:sp>
      <p:sp>
        <p:nvSpPr>
          <p:cNvPr id="5" name="Text 3"/>
          <p:cNvSpPr/>
          <p:nvPr/>
        </p:nvSpPr>
        <p:spPr>
          <a:xfrm>
            <a:off x="640080" y="1371600"/>
            <a:ext cx="7863840" cy="182880"/>
          </a:xfrm>
          <a:prstGeom prst="rect">
            <a:avLst/>
          </a:prstGeom>
          <a:noFill/>
          <a:ln/>
        </p:spPr>
        <p:txBody>
          <a:bodyPr wrap="square" rtlCol="0" anchor="ctr"/>
          <a:lstStyle/>
          <a:p>
            <a:pPr marL="0" indent="0">
              <a:buNone/>
            </a:pPr>
            <a:r>
              <a:rPr lang="en-US" sz="1300" b="1" dirty="0">
                <a:solidFill>
                  <a:srgbClr val="FFFFFF"/>
                </a:solidFill>
              </a:rPr>
              <a:t>📋 You have an employee database with 50 employees. Complete these tasks:</a:t>
            </a:r>
            <a:endParaRPr lang="en-US" sz="1300" dirty="0"/>
          </a:p>
        </p:txBody>
      </p:sp>
      <p:sp>
        <p:nvSpPr>
          <p:cNvPr id="6" name="Shape 4"/>
          <p:cNvSpPr/>
          <p:nvPr/>
        </p:nvSpPr>
        <p:spPr>
          <a:xfrm>
            <a:off x="548640" y="1783080"/>
            <a:ext cx="182880" cy="182880"/>
          </a:xfrm>
          <a:prstGeom prst="rect">
            <a:avLst/>
          </a:prstGeom>
          <a:solidFill>
            <a:srgbClr val="0A1628"/>
          </a:solidFill>
          <a:ln/>
        </p:spPr>
      </p:sp>
      <p:sp>
        <p:nvSpPr>
          <p:cNvPr id="7" name="Text 5"/>
          <p:cNvSpPr/>
          <p:nvPr/>
        </p:nvSpPr>
        <p:spPr>
          <a:xfrm>
            <a:off x="548640" y="1783080"/>
            <a:ext cx="182880" cy="182880"/>
          </a:xfrm>
          <a:prstGeom prst="rect">
            <a:avLst/>
          </a:prstGeom>
          <a:noFill/>
          <a:ln/>
        </p:spPr>
        <p:txBody>
          <a:bodyPr wrap="square" rtlCol="0" anchor="ctr"/>
          <a:lstStyle/>
          <a:p>
            <a:pPr marL="0" indent="0" algn="ctr">
              <a:buNone/>
            </a:pPr>
            <a:r>
              <a:rPr lang="en-US" sz="1000" b="1" dirty="0">
                <a:solidFill>
                  <a:srgbClr val="FFFFFF"/>
                </a:solidFill>
              </a:rPr>
              <a:t>1</a:t>
            </a:r>
            <a:endParaRPr lang="en-US" sz="1000" dirty="0"/>
          </a:p>
        </p:txBody>
      </p:sp>
      <p:sp>
        <p:nvSpPr>
          <p:cNvPr id="8" name="Text 6"/>
          <p:cNvSpPr/>
          <p:nvPr/>
        </p:nvSpPr>
        <p:spPr>
          <a:xfrm>
            <a:off x="822960" y="1764792"/>
            <a:ext cx="7863840" cy="228600"/>
          </a:xfrm>
          <a:prstGeom prst="rect">
            <a:avLst/>
          </a:prstGeom>
          <a:noFill/>
          <a:ln/>
        </p:spPr>
        <p:txBody>
          <a:bodyPr wrap="square" rtlCol="0" anchor="ctr"/>
          <a:lstStyle/>
          <a:p>
            <a:pPr marL="0" indent="0">
              <a:buNone/>
            </a:pPr>
            <a:r>
              <a:rPr lang="en-US" sz="900" dirty="0">
                <a:solidFill>
                  <a:srgbClr val="1F2937"/>
                </a:solidFill>
              </a:rPr>
              <a:t>Use VLOOKUP to find employee's Department by Employee ID</a:t>
            </a:r>
            <a:endParaRPr lang="en-US" sz="900" dirty="0"/>
          </a:p>
        </p:txBody>
      </p:sp>
      <p:sp>
        <p:nvSpPr>
          <p:cNvPr id="9" name="Shape 7"/>
          <p:cNvSpPr/>
          <p:nvPr/>
        </p:nvSpPr>
        <p:spPr>
          <a:xfrm>
            <a:off x="548640" y="2112264"/>
            <a:ext cx="182880" cy="182880"/>
          </a:xfrm>
          <a:prstGeom prst="rect">
            <a:avLst/>
          </a:prstGeom>
          <a:solidFill>
            <a:srgbClr val="0A1628"/>
          </a:solidFill>
          <a:ln/>
        </p:spPr>
      </p:sp>
      <p:sp>
        <p:nvSpPr>
          <p:cNvPr id="10" name="Text 8"/>
          <p:cNvSpPr/>
          <p:nvPr/>
        </p:nvSpPr>
        <p:spPr>
          <a:xfrm>
            <a:off x="548640" y="2112264"/>
            <a:ext cx="182880" cy="182880"/>
          </a:xfrm>
          <a:prstGeom prst="rect">
            <a:avLst/>
          </a:prstGeom>
          <a:noFill/>
          <a:ln/>
        </p:spPr>
        <p:txBody>
          <a:bodyPr wrap="square" rtlCol="0" anchor="ctr"/>
          <a:lstStyle/>
          <a:p>
            <a:pPr marL="0" indent="0" algn="ctr">
              <a:buNone/>
            </a:pPr>
            <a:r>
              <a:rPr lang="en-US" sz="1000" b="1" dirty="0">
                <a:solidFill>
                  <a:srgbClr val="FFFFFF"/>
                </a:solidFill>
              </a:rPr>
              <a:t>2</a:t>
            </a:r>
            <a:endParaRPr lang="en-US" sz="1000" dirty="0"/>
          </a:p>
        </p:txBody>
      </p:sp>
      <p:sp>
        <p:nvSpPr>
          <p:cNvPr id="11" name="Text 9"/>
          <p:cNvSpPr/>
          <p:nvPr/>
        </p:nvSpPr>
        <p:spPr>
          <a:xfrm>
            <a:off x="822960" y="2093976"/>
            <a:ext cx="7863840" cy="228600"/>
          </a:xfrm>
          <a:prstGeom prst="rect">
            <a:avLst/>
          </a:prstGeom>
          <a:noFill/>
          <a:ln/>
        </p:spPr>
        <p:txBody>
          <a:bodyPr wrap="square" rtlCol="0" anchor="ctr"/>
          <a:lstStyle/>
          <a:p>
            <a:pPr marL="0" indent="0">
              <a:buNone/>
            </a:pPr>
            <a:r>
              <a:rPr lang="en-US" sz="900" dirty="0">
                <a:solidFill>
                  <a:srgbClr val="1F2937"/>
                </a:solidFill>
              </a:rPr>
              <a:t>Use VLOOKUP to find employee's Salary by Employee ID</a:t>
            </a:r>
            <a:endParaRPr lang="en-US" sz="900" dirty="0"/>
          </a:p>
        </p:txBody>
      </p:sp>
      <p:sp>
        <p:nvSpPr>
          <p:cNvPr id="12" name="Shape 10"/>
          <p:cNvSpPr/>
          <p:nvPr/>
        </p:nvSpPr>
        <p:spPr>
          <a:xfrm>
            <a:off x="548640" y="2441448"/>
            <a:ext cx="182880" cy="182880"/>
          </a:xfrm>
          <a:prstGeom prst="rect">
            <a:avLst/>
          </a:prstGeom>
          <a:solidFill>
            <a:srgbClr val="0A1628"/>
          </a:solidFill>
          <a:ln/>
        </p:spPr>
      </p:sp>
      <p:sp>
        <p:nvSpPr>
          <p:cNvPr id="13" name="Text 11"/>
          <p:cNvSpPr/>
          <p:nvPr/>
        </p:nvSpPr>
        <p:spPr>
          <a:xfrm>
            <a:off x="548640" y="2441448"/>
            <a:ext cx="182880" cy="182880"/>
          </a:xfrm>
          <a:prstGeom prst="rect">
            <a:avLst/>
          </a:prstGeom>
          <a:noFill/>
          <a:ln/>
        </p:spPr>
        <p:txBody>
          <a:bodyPr wrap="square" rtlCol="0" anchor="ctr"/>
          <a:lstStyle/>
          <a:p>
            <a:pPr marL="0" indent="0" algn="ctr">
              <a:buNone/>
            </a:pPr>
            <a:r>
              <a:rPr lang="en-US" sz="1000" b="1" dirty="0">
                <a:solidFill>
                  <a:srgbClr val="FFFFFF"/>
                </a:solidFill>
              </a:rPr>
              <a:t>3</a:t>
            </a:r>
            <a:endParaRPr lang="en-US" sz="1000" dirty="0"/>
          </a:p>
        </p:txBody>
      </p:sp>
      <p:sp>
        <p:nvSpPr>
          <p:cNvPr id="14" name="Text 12"/>
          <p:cNvSpPr/>
          <p:nvPr/>
        </p:nvSpPr>
        <p:spPr>
          <a:xfrm>
            <a:off x="822960" y="2423160"/>
            <a:ext cx="7863840" cy="228600"/>
          </a:xfrm>
          <a:prstGeom prst="rect">
            <a:avLst/>
          </a:prstGeom>
          <a:noFill/>
          <a:ln/>
        </p:spPr>
        <p:txBody>
          <a:bodyPr wrap="square" rtlCol="0" anchor="ctr"/>
          <a:lstStyle/>
          <a:p>
            <a:pPr marL="0" indent="0">
              <a:buNone/>
            </a:pPr>
            <a:r>
              <a:rPr lang="en-US" sz="900" dirty="0">
                <a:solidFill>
                  <a:srgbClr val="1F2937"/>
                </a:solidFill>
              </a:rPr>
              <a:t>Use VLOOKUP to find employee's Email by Employee ID</a:t>
            </a:r>
            <a:endParaRPr lang="en-US" sz="900" dirty="0"/>
          </a:p>
        </p:txBody>
      </p:sp>
      <p:sp>
        <p:nvSpPr>
          <p:cNvPr id="15" name="Shape 13"/>
          <p:cNvSpPr/>
          <p:nvPr/>
        </p:nvSpPr>
        <p:spPr>
          <a:xfrm>
            <a:off x="548640" y="2770632"/>
            <a:ext cx="182880" cy="182880"/>
          </a:xfrm>
          <a:prstGeom prst="rect">
            <a:avLst/>
          </a:prstGeom>
          <a:solidFill>
            <a:srgbClr val="0A1628"/>
          </a:solidFill>
          <a:ln/>
        </p:spPr>
      </p:sp>
      <p:sp>
        <p:nvSpPr>
          <p:cNvPr id="16" name="Text 14"/>
          <p:cNvSpPr/>
          <p:nvPr/>
        </p:nvSpPr>
        <p:spPr>
          <a:xfrm>
            <a:off x="548640" y="2770632"/>
            <a:ext cx="182880" cy="182880"/>
          </a:xfrm>
          <a:prstGeom prst="rect">
            <a:avLst/>
          </a:prstGeom>
          <a:noFill/>
          <a:ln/>
        </p:spPr>
        <p:txBody>
          <a:bodyPr wrap="square" rtlCol="0" anchor="ctr"/>
          <a:lstStyle/>
          <a:p>
            <a:pPr marL="0" indent="0" algn="ctr">
              <a:buNone/>
            </a:pPr>
            <a:r>
              <a:rPr lang="en-US" sz="1000" b="1" dirty="0">
                <a:solidFill>
                  <a:srgbClr val="FFFFFF"/>
                </a:solidFill>
              </a:rPr>
              <a:t>4</a:t>
            </a:r>
            <a:endParaRPr lang="en-US" sz="1000" dirty="0"/>
          </a:p>
        </p:txBody>
      </p:sp>
      <p:sp>
        <p:nvSpPr>
          <p:cNvPr id="17" name="Text 15"/>
          <p:cNvSpPr/>
          <p:nvPr/>
        </p:nvSpPr>
        <p:spPr>
          <a:xfrm>
            <a:off x="822960" y="2752344"/>
            <a:ext cx="7863840" cy="228600"/>
          </a:xfrm>
          <a:prstGeom prst="rect">
            <a:avLst/>
          </a:prstGeom>
          <a:noFill/>
          <a:ln/>
        </p:spPr>
        <p:txBody>
          <a:bodyPr wrap="square" rtlCol="0" anchor="ctr"/>
          <a:lstStyle/>
          <a:p>
            <a:pPr marL="0" indent="0">
              <a:buNone/>
            </a:pPr>
            <a:r>
              <a:rPr lang="en-US" sz="900" dirty="0">
                <a:solidFill>
                  <a:srgbClr val="1F2937"/>
                </a:solidFill>
              </a:rPr>
              <a:t>Use HLOOKUP to find Q2 sales from monthly summary table</a:t>
            </a:r>
            <a:endParaRPr lang="en-US" sz="900" dirty="0"/>
          </a:p>
        </p:txBody>
      </p:sp>
      <p:sp>
        <p:nvSpPr>
          <p:cNvPr id="18" name="Shape 16"/>
          <p:cNvSpPr/>
          <p:nvPr/>
        </p:nvSpPr>
        <p:spPr>
          <a:xfrm>
            <a:off x="548640" y="3099816"/>
            <a:ext cx="182880" cy="182880"/>
          </a:xfrm>
          <a:prstGeom prst="rect">
            <a:avLst/>
          </a:prstGeom>
          <a:solidFill>
            <a:srgbClr val="0A1628"/>
          </a:solidFill>
          <a:ln/>
        </p:spPr>
      </p:sp>
      <p:sp>
        <p:nvSpPr>
          <p:cNvPr id="19" name="Text 17"/>
          <p:cNvSpPr/>
          <p:nvPr/>
        </p:nvSpPr>
        <p:spPr>
          <a:xfrm>
            <a:off x="548640" y="3099816"/>
            <a:ext cx="182880" cy="182880"/>
          </a:xfrm>
          <a:prstGeom prst="rect">
            <a:avLst/>
          </a:prstGeom>
          <a:noFill/>
          <a:ln/>
        </p:spPr>
        <p:txBody>
          <a:bodyPr wrap="square" rtlCol="0" anchor="ctr"/>
          <a:lstStyle/>
          <a:p>
            <a:pPr marL="0" indent="0" algn="ctr">
              <a:buNone/>
            </a:pPr>
            <a:r>
              <a:rPr lang="en-US" sz="1000" b="1" dirty="0">
                <a:solidFill>
                  <a:srgbClr val="FFFFFF"/>
                </a:solidFill>
              </a:rPr>
              <a:t>5</a:t>
            </a:r>
            <a:endParaRPr lang="en-US" sz="1000" dirty="0"/>
          </a:p>
        </p:txBody>
      </p:sp>
      <p:sp>
        <p:nvSpPr>
          <p:cNvPr id="20" name="Text 18"/>
          <p:cNvSpPr/>
          <p:nvPr/>
        </p:nvSpPr>
        <p:spPr>
          <a:xfrm>
            <a:off x="822960" y="3081528"/>
            <a:ext cx="7863840" cy="228600"/>
          </a:xfrm>
          <a:prstGeom prst="rect">
            <a:avLst/>
          </a:prstGeom>
          <a:noFill/>
          <a:ln/>
        </p:spPr>
        <p:txBody>
          <a:bodyPr wrap="square" rtlCol="0" anchor="ctr"/>
          <a:lstStyle/>
          <a:p>
            <a:pPr marL="0" indent="0">
              <a:buNone/>
            </a:pPr>
            <a:r>
              <a:rPr lang="en-US" sz="900" dirty="0">
                <a:solidFill>
                  <a:srgbClr val="1F2937"/>
                </a:solidFill>
              </a:rPr>
              <a:t>Use INDEX-MATCH to find employee's Manager (can look left!)</a:t>
            </a:r>
            <a:endParaRPr lang="en-US" sz="900" dirty="0"/>
          </a:p>
        </p:txBody>
      </p:sp>
      <p:sp>
        <p:nvSpPr>
          <p:cNvPr id="21" name="Shape 19"/>
          <p:cNvSpPr/>
          <p:nvPr/>
        </p:nvSpPr>
        <p:spPr>
          <a:xfrm>
            <a:off x="548640" y="3429000"/>
            <a:ext cx="182880" cy="182880"/>
          </a:xfrm>
          <a:prstGeom prst="rect">
            <a:avLst/>
          </a:prstGeom>
          <a:solidFill>
            <a:srgbClr val="0A1628"/>
          </a:solidFill>
          <a:ln/>
        </p:spPr>
      </p:sp>
      <p:sp>
        <p:nvSpPr>
          <p:cNvPr id="22" name="Text 20"/>
          <p:cNvSpPr/>
          <p:nvPr/>
        </p:nvSpPr>
        <p:spPr>
          <a:xfrm>
            <a:off x="548640" y="3429000"/>
            <a:ext cx="182880" cy="182880"/>
          </a:xfrm>
          <a:prstGeom prst="rect">
            <a:avLst/>
          </a:prstGeom>
          <a:noFill/>
          <a:ln/>
        </p:spPr>
        <p:txBody>
          <a:bodyPr wrap="square" rtlCol="0" anchor="ctr"/>
          <a:lstStyle/>
          <a:p>
            <a:pPr marL="0" indent="0" algn="ctr">
              <a:buNone/>
            </a:pPr>
            <a:r>
              <a:rPr lang="en-US" sz="1000" b="1" dirty="0">
                <a:solidFill>
                  <a:srgbClr val="FFFFFF"/>
                </a:solidFill>
              </a:rPr>
              <a:t>6</a:t>
            </a:r>
            <a:endParaRPr lang="en-US" sz="1000" dirty="0"/>
          </a:p>
        </p:txBody>
      </p:sp>
      <p:sp>
        <p:nvSpPr>
          <p:cNvPr id="23" name="Text 21"/>
          <p:cNvSpPr/>
          <p:nvPr/>
        </p:nvSpPr>
        <p:spPr>
          <a:xfrm>
            <a:off x="822960" y="3410712"/>
            <a:ext cx="7863840" cy="228600"/>
          </a:xfrm>
          <a:prstGeom prst="rect">
            <a:avLst/>
          </a:prstGeom>
          <a:noFill/>
          <a:ln/>
        </p:spPr>
        <p:txBody>
          <a:bodyPr wrap="square" rtlCol="0" anchor="ctr"/>
          <a:lstStyle/>
          <a:p>
            <a:pPr marL="0" indent="0">
              <a:buNone/>
            </a:pPr>
            <a:r>
              <a:rPr lang="en-US" sz="900" dirty="0">
                <a:solidFill>
                  <a:srgbClr val="1F2937"/>
                </a:solidFill>
              </a:rPr>
              <a:t>Use INDEX-MATCH to find employee's Start Date</a:t>
            </a:r>
            <a:endParaRPr lang="en-US" sz="900" dirty="0"/>
          </a:p>
        </p:txBody>
      </p:sp>
      <p:sp>
        <p:nvSpPr>
          <p:cNvPr id="24" name="Shape 22"/>
          <p:cNvSpPr/>
          <p:nvPr/>
        </p:nvSpPr>
        <p:spPr>
          <a:xfrm>
            <a:off x="548640" y="3758184"/>
            <a:ext cx="182880" cy="182880"/>
          </a:xfrm>
          <a:prstGeom prst="rect">
            <a:avLst/>
          </a:prstGeom>
          <a:solidFill>
            <a:srgbClr val="0A1628"/>
          </a:solidFill>
          <a:ln/>
        </p:spPr>
      </p:sp>
      <p:sp>
        <p:nvSpPr>
          <p:cNvPr id="25" name="Text 23"/>
          <p:cNvSpPr/>
          <p:nvPr/>
        </p:nvSpPr>
        <p:spPr>
          <a:xfrm>
            <a:off x="548640" y="3758184"/>
            <a:ext cx="182880" cy="182880"/>
          </a:xfrm>
          <a:prstGeom prst="rect">
            <a:avLst/>
          </a:prstGeom>
          <a:noFill/>
          <a:ln/>
        </p:spPr>
        <p:txBody>
          <a:bodyPr wrap="square" rtlCol="0" anchor="ctr"/>
          <a:lstStyle/>
          <a:p>
            <a:pPr marL="0" indent="0" algn="ctr">
              <a:buNone/>
            </a:pPr>
            <a:r>
              <a:rPr lang="en-US" sz="1000" b="1" dirty="0">
                <a:solidFill>
                  <a:srgbClr val="FFFFFF"/>
                </a:solidFill>
              </a:rPr>
              <a:t>7</a:t>
            </a:r>
            <a:endParaRPr lang="en-US" sz="1000" dirty="0"/>
          </a:p>
        </p:txBody>
      </p:sp>
      <p:sp>
        <p:nvSpPr>
          <p:cNvPr id="26" name="Text 24"/>
          <p:cNvSpPr/>
          <p:nvPr/>
        </p:nvSpPr>
        <p:spPr>
          <a:xfrm>
            <a:off x="822960" y="3739896"/>
            <a:ext cx="7863840" cy="228600"/>
          </a:xfrm>
          <a:prstGeom prst="rect">
            <a:avLst/>
          </a:prstGeom>
          <a:noFill/>
          <a:ln/>
        </p:spPr>
        <p:txBody>
          <a:bodyPr wrap="square" rtlCol="0" anchor="ctr"/>
          <a:lstStyle/>
          <a:p>
            <a:pPr marL="0" indent="0">
              <a:buNone/>
            </a:pPr>
            <a:r>
              <a:rPr lang="en-US" sz="900" dirty="0">
                <a:solidFill>
                  <a:srgbClr val="1F2937"/>
                </a:solidFill>
              </a:rPr>
              <a:t>Compare: Write same lookup using both VLOOKUP and INDEX-MATCH</a:t>
            </a:r>
            <a:endParaRPr lang="en-US" sz="900" dirty="0"/>
          </a:p>
        </p:txBody>
      </p:sp>
      <p:sp>
        <p:nvSpPr>
          <p:cNvPr id="27" name="Shape 25"/>
          <p:cNvSpPr/>
          <p:nvPr/>
        </p:nvSpPr>
        <p:spPr>
          <a:xfrm>
            <a:off x="548640" y="4087368"/>
            <a:ext cx="182880" cy="182880"/>
          </a:xfrm>
          <a:prstGeom prst="rect">
            <a:avLst/>
          </a:prstGeom>
          <a:solidFill>
            <a:srgbClr val="0A1628"/>
          </a:solidFill>
          <a:ln/>
        </p:spPr>
      </p:sp>
      <p:sp>
        <p:nvSpPr>
          <p:cNvPr id="28" name="Text 26"/>
          <p:cNvSpPr/>
          <p:nvPr/>
        </p:nvSpPr>
        <p:spPr>
          <a:xfrm>
            <a:off x="548640" y="4087368"/>
            <a:ext cx="182880" cy="182880"/>
          </a:xfrm>
          <a:prstGeom prst="rect">
            <a:avLst/>
          </a:prstGeom>
          <a:noFill/>
          <a:ln/>
        </p:spPr>
        <p:txBody>
          <a:bodyPr wrap="square" rtlCol="0" anchor="ctr"/>
          <a:lstStyle/>
          <a:p>
            <a:pPr marL="0" indent="0" algn="ctr">
              <a:buNone/>
            </a:pPr>
            <a:r>
              <a:rPr lang="en-US" sz="1000" b="1" dirty="0">
                <a:solidFill>
                  <a:srgbClr val="FFFFFF"/>
                </a:solidFill>
              </a:rPr>
              <a:t>8</a:t>
            </a:r>
            <a:endParaRPr lang="en-US" sz="1000" dirty="0"/>
          </a:p>
        </p:txBody>
      </p:sp>
      <p:sp>
        <p:nvSpPr>
          <p:cNvPr id="29" name="Text 27"/>
          <p:cNvSpPr/>
          <p:nvPr/>
        </p:nvSpPr>
        <p:spPr>
          <a:xfrm>
            <a:off x="822960" y="4069080"/>
            <a:ext cx="7863840" cy="228600"/>
          </a:xfrm>
          <a:prstGeom prst="rect">
            <a:avLst/>
          </a:prstGeom>
          <a:noFill/>
          <a:ln/>
        </p:spPr>
        <p:txBody>
          <a:bodyPr wrap="square" rtlCol="0" anchor="ctr"/>
          <a:lstStyle/>
          <a:p>
            <a:pPr marL="0" indent="0">
              <a:buNone/>
            </a:pPr>
            <a:r>
              <a:rPr lang="en-US" sz="900" dirty="0">
                <a:solidFill>
                  <a:srgbClr val="1F2937"/>
                </a:solidFill>
              </a:rPr>
              <a:t>Challenge: Find highest salary in IT department (combine functions!)</a:t>
            </a:r>
            <a:endParaRPr lang="en-US" sz="900" dirty="0"/>
          </a:p>
        </p:txBody>
      </p:sp>
      <p:sp>
        <p:nvSpPr>
          <p:cNvPr id="30" name="Shape 28"/>
          <p:cNvSpPr/>
          <p:nvPr/>
        </p:nvSpPr>
        <p:spPr>
          <a:xfrm>
            <a:off x="457200" y="4572000"/>
            <a:ext cx="8229600" cy="182880"/>
          </a:xfrm>
          <a:prstGeom prst="rect">
            <a:avLst/>
          </a:prstGeom>
          <a:solidFill>
            <a:srgbClr val="F59E0B"/>
          </a:solidFill>
          <a:ln/>
        </p:spPr>
      </p:sp>
      <p:sp>
        <p:nvSpPr>
          <p:cNvPr id="31" name="Text 29"/>
          <p:cNvSpPr/>
          <p:nvPr/>
        </p:nvSpPr>
        <p:spPr>
          <a:xfrm>
            <a:off x="640080" y="4572000"/>
            <a:ext cx="7863840" cy="182880"/>
          </a:xfrm>
          <a:prstGeom prst="rect">
            <a:avLst/>
          </a:prstGeom>
          <a:noFill/>
          <a:ln/>
        </p:spPr>
        <p:txBody>
          <a:bodyPr wrap="square" rtlCol="0" anchor="ctr"/>
          <a:lstStyle/>
          <a:p>
            <a:pPr marL="0" indent="0">
              <a:buNone/>
            </a:pPr>
            <a:r>
              <a:rPr lang="en-US" sz="1100" b="1" dirty="0">
                <a:solidFill>
                  <a:srgbClr val="1F2937"/>
                </a:solidFill>
              </a:rPr>
              <a:t>⏱️ Time: 30 minutes | Practice file will be provided with solutions</a:t>
            </a:r>
            <a:endParaRPr lang="en-US" sz="1100" dirty="0"/>
          </a:p>
        </p:txBody>
      </p:sp>
      <p:sp>
        <p:nvSpPr>
          <p:cNvPr id="32" name="Text 30"/>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457200"/>
          </a:xfrm>
          <a:prstGeom prst="rect">
            <a:avLst/>
          </a:prstGeom>
          <a:noFill/>
          <a:ln/>
        </p:spPr>
        <p:txBody>
          <a:bodyPr wrap="square" rtlCol="0" anchor="ctr"/>
          <a:lstStyle/>
          <a:p>
            <a:pPr marL="0" indent="0">
              <a:buNone/>
            </a:pPr>
            <a:r>
              <a:rPr lang="en-US" sz="3600" b="1" dirty="0">
                <a:solidFill>
                  <a:srgbClr val="0A1628"/>
                </a:solidFill>
              </a:rPr>
              <a:t>HOMEWORK ASSIGNMENT</a:t>
            </a:r>
            <a:endParaRPr lang="en-US" sz="3600" dirty="0"/>
          </a:p>
        </p:txBody>
      </p:sp>
      <p:sp>
        <p:nvSpPr>
          <p:cNvPr id="3" name="Shape 1"/>
          <p:cNvSpPr/>
          <p:nvPr/>
        </p:nvSpPr>
        <p:spPr>
          <a:xfrm>
            <a:off x="457200" y="1005840"/>
            <a:ext cx="8229600" cy="365760"/>
          </a:xfrm>
          <a:prstGeom prst="rect">
            <a:avLst/>
          </a:prstGeom>
          <a:solidFill>
            <a:srgbClr val="3B82F6"/>
          </a:solidFill>
          <a:ln/>
        </p:spPr>
      </p:sp>
      <p:sp>
        <p:nvSpPr>
          <p:cNvPr id="4" name="Text 2"/>
          <p:cNvSpPr/>
          <p:nvPr/>
        </p:nvSpPr>
        <p:spPr>
          <a:xfrm>
            <a:off x="640080" y="1097280"/>
            <a:ext cx="7863840" cy="182880"/>
          </a:xfrm>
          <a:prstGeom prst="rect">
            <a:avLst/>
          </a:prstGeom>
          <a:noFill/>
          <a:ln/>
        </p:spPr>
        <p:txBody>
          <a:bodyPr wrap="square" rtlCol="0" anchor="ctr"/>
          <a:lstStyle/>
          <a:p>
            <a:pPr marL="0" indent="0">
              <a:buNone/>
            </a:pPr>
            <a:r>
              <a:rPr lang="en-US" sz="1500" b="1" dirty="0">
                <a:solidFill>
                  <a:srgbClr val="FFFFFF"/>
                </a:solidFill>
              </a:rPr>
              <a:t>📝 PRODUCT CATALOG LOOKUP SYSTEM</a:t>
            </a:r>
            <a:endParaRPr lang="en-US" sz="1500" dirty="0"/>
          </a:p>
        </p:txBody>
      </p:sp>
      <p:sp>
        <p:nvSpPr>
          <p:cNvPr id="5" name="Text 3"/>
          <p:cNvSpPr/>
          <p:nvPr/>
        </p:nvSpPr>
        <p:spPr>
          <a:xfrm>
            <a:off x="640080" y="1554480"/>
            <a:ext cx="8046720" cy="274320"/>
          </a:xfrm>
          <a:prstGeom prst="rect">
            <a:avLst/>
          </a:prstGeom>
          <a:noFill/>
          <a:ln/>
        </p:spPr>
        <p:txBody>
          <a:bodyPr wrap="square" rtlCol="0" anchor="ctr"/>
          <a:lstStyle/>
          <a:p>
            <a:pPr marL="0" indent="0">
              <a:buNone/>
            </a:pPr>
            <a:r>
              <a:rPr lang="en-US" sz="900" dirty="0">
                <a:solidFill>
                  <a:srgbClr val="1F2937"/>
                </a:solidFill>
              </a:rPr>
              <a:t>1. Create Product Catalog: 30+ products with Code, Name, Category, Price, Stock, Supplier</a:t>
            </a:r>
            <a:endParaRPr lang="en-US" sz="900" dirty="0"/>
          </a:p>
        </p:txBody>
      </p:sp>
      <p:sp>
        <p:nvSpPr>
          <p:cNvPr id="6" name="Text 4"/>
          <p:cNvSpPr/>
          <p:nvPr/>
        </p:nvSpPr>
        <p:spPr>
          <a:xfrm>
            <a:off x="640080" y="1856232"/>
            <a:ext cx="8046720" cy="274320"/>
          </a:xfrm>
          <a:prstGeom prst="rect">
            <a:avLst/>
          </a:prstGeom>
          <a:noFill/>
          <a:ln/>
        </p:spPr>
        <p:txBody>
          <a:bodyPr wrap="square" rtlCol="0" anchor="ctr"/>
          <a:lstStyle/>
          <a:p>
            <a:pPr marL="0" indent="0">
              <a:buNone/>
            </a:pPr>
            <a:r>
              <a:rPr lang="en-US" sz="900" dirty="0">
                <a:solidFill>
                  <a:srgbClr val="1F2937"/>
                </a:solidFill>
              </a:rPr>
              <a:t>2. Create Order Form: Customer can enter Product Code</a:t>
            </a:r>
            <a:endParaRPr lang="en-US" sz="900" dirty="0"/>
          </a:p>
        </p:txBody>
      </p:sp>
      <p:sp>
        <p:nvSpPr>
          <p:cNvPr id="7" name="Text 5"/>
          <p:cNvSpPr/>
          <p:nvPr/>
        </p:nvSpPr>
        <p:spPr>
          <a:xfrm>
            <a:off x="640080" y="2157984"/>
            <a:ext cx="8046720" cy="274320"/>
          </a:xfrm>
          <a:prstGeom prst="rect">
            <a:avLst/>
          </a:prstGeom>
          <a:noFill/>
          <a:ln/>
        </p:spPr>
        <p:txBody>
          <a:bodyPr wrap="square" rtlCol="0" anchor="ctr"/>
          <a:lstStyle/>
          <a:p>
            <a:pPr marL="0" indent="0">
              <a:buNone/>
            </a:pPr>
            <a:r>
              <a:rPr lang="en-US" sz="900" dirty="0">
                <a:solidFill>
                  <a:srgbClr val="1F2937"/>
                </a:solidFill>
              </a:rPr>
              <a:t>3. Use VLOOKUP: Auto-fill Product Name from code</a:t>
            </a:r>
            <a:endParaRPr lang="en-US" sz="900" dirty="0"/>
          </a:p>
        </p:txBody>
      </p:sp>
      <p:sp>
        <p:nvSpPr>
          <p:cNvPr id="8" name="Text 6"/>
          <p:cNvSpPr/>
          <p:nvPr/>
        </p:nvSpPr>
        <p:spPr>
          <a:xfrm>
            <a:off x="640080" y="2459736"/>
            <a:ext cx="8046720" cy="274320"/>
          </a:xfrm>
          <a:prstGeom prst="rect">
            <a:avLst/>
          </a:prstGeom>
          <a:noFill/>
          <a:ln/>
        </p:spPr>
        <p:txBody>
          <a:bodyPr wrap="square" rtlCol="0" anchor="ctr"/>
          <a:lstStyle/>
          <a:p>
            <a:pPr marL="0" indent="0">
              <a:buNone/>
            </a:pPr>
            <a:r>
              <a:rPr lang="en-US" sz="900" dirty="0">
                <a:solidFill>
                  <a:srgbClr val="1F2937"/>
                </a:solidFill>
              </a:rPr>
              <a:t>4. Use VLOOKUP: Auto-fill Price from code</a:t>
            </a:r>
            <a:endParaRPr lang="en-US" sz="900" dirty="0"/>
          </a:p>
        </p:txBody>
      </p:sp>
      <p:sp>
        <p:nvSpPr>
          <p:cNvPr id="9" name="Text 7"/>
          <p:cNvSpPr/>
          <p:nvPr/>
        </p:nvSpPr>
        <p:spPr>
          <a:xfrm>
            <a:off x="640080" y="2761488"/>
            <a:ext cx="8046720" cy="274320"/>
          </a:xfrm>
          <a:prstGeom prst="rect">
            <a:avLst/>
          </a:prstGeom>
          <a:noFill/>
          <a:ln/>
        </p:spPr>
        <p:txBody>
          <a:bodyPr wrap="square" rtlCol="0" anchor="ctr"/>
          <a:lstStyle/>
          <a:p>
            <a:pPr marL="0" indent="0">
              <a:buNone/>
            </a:pPr>
            <a:r>
              <a:rPr lang="en-US" sz="900" dirty="0">
                <a:solidFill>
                  <a:srgbClr val="1F2937"/>
                </a:solidFill>
              </a:rPr>
              <a:t>5. Use VLOOKUP: Calculate total (Price × Quantity)</a:t>
            </a:r>
            <a:endParaRPr lang="en-US" sz="900" dirty="0"/>
          </a:p>
        </p:txBody>
      </p:sp>
      <p:sp>
        <p:nvSpPr>
          <p:cNvPr id="10" name="Text 8"/>
          <p:cNvSpPr/>
          <p:nvPr/>
        </p:nvSpPr>
        <p:spPr>
          <a:xfrm>
            <a:off x="640080" y="3063240"/>
            <a:ext cx="8046720" cy="274320"/>
          </a:xfrm>
          <a:prstGeom prst="rect">
            <a:avLst/>
          </a:prstGeom>
          <a:noFill/>
          <a:ln/>
        </p:spPr>
        <p:txBody>
          <a:bodyPr wrap="square" rtlCol="0" anchor="ctr"/>
          <a:lstStyle/>
          <a:p>
            <a:pPr marL="0" indent="0">
              <a:buNone/>
            </a:pPr>
            <a:r>
              <a:rPr lang="en-US" sz="900" dirty="0">
                <a:solidFill>
                  <a:srgbClr val="1F2937"/>
                </a:solidFill>
              </a:rPr>
              <a:t>6. Use INDEX-MATCH: Get Supplier name (practice looking left if needed)</a:t>
            </a:r>
            <a:endParaRPr lang="en-US" sz="900" dirty="0"/>
          </a:p>
        </p:txBody>
      </p:sp>
      <p:sp>
        <p:nvSpPr>
          <p:cNvPr id="11" name="Text 9"/>
          <p:cNvSpPr/>
          <p:nvPr/>
        </p:nvSpPr>
        <p:spPr>
          <a:xfrm>
            <a:off x="640080" y="3364992"/>
            <a:ext cx="8046720" cy="274320"/>
          </a:xfrm>
          <a:prstGeom prst="rect">
            <a:avLst/>
          </a:prstGeom>
          <a:noFill/>
          <a:ln/>
        </p:spPr>
        <p:txBody>
          <a:bodyPr wrap="square" rtlCol="0" anchor="ctr"/>
          <a:lstStyle/>
          <a:p>
            <a:pPr marL="0" indent="0">
              <a:buNone/>
            </a:pPr>
            <a:r>
              <a:rPr lang="en-US" sz="900" dirty="0">
                <a:solidFill>
                  <a:srgbClr val="1F2937"/>
                </a:solidFill>
              </a:rPr>
              <a:t>7. Create summary: Total order value, number of items</a:t>
            </a:r>
            <a:endParaRPr lang="en-US" sz="900" dirty="0"/>
          </a:p>
        </p:txBody>
      </p:sp>
      <p:sp>
        <p:nvSpPr>
          <p:cNvPr id="12" name="Text 10"/>
          <p:cNvSpPr/>
          <p:nvPr/>
        </p:nvSpPr>
        <p:spPr>
          <a:xfrm>
            <a:off x="640080" y="3666744"/>
            <a:ext cx="8046720" cy="274320"/>
          </a:xfrm>
          <a:prstGeom prst="rect">
            <a:avLst/>
          </a:prstGeom>
          <a:noFill/>
          <a:ln/>
        </p:spPr>
        <p:txBody>
          <a:bodyPr wrap="square" rtlCol="0" anchor="ctr"/>
          <a:lstStyle/>
          <a:p>
            <a:pPr marL="0" indent="0">
              <a:buNone/>
            </a:pPr>
            <a:r>
              <a:rPr lang="en-US" sz="900" dirty="0">
                <a:solidFill>
                  <a:srgbClr val="1F2937"/>
                </a:solidFill>
              </a:rPr>
              <a:t>8. Bonus: Add data validation dropdown for product codes</a:t>
            </a:r>
            <a:endParaRPr lang="en-US" sz="900" dirty="0"/>
          </a:p>
        </p:txBody>
      </p:sp>
      <p:sp>
        <p:nvSpPr>
          <p:cNvPr id="13" name="Text 11"/>
          <p:cNvSpPr/>
          <p:nvPr/>
        </p:nvSpPr>
        <p:spPr>
          <a:xfrm>
            <a:off x="640080" y="3968496"/>
            <a:ext cx="8046720" cy="274320"/>
          </a:xfrm>
          <a:prstGeom prst="rect">
            <a:avLst/>
          </a:prstGeom>
          <a:noFill/>
          <a:ln/>
        </p:spPr>
        <p:txBody>
          <a:bodyPr wrap="square" rtlCol="0" anchor="ctr"/>
          <a:lstStyle/>
          <a:p>
            <a:pPr marL="0" indent="0">
              <a:buNone/>
            </a:pPr>
            <a:r>
              <a:rPr lang="en-US" sz="900" dirty="0">
                <a:solidFill>
                  <a:srgbClr val="1F2937"/>
                </a:solidFill>
              </a:rPr>
              <a:t>9. Save as: YourName_Product_Lookup.xlsx</a:t>
            </a:r>
            <a:endParaRPr lang="en-US" sz="900" dirty="0"/>
          </a:p>
        </p:txBody>
      </p:sp>
      <p:sp>
        <p:nvSpPr>
          <p:cNvPr id="14" name="Shape 12"/>
          <p:cNvSpPr/>
          <p:nvPr/>
        </p:nvSpPr>
        <p:spPr>
          <a:xfrm>
            <a:off x="457200" y="4572000"/>
            <a:ext cx="8229600" cy="182880"/>
          </a:xfrm>
          <a:prstGeom prst="rect">
            <a:avLst/>
          </a:prstGeom>
          <a:solidFill>
            <a:srgbClr val="EF4444"/>
          </a:solidFill>
          <a:ln/>
        </p:spPr>
      </p:sp>
      <p:sp>
        <p:nvSpPr>
          <p:cNvPr id="15" name="Text 13"/>
          <p:cNvSpPr/>
          <p:nvPr/>
        </p:nvSpPr>
        <p:spPr>
          <a:xfrm>
            <a:off x="640080" y="4572000"/>
            <a:ext cx="7863840" cy="182880"/>
          </a:xfrm>
          <a:prstGeom prst="rect">
            <a:avLst/>
          </a:prstGeom>
          <a:noFill/>
          <a:ln/>
        </p:spPr>
        <p:txBody>
          <a:bodyPr wrap="square" rtlCol="0" anchor="ctr"/>
          <a:lstStyle/>
          <a:p>
            <a:pPr marL="0" indent="0">
              <a:buNone/>
            </a:pPr>
            <a:r>
              <a:rPr lang="en-US" sz="1100" b="1" dirty="0">
                <a:solidFill>
                  <a:srgbClr val="1F2937"/>
                </a:solidFill>
              </a:rPr>
              <a:t>📅 DUE: Next class | This is essential for Day 5 Pivot Tables!</a:t>
            </a:r>
            <a:endParaRPr lang="en-US" sz="1100" dirty="0"/>
          </a:p>
        </p:txBody>
      </p:sp>
      <p:sp>
        <p:nvSpPr>
          <p:cNvPr id="16" name="Text 14"/>
          <p:cNvSpPr/>
          <p:nvPr/>
        </p:nvSpPr>
        <p:spPr>
          <a:xfrm>
            <a:off x="457200" y="4846320"/>
            <a:ext cx="8229600" cy="182880"/>
          </a:xfrm>
          <a:prstGeom prst="rect">
            <a:avLst/>
          </a:prstGeom>
          <a:noFill/>
          <a:ln/>
        </p:spPr>
        <p:txBody>
          <a:bodyPr wrap="square" rtlCol="0" anchor="ctr"/>
          <a:lstStyle/>
          <a:p>
            <a:pPr marL="0" indent="0">
              <a:buNone/>
            </a:pPr>
            <a:r>
              <a:rPr lang="en-US" sz="1000" dirty="0">
                <a:solidFill>
                  <a:srgbClr val="6B7280"/>
                </a:solidFill>
              </a:rPr>
              <a:t>Data Analytics Course | Instructor: Muhammad Kamil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marL="0" indent="0" algn="ctr">
              <a:buNone/>
            </a:pPr>
            <a:r>
              <a:rPr lang="en-US" sz="4800" b="1" dirty="0">
                <a:solidFill>
                  <a:srgbClr val="FFFFFF"/>
                </a:solidFill>
              </a:rPr>
              <a:t>OUTSTANDING WORK!</a:t>
            </a:r>
            <a:endParaRPr lang="en-US" sz="4800" dirty="0"/>
          </a:p>
        </p:txBody>
      </p:sp>
      <p:sp>
        <p:nvSpPr>
          <p:cNvPr id="3" name="Shape 1"/>
          <p:cNvSpPr/>
          <p:nvPr/>
        </p:nvSpPr>
        <p:spPr>
          <a:xfrm>
            <a:off x="2743200" y="2560320"/>
            <a:ext cx="3657600" cy="45720"/>
          </a:xfrm>
          <a:prstGeom prst="rect">
            <a:avLst/>
          </a:prstGeom>
          <a:solidFill>
            <a:srgbClr val="3B82F6"/>
          </a:solidFill>
          <a:ln/>
        </p:spPr>
      </p:sp>
      <p:sp>
        <p:nvSpPr>
          <p:cNvPr id="4" name="Text 2"/>
          <p:cNvSpPr/>
          <p:nvPr/>
        </p:nvSpPr>
        <p:spPr>
          <a:xfrm>
            <a:off x="457200" y="3017520"/>
            <a:ext cx="8229600" cy="365760"/>
          </a:xfrm>
          <a:prstGeom prst="rect">
            <a:avLst/>
          </a:prstGeom>
          <a:noFill/>
          <a:ln/>
        </p:spPr>
        <p:txBody>
          <a:bodyPr wrap="square" rtlCol="0" anchor="ctr"/>
          <a:lstStyle/>
          <a:p>
            <a:pPr marL="0" indent="0" algn="ctr">
              <a:buNone/>
            </a:pPr>
            <a:r>
              <a:rPr lang="en-US" sz="1800" dirty="0">
                <a:solidFill>
                  <a:srgbClr val="FFFFFF"/>
                </a:solidFill>
              </a:rPr>
              <a:t>You've mastered Excel's most powerful lookup functions!</a:t>
            </a:r>
            <a:endParaRPr lang="en-US" sz="1800" dirty="0"/>
          </a:p>
        </p:txBody>
      </p:sp>
      <p:sp>
        <p:nvSpPr>
          <p:cNvPr id="5" name="Text 3"/>
          <p:cNvSpPr/>
          <p:nvPr/>
        </p:nvSpPr>
        <p:spPr>
          <a:xfrm>
            <a:off x="457200" y="3474720"/>
            <a:ext cx="8229600" cy="274320"/>
          </a:xfrm>
          <a:prstGeom prst="rect">
            <a:avLst/>
          </a:prstGeom>
          <a:noFill/>
          <a:ln/>
        </p:spPr>
        <p:txBody>
          <a:bodyPr wrap="square" rtlCol="0" anchor="ctr"/>
          <a:lstStyle/>
          <a:p>
            <a:pPr marL="0" indent="0" algn="ctr">
              <a:buNone/>
            </a:pPr>
            <a:r>
              <a:rPr lang="en-US" sz="1400" i="1" dirty="0">
                <a:solidFill>
                  <a:srgbClr val="FFFFFF"/>
                </a:solidFill>
              </a:rPr>
              <a:t>VLOOKUP → HLOOKUP → INDEX-MATCH</a:t>
            </a:r>
            <a:endParaRPr lang="en-US" sz="1400" dirty="0"/>
          </a:p>
        </p:txBody>
      </p:sp>
      <p:sp>
        <p:nvSpPr>
          <p:cNvPr id="6" name="Text 4"/>
          <p:cNvSpPr/>
          <p:nvPr/>
        </p:nvSpPr>
        <p:spPr>
          <a:xfrm>
            <a:off x="457200" y="3931920"/>
            <a:ext cx="8229600" cy="274320"/>
          </a:xfrm>
          <a:prstGeom prst="rect">
            <a:avLst/>
          </a:prstGeom>
          <a:noFill/>
          <a:ln/>
        </p:spPr>
        <p:txBody>
          <a:bodyPr wrap="square" rtlCol="0" anchor="ctr"/>
          <a:lstStyle/>
          <a:p>
            <a:pPr marL="0" indent="0" algn="ctr">
              <a:buNone/>
            </a:pPr>
            <a:r>
              <a:rPr lang="en-US" sz="1600" dirty="0">
                <a:solidFill>
                  <a:srgbClr val="FFFFFF"/>
                </a:solidFill>
              </a:rPr>
              <a:t>Questions?</a:t>
            </a:r>
            <a:endParaRPr lang="en-US" sz="1600" dirty="0"/>
          </a:p>
        </p:txBody>
      </p:sp>
      <p:sp>
        <p:nvSpPr>
          <p:cNvPr id="7" name="Text 5"/>
          <p:cNvSpPr/>
          <p:nvPr/>
        </p:nvSpPr>
        <p:spPr>
          <a:xfrm>
            <a:off x="457200" y="4389120"/>
            <a:ext cx="8229600" cy="274320"/>
          </a:xfrm>
          <a:prstGeom prst="rect">
            <a:avLst/>
          </a:prstGeom>
          <a:noFill/>
          <a:ln/>
        </p:spPr>
        <p:txBody>
          <a:bodyPr wrap="square" rtlCol="0" anchor="ctr"/>
          <a:lstStyle/>
          <a:p>
            <a:pPr marL="0" indent="0" algn="ctr">
              <a:buNone/>
            </a:pPr>
            <a:r>
              <a:rPr lang="en-US" sz="1400" b="1" dirty="0">
                <a:solidFill>
                  <a:srgbClr val="FFFFFF"/>
                </a:solidFill>
              </a:rPr>
              <a:t>Muhammad Kamil | Data Analytics Instructor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2242</Words>
  <Application>Microsoft Office PowerPoint</Application>
  <PresentationFormat>On-screen Show (16:9)</PresentationFormat>
  <Paragraphs>373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Lookup Functions - VLOOKUP, HLOOKUP, INDEX-MATCH</dc:title>
  <dc:subject>PptxGenJS Presentation</dc:subject>
  <dc:creator>Muhammad Kamil</dc:creator>
  <cp:lastModifiedBy>kamil khan</cp:lastModifiedBy>
  <cp:revision>2</cp:revision>
  <dcterms:created xsi:type="dcterms:W3CDTF">2026-02-16T08:39:31Z</dcterms:created>
  <dcterms:modified xsi:type="dcterms:W3CDTF">2026-02-16T17:31:46Z</dcterms:modified>
</cp:coreProperties>
</file>