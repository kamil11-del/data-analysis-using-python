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98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B82F6"/>
                </a:solidFill>
              </a:rPr>
              <a:t>DATA ANALYTICS  ·  PHASE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</a:rPr>
              <a:t>Day 5 &amp; Day 6  —  Complete Guide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920240" cy="82296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Phase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2926080"/>
            <a:ext cx="1920240" cy="82296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5–6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1920240" cy="82296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5.0h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2926080"/>
            <a:ext cx="1920240" cy="82296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Pivot Tables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Topic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9592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Transform raw data into powerful summaries, charts and business intelligence — in minutes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TWO-DAY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776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926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First Step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25880" y="154076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Introduction to Pivot Tables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21305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Creating Your First Pivot Table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17320" y="27523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Rows, Columns, Values &amp; Filters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3741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Value Field Settings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17320" y="399592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Practice: Sales by Region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914400"/>
            <a:ext cx="3977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914400"/>
            <a:ext cx="397764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96926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Second Step</a:t>
            </a:r>
          </a:p>
        </p:txBody>
      </p:sp>
      <p:sp>
        <p:nvSpPr>
          <p:cNvPr id="26" name="Text 24"/>
          <p:cNvSpPr/>
          <p:nvPr/>
        </p:nvSpPr>
        <p:spPr>
          <a:xfrm>
            <a:off x="4937760" y="1508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852160" y="15087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Grouping Data (Dates &amp; Numbers)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1305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52160" y="21305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Calculated Fields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7523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52160" y="27523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Slicers &amp; Filtering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852160" y="33741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Pivot Charts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995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52160" y="399592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Practice: Multi-Dimensional 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WHAT IS A PIVOT TABLE?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Definition: </a:t>
            </a:r>
            <a:r>
              <a:rPr lang="en-US" sz="1200" dirty="0">
                <a:solidFill>
                  <a:srgbClr val="1F2937"/>
                </a:solidFill>
              </a:rPr>
              <a:t>A Pivot Table is an interactive summary tool that automatically groups, sorts, counts, totals or averages data stored in a spreadsheet — with zero formulas required.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The Problem it Solves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0233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40233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Raw Data  (500 rows)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9144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Order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2578608"/>
            <a:ext cx="9144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57860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Region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2578608"/>
            <a:ext cx="9144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7860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Product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37560" y="2578608"/>
            <a:ext cx="9144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7860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Amount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7121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1001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2871216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87121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North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77440" y="2871216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87121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Laptop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37560" y="2871216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87121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$1,200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163824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6382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1002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17320" y="3163824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316382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South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77440" y="3163824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316382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Chair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37560" y="3163824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16382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$350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456432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5643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1003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17320" y="3456432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345643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North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77440" y="3456432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345643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Laptop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37560" y="3456432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45643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$1,200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749040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4904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1004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417320" y="3749040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374904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East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77440" y="3749040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374904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Monitor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37560" y="3749040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74904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$800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4041648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0416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...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17320" y="4041648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17320" y="40416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...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77440" y="4041648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0" y="40416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...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37560" y="4041648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40416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...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73880" y="3265932"/>
            <a:ext cx="5943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5047488" y="316382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</a:rPr>
              <a:t>▶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754880" y="2176272"/>
            <a:ext cx="40233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54880" y="2176272"/>
            <a:ext cx="40233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489204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Pivot Table  (instant summary)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2578608"/>
            <a:ext cx="1216152" cy="265176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257860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Region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08192" y="2578608"/>
            <a:ext cx="1216152" cy="265176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08192" y="257860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Total Sales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70064" y="2578608"/>
            <a:ext cx="1216152" cy="265176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0064" y="257860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# Orders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2871216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0" y="2871216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East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08192" y="2871216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08192" y="2871216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$48,200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70064" y="2871216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70064" y="2871216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62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46320" y="3163824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0" y="3163824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North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08192" y="3163824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08192" y="3163824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$71,500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70064" y="3163824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70064" y="3163824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89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46320" y="3456432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0" y="3456432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South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08192" y="3456432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08192" y="3456432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$35,900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370064" y="3456432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70064" y="3456432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48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846320" y="3749040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3749040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West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108192" y="3749040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08192" y="3749040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$54,100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370064" y="3749040"/>
            <a:ext cx="121615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70064" y="3749040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71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846320" y="4041648"/>
            <a:ext cx="1216152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46320" y="404164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Grand Total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08192" y="4041648"/>
            <a:ext cx="1216152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08192" y="404164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$209,700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370064" y="4041648"/>
            <a:ext cx="1216152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70064" y="4041648"/>
            <a:ext cx="12161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</a:rPr>
              <a:t>270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CREATING YOUR FIRST PIVOT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5156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Your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any cell inside your data table.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No need to select the entire range — Excel auto-detects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5156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84648" y="1051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Insert → Pivot 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9047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Go to the Insert tab on the ribbon.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'PivotTable' → Choose 'New Worksheet' → Click OK.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1605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9718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PivotTable Pane Opens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1071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blank Pivot Table appears on a new sheet.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 Field List panel appears on the right side.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4160520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9718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84648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Drag Fields to Areas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41071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Drag field names into: Rows, Columns, Values, or Filters.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Results update instantly — no formulas needed!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💡  Pro Tip: Your source data must have clear column headers in Row 1 — Pivot Tables rely on these as field names.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THE FOUR PIVOT TABLE AREAS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993392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199339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96926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🔽  FILTERS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Position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709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Top of 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23042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Purpose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250545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Limit the whole Pivot Table to a subset of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099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Example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330098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Drag "Year" here → show only 2024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389534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Think of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409651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Like an Excel AutoFilter for the entire report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78024" y="914400"/>
            <a:ext cx="1993392" cy="3840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78024" y="914400"/>
            <a:ext cx="199339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551176" y="96926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↔️  COLUMNS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9464" y="1508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Position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9464" y="1709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Column headers across the top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9464" y="23042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Purpose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9464" y="250545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side-by-side comparisons across categories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9464" y="3099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Example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9464" y="330098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Drag "Quarter" here → Q1, Q2, Q3, Q4 as 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9464" y="389534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Think of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9464" y="409651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Each unique value becomes a separate column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08576" y="914400"/>
            <a:ext cx="1993392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914400"/>
            <a:ext cx="199339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96926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↕️  ROWS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0016" y="1508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Position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0016" y="1709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Row labels on the left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23042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Purpose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0016" y="250545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Group your data down the left side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0016" y="3099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Example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0016" y="330098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Drag "Region" here → North, South, East, West as rows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389534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Think 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0016" y="409651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Each unique value becomes a separate row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39128" y="914400"/>
            <a:ext cx="1993392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39128" y="914400"/>
            <a:ext cx="199339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96926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Σ  VALUES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30568" y="1508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Position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30568" y="1709928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Centre cells (the data)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30568" y="23042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Purpose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30568" y="250545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The numbers being summarised (sum, count, avg…)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30568" y="3099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Example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30568" y="330098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Drag "Sales" here → shows total sales per region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30568" y="389534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Think of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30568" y="409651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These are the answers to your business question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VALUE FIELD SETTINGS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Right-click any value cell → 'Value Field Settings' → choose how to summarise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8449056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3533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SUM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5819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Use for: Total revenue, total quantity, cumulative figures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13533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Example: Total Sales by Region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77640" y="1554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When: Numerical data you want to add 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29400" y="1335024"/>
            <a:ext cx="2057400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35024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"SUM" of values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920240"/>
            <a:ext cx="8449056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299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" y="20116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22402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Use for: Number of transactions, orders, customers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2011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Example: Count of Orders per Month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7640" y="22128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When: Count rows matching each group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205740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99339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"COUNT" of values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578608"/>
            <a:ext cx="8449056" cy="58521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8833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" y="267004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28986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Use for: Average order value, mean score, typical spend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77640" y="2670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Example: Avg Ticket Price by Category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77640" y="28712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When: Compare performance across groups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2651760"/>
            <a:ext cx="205740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65176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"AVERAGE" of values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236976"/>
            <a:ext cx="8449056" cy="585216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46704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↑↓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6968" y="332841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MAX / 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" y="35570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Use for: Highest/lowest sale, best/worst score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77640" y="33284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Example: Max Single Sale per Rep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77640" y="35295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When: Find extremes within each group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29400" y="3310128"/>
            <a:ext cx="2057400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331012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"MAX / MIN" of values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3895344"/>
            <a:ext cx="8449056" cy="58521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0050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" y="39867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COUNT NUMS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6968" y="421538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Use for: Count only cells containing numbers (ignores text/blank)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77640" y="39867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</a:rPr>
              <a:t>Example: Count of valid entries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77640" y="41879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When: Data has some blank/text cells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29400" y="3968496"/>
            <a:ext cx="2057400" cy="4023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629400" y="3968496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"COUNT NUMS" of values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" y="4572000"/>
            <a:ext cx="8449056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5902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💡  You can drag the same field into Values multiple times — once for Sum, once for Count — to show both in one table!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DAY 5  ·  PRACTICE EXERCISE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Sales by Region Analysis  ·  ⏱ 30 minutes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840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📂  Your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299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200 sales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0545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Columns: OrderID, Region, Product, Category, Quantity, Price, Total, Date, Salesperson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98094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File: Sales_Practice.xlsx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564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Covers: Jan – Dec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600200"/>
            <a:ext cx="44348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600200"/>
            <a:ext cx="44348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Your Tasks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0848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084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482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Create a Pivot Table from the sales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542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2542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5054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Show Total Sales (SUM) by Region as rows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9992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2999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9626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Add Product Category as Columns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34564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456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Add a Filter for Year = 2024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39136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3913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8770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Change Values to show Average (not Sum)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43708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0" y="4370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3342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Count the number of orders per Region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360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💡  Bonus: Format the Values cells as Currency ($) using Value Field Settings → Number Format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B5CF6"/>
                </a:solidFill>
              </a:rPr>
              <a:t>DAY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Grouping, Calculated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Slicers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8BFA"/>
                </a:solidFill>
              </a:rPr>
              <a:t>Advanced Pivot Table techniques that turn raw tables into professional BI dashboards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572768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Grouping Dates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2576" y="3977640"/>
            <a:ext cx="1572768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2322576" y="39776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Grouping Numbers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05072" y="3977640"/>
            <a:ext cx="1572768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4005072" y="39776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Calculated Fields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87568" y="3977640"/>
            <a:ext cx="1572768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568" y="39776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Slicers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0064" y="3977640"/>
            <a:ext cx="1572768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7370064" y="39776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Pivot Charts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GROUPING DATA IN PIVOT TABLES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Group:  Right-click any row label in the Pivot Table  →  Select 'Group'  →  Choose grouping options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605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41605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356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Grouping Dates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You have 365 individual dates — impossible to read.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Group by Month, Quarter, Year — Excel collapses automatically.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30175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Seconds · Minutes · Hours · Days · Months · Quarters · Years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Tip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566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Tick multiple options (e.g. Months + Years) to get Year → Month drill-down.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Example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Date column → Group → Months → Jan, Feb, Mar… appear as row labels.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1389888"/>
            <a:ext cx="41605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1389888"/>
            <a:ext cx="4160520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4356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  Grouping Numbers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1920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Problem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1920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Sales amounts range $10–$5,000 — hundreds of individual values.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2468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Solution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2468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Group into ranges/brackets: $0–$499, $500–$999, $1000+.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How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30175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Right-click value → Group → Set Starting/Ending value and By amount.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3566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Example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3566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Age field → Group → Start: 20, End: 60, By: 10 → creates 20–29, 30–39…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4114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41148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Instantly see how many orders fall in each price bracket — no formulas!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CALCULATED FIELDS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109728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875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What is it?  </a:t>
            </a:r>
            <a:r>
              <a:rPr lang="en-US" sz="1150" dirty="0">
                <a:solidFill>
                  <a:srgbClr val="1F2937"/>
                </a:solidFill>
              </a:rPr>
              <a:t>A Calculated Field lets you create a new column inside the Pivot Table using a formula based on existing fields — without modifying your source data at all.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627632"/>
            <a:ext cx="8449056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824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Create:  PivotTable Analyze tab  →  Fields, Items &amp; Sets  →  Calculated Field  →  Enter name &amp; formula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2724912" cy="2240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103120"/>
            <a:ext cx="272491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1396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Field: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Formula: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2505456" cy="31089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9806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Revenue –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Use case: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When your table has Revenue and Cost fields, calculate Profit without a separate column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103120"/>
            <a:ext cx="2724912" cy="22402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103120"/>
            <a:ext cx="2724912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1396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Field: Profit Margin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57860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Formula: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0128" y="2798064"/>
            <a:ext cx="2505456" cy="31089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279806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Profit /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20040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Use case: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3401568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Express profit as a percentage. Format the value field as % to display correctly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53328" y="2103120"/>
            <a:ext cx="2724912" cy="2240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2103120"/>
            <a:ext cx="272491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21396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Field: Commission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257860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Formula: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2798064"/>
            <a:ext cx="2505456" cy="31089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279806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Sales * 0.08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320040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Use case: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63056" y="3401568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Calculate 8% commission on every sale automatically across all regions/reps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4434840"/>
            <a:ext cx="844905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53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⚠️  Calculated Fields use the SUM of each field by default. For ratios (e.g. Margin), verify the result makes mathematical sense across grouped rows.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SLICERS &amp; FILTERING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109728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7840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Slicers </a:t>
            </a:r>
            <a:r>
              <a:rPr lang="en-US" sz="1150" dirty="0">
                <a:solidFill>
                  <a:srgbClr val="1F2937"/>
                </a:solidFill>
              </a:rPr>
              <a:t>are visual, click-to-filter buttons that sit on top of your sheet. They make filtering a Pivot Table as easy as clicking a button — perfect for dashboards and non-technical users.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15270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Slicer vs Standard Filter — What's the Difference?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20116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82880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1828800"/>
            <a:ext cx="31546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82880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 Filter (Dropdown)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86984" y="1828800"/>
            <a:ext cx="31546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182880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Slicer (Visual Button)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76272"/>
            <a:ext cx="2011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17627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Visibility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95728" y="2176272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176272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Hidden in dropdowns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86984" y="2176272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0136" y="2176272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Always visible on screen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523744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52374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Ease of Use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95728" y="2523744"/>
            <a:ext cx="3154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523744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Multiple clicks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86984" y="2523744"/>
            <a:ext cx="3154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0136" y="2523744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Single click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871216"/>
            <a:ext cx="2011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871216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Multiple Tables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95728" y="2871216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871216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One table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86984" y="2871216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2871216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Can control multiple Pivots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321868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218688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User Friendly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95728" y="3218688"/>
            <a:ext cx="3154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3218688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Requires training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86984" y="3218688"/>
            <a:ext cx="3154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0136" y="3218688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Anyone can use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3566160"/>
            <a:ext cx="2011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56616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Best For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95728" y="3566160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56616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Analyst's own analysis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86984" y="3566160"/>
            <a:ext cx="3154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0136" y="356616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Dashboards &amp; presentations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3977640"/>
            <a:ext cx="4114800" cy="84124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0233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How to Insert a Slicer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1. Click inside Pivot 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2. PivotTable Analyze tab → Insert Slicer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3. Tick the fields you want buttons for → OK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977640"/>
            <a:ext cx="4114800" cy="8412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40233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Timeline Filter (Date Slicer)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Special slicer for date fields. Shows a drag-to-select bar.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Select: Years → Quarters → Months → Days.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Insert: Analyze tab → Insert Timeline.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PIVOT CHARTS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109728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784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Pivot Charts </a:t>
            </a:r>
            <a:r>
              <a:rPr lang="en-US" sz="1150" dirty="0">
                <a:solidFill>
                  <a:srgbClr val="1F2937"/>
                </a:solidFill>
              </a:rPr>
              <a:t>are charts directly connected to a Pivot Table. They update automatically when you change filters, slicers or add new data — making them ideal for live dashboards.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8449056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1790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Create:  Click inside Pivot Table  →  PivotTable Analyze tab  →  PivotChart  →  Choose chart type  →  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4178808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920240"/>
            <a:ext cx="4178808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Bar / Column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Use when: Compare values across categories (Region, Product)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651760"/>
            <a:ext cx="3995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Best for: Side-by-side comparison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30752" y="2331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</a:rPr>
              <a:t>▊▊▊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4178808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920240"/>
            <a:ext cx="4178808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 Chart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359152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Use when: Show trends over time (Monthly, Quarterly sales)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651760"/>
            <a:ext cx="3995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Best for: Time series &amp; trends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92440" y="2331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</a:rPr>
              <a:t>╱╲╱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4178808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291840"/>
            <a:ext cx="4178808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346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Pie / Doughnut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730752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Use when: Show proportions (% of total by category)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4023360"/>
            <a:ext cx="3995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Best for: Share of total (max 6 slices)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3703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◔◑◕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4178808" cy="123444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291840"/>
            <a:ext cx="4178808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46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Stacked Bar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730752"/>
            <a:ext cx="3995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Use when: Compare parts of a whole across groups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023360"/>
            <a:ext cx="3995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Best for: Composition + comparison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92440" y="3703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</a:rPr>
              <a:t>▐▐▐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47472" y="4636008"/>
            <a:ext cx="8449056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542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Key Behaviour: When you click a Slicer button, the connected Pivot Chart updates instantly — no extra steps.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DAY 6  ·  PRACTICE EXERCISE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Multi-Dimensional Sales Analysis  ·  ⏱ 20 minutes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1536192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36192"/>
            <a:ext cx="41605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81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Grouping &amp; Calculated Fields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9568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Group the Date field by Month and Quarter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51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6151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Group Order Amount into: Low (&lt;$500), Mid ($500–$1000), High (&gt;$1000)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101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2735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Add a Calculated Field: Profit = Revenue × 0.25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968496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684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9319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Add a Calculated Field: Avg Order = Revenue / Quantity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6008" y="1536192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1536192"/>
            <a:ext cx="416052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81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Slicers, Charts &amp;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1993392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19568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Insert a Slicer for Region and for Product Category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73168" y="2651760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2651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26151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Insert a Timeline filter for the Order 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3168" y="3310128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3101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2735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Create a Column Pivot Chart showing Sales by Month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3968496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9684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39319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Connect the Slicer to both the Pivot Table and Chart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4617720"/>
            <a:ext cx="8449056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360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🎯  Challenge: Connect both Slicers so clicking a Region updates the chart and table simultaneously.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PIVOT TABLE QUICK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19202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4124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04288" y="841248"/>
            <a:ext cx="320040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841248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To Do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41264" y="841248"/>
            <a:ext cx="32918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84124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Shortcut / Tip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152144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15214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Create Pivot 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04288" y="1152144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15214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Insert tab → PivotTable → OK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41264" y="1152144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15214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Always use a Table (Ctrl+T) as source first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146304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6304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Refresh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04288" y="1463040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146304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Right-click → Refresh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41264" y="1463040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146304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Ctrl+Alt+F5 refreshes all Pivot Tables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1773936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77393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Add a Field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04288" y="1773936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177393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Drag from Field List to an Area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41264" y="1773936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77393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Tick the field checkbox for quick add to Values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2084832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08483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Remove a Field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04288" y="2084832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08483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Drag field out of area box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41264" y="2084832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208483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Or untick checkbox in Field List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2395728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239572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Change Summary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304288" y="2395728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2395728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Right-click value → Value Field Settings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41264" y="2395728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239572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Can also double-click field header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2706624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270662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Group Dates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04288" y="2706624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270662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Right-click row label → Group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41264" y="2706624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270662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Tick Months + Years for drill-down capability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" y="3017520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01752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Group Numbers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304288" y="301752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9152" y="301752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Right-click row label → Group → set range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41264" y="3017520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96128" y="301752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Use By value that creates meaningful buckets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7472" y="3328416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33284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Calculated Field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304288" y="3328416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332841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Analyze tab → Fields, Items &amp; Sets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41264" y="3328416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96128" y="332841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Use field names exactly as they appear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47472" y="3639312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363931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Insert Slicer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304288" y="3639312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59152" y="363931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Analyze tab → Insert Slicer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41264" y="3639312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6128" y="363931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One Slicer can filter multiple Pivot Tables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47472" y="3950208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" y="395020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Insert Timeline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304288" y="3950208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59152" y="3950208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Analyze tab → Insert Timeline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541264" y="3950208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96128" y="395020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Only available for date fields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47472" y="4261104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" y="426110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Create Pivot Chart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304288" y="4261104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59152" y="426110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Analyze tab → PivotChart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541264" y="4261104"/>
            <a:ext cx="32918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96128" y="426110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Chart stays linked — updating one updates both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47472" y="45720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2336" y="457200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Number Format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304288" y="4572000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59152" y="457200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Value Field Settings → Number Format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41264" y="4572000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96128" y="457200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Format as Currency, %, Comma — no source change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HOMEWORK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E-Commerce Dashboard Project  —  Due: Next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554480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554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27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Create a dataset: 50+ orders with columns: OrderID, Customer, Product, Category, Region, Price, Quantity, Revenue, 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856232"/>
            <a:ext cx="8449056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" y="190195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19019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Pivot Table 1: Total Revenue by Region (rows) and Category (columns)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203704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" y="2249424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249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Pivot Table 2: Count of orders by Month — group Date field by Month and Year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551176"/>
            <a:ext cx="8449056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" y="2596896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25968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25694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Pivot Table 3: Average Order Value by Region — format as Currency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898648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" y="2944368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9169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Calculated Field: Add Profit = Revenue × 0.30 to any of your Pivot Tables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246120"/>
            <a:ext cx="8449056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0624" y="3291840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291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2644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Add Slicers for Region and Category — connect both to all Pivot Tables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593592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20624" y="3639312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" y="36393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611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Create a Pivot Chart (Column or Line) showing Monthly Revenue trend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3941064"/>
            <a:ext cx="8449056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20624" y="3986784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" y="39867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9593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Optional Challenge: Add a Timeline slicer for the Order Date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4288536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20624" y="4334256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" y="43342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3068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Save as: YourName_Pivot_Dashboard.xlsx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Analytics Course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Tables: Complete 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3C5FD"/>
                </a:solidFill>
              </a:rPr>
              <a:t>You can now transform any raw dataset into a professional business report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6060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6060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67712" y="2587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Build Pivot Tables from scratch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29077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9077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67712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Use all four areas: Rows, Columns, Values, Filters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2095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2095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3191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Change Value Field Settings (Sum, Count, Average)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5112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5112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3493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Group dates &amp; numbers into meaningful buckets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8130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38130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Create Calculated Fields with custom formulas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41148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4114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4096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Add Slicers &amp; Timelines for interactive filtering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44165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44165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67712" y="4398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Build connected Pivot Charts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Muhammad Kamil  |  Data Analytics Instructor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2266</Words>
  <Application>Microsoft Office PowerPoint</Application>
  <PresentationFormat>On-screen Show (16:9)</PresentationFormat>
  <Paragraphs>413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Pivot Tables - Day 5 &amp; 6</dc:title>
  <dc:subject>PptxGenJS Presentation</dc:subject>
  <dc:creator>Muhammad Kamil</dc:creator>
  <cp:lastModifiedBy>kamil khan</cp:lastModifiedBy>
  <cp:revision>3</cp:revision>
  <dcterms:created xsi:type="dcterms:W3CDTF">2026-02-17T17:13:32Z</dcterms:created>
  <dcterms:modified xsi:type="dcterms:W3CDTF">2026-02-18T10:26:23Z</dcterms:modified>
</cp:coreProperties>
</file>