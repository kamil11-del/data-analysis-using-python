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849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938370" y="319889"/>
            <a:ext cx="526725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0D9488"/>
                </a:solidFill>
              </a:rPr>
              <a:t>NAVTTC · DATA ANALYTICS USING PYTHON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1097280" cy="347472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</a:rPr>
              <a:t>NumPy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59E0B"/>
                </a:solidFill>
              </a:rPr>
              <a:t>Numerical Python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</a:rPr>
              <a:t>The mathematical engine that powers modern data science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321157"/>
            <a:ext cx="246888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549757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22592" y="1412597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Arrays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22592" y="1732637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The core data structure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0" y="2380595"/>
            <a:ext cx="246888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09195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22592" y="247203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022592" y="2792075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Up to 100× faster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0" y="3424276"/>
            <a:ext cx="246888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660759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22592" y="3523599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Mathematics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022592" y="384363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Built for numbers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17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</a:rPr>
              <a:t>Conceptual Theory  ·  For practice — open the Jupyter Notebook</a:t>
            </a:r>
            <a:endParaRPr lang="en-US" sz="9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5235F7-9EEA-8525-682D-EB5C24F3E3A4}"/>
              </a:ext>
            </a:extLst>
          </p:cNvPr>
          <p:cNvSpPr txBox="1"/>
          <p:nvPr/>
        </p:nvSpPr>
        <p:spPr>
          <a:xfrm>
            <a:off x="419100" y="4228076"/>
            <a:ext cx="4739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Instructor: Muhammad Kamil Khan</a:t>
            </a:r>
            <a:br>
              <a:rPr lang="en-US" sz="160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sz="160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Research Assistant DIP LAB</a:t>
            </a:r>
            <a:endParaRPr lang="en-US"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4784E730-005F-AF7F-ADB4-6ACD710774C4}"/>
              </a:ext>
            </a:extLst>
          </p:cNvPr>
          <p:cNvSpPr/>
          <p:nvPr/>
        </p:nvSpPr>
        <p:spPr>
          <a:xfrm>
            <a:off x="3887724" y="777240"/>
            <a:ext cx="2311908" cy="2240280"/>
          </a:xfrm>
          <a:prstGeom prst="flowChartConnector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BC83987D-BE91-6F50-76E6-4F10FB3BE817}"/>
              </a:ext>
            </a:extLst>
          </p:cNvPr>
          <p:cNvSpPr/>
          <p:nvPr/>
        </p:nvSpPr>
        <p:spPr>
          <a:xfrm>
            <a:off x="7343105" y="54703"/>
            <a:ext cx="1288516" cy="1193935"/>
          </a:xfrm>
          <a:prstGeom prst="flowChartConnector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3F5E"/>
                </a:solidFill>
              </a:rPr>
              <a:t>WHY NUMPY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 That Python Couldn't Solve Alone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3383280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023360" cy="43891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Python Lists for Math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A8"/>
                </a:solidFill>
              </a:rPr>
              <a:t>·  Loops through every item one by one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2219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A8"/>
                </a:solidFill>
              </a:rPr>
              <a:t>·  No built-in math — you must write formulas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6609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A8"/>
                </a:solidFill>
              </a:rPr>
              <a:t>·  Stores mixed types (int, str, float together)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0998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A8"/>
                </a:solidFill>
              </a:rPr>
              <a:t>·  Slow with large data — millions of records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5387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A8"/>
                </a:solidFill>
              </a:rPr>
              <a:t>·  No concept of 'rows and columns'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4023360" cy="3383280"/>
          </a:xfrm>
          <a:prstGeom prst="rect">
            <a:avLst/>
          </a:prstGeom>
          <a:solidFill>
            <a:srgbClr val="0A1A1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34440"/>
            <a:ext cx="402336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344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NumPy Arrays for Math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7830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</a:rPr>
              <a:t>·  Operates on entire array at once (vectorized)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22219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</a:rPr>
              <a:t>·  Built-in: mean, sum, std, min, max, and more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26609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</a:rPr>
              <a:t>·  One data type only — faster &amp; consistent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83480" y="30998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</a:rPr>
              <a:t>·  Up to 100× faster than Python loops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35387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</a:rPr>
              <a:t>·  Rows and columns built in (2D, 3D arrays)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</a:rPr>
              <a:t>NumPy was created to bring the power of MATLAB-style computing into Python — free and open source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</a:rPr>
              <a:t>THE MENTAL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to Think About Arrays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834640" cy="3474720"/>
          </a:xfrm>
          <a:prstGeom prst="rect">
            <a:avLst/>
          </a:prstGeom>
          <a:solidFill>
            <a:srgbClr val="1A080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834640" cy="54864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716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93852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A List is like a Bag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1480" y="257860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</a:rPr>
              <a:t>You throw items in any order. Mixed things, unorganized. To count everything, you open the bag and check one-by-one. Slow. Messy. No structure.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27832" y="1234440"/>
            <a:ext cx="2834640" cy="3474720"/>
          </a:xfrm>
          <a:prstGeom prst="rect">
            <a:avLst/>
          </a:prstGeom>
          <a:solidFill>
            <a:srgbClr val="081A1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27832" y="1234440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3716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193852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An Array is like a Spreadsheet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364992" y="257860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</a:rPr>
              <a:t>Items are organized in rows and columns. Every cell holds the same type of data. Excel can calculate an entire column in one go — so can NumPy.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81344" y="1234440"/>
            <a:ext cx="2834640" cy="3474720"/>
          </a:xfrm>
          <a:prstGeom prst="rect">
            <a:avLst/>
          </a:prstGeom>
          <a:solidFill>
            <a:srgbClr val="080A1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81344" y="1234440"/>
            <a:ext cx="2834640" cy="54864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13716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193852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A 3D Array is like a Book of Spreadsheets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18504" y="257860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</a:rPr>
              <a:t>Multiple sheets stacked on top of each other. Think: 12 monthly sales tables, one per page. NumPy handles all pages at once.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6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</a:rPr>
              <a:t>The mental model: An array is an organized container where math can happen on everything at once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THE CORE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a Dimension?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834640" cy="35204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83464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1D Array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72A"/>
                </a:solidFill>
              </a:rPr>
              <a:t>A single row of numbers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2651760" cy="1051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013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[ 85,  92,  78,  95,  88 ]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926080"/>
            <a:ext cx="26334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Think of it as one row of an Excel sheet.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Use for: a list of test scores, prices, or temperatures.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1234440"/>
            <a:ext cx="2834640" cy="35204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234440"/>
            <a:ext cx="283464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2D Array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9272" y="1508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72A"/>
                </a:solidFill>
              </a:rPr>
              <a:t>Rows AND Columns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9272" y="1801368"/>
            <a:ext cx="2651760" cy="1051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18013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[85, 92, 78],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[91, 87, 94],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[76, 83, 89] 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2926080"/>
            <a:ext cx="26334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Think of it as a full Excel table.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Use for: 3 students × 3 subjects — a grade matrix.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1234440"/>
            <a:ext cx="2834640" cy="35204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1234440"/>
            <a:ext cx="2834640" cy="4754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3D Array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2784" y="1508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72A"/>
                </a:solidFill>
              </a:rPr>
              <a:t>Stacked Tables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72784" y="1801368"/>
            <a:ext cx="2651760" cy="1051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6318504" y="18013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table_jan,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table_feb,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table_mar 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91072" y="2926080"/>
            <a:ext cx="26334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Think of it as a workbook with multiple sheets.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Use for: 12 months of daily sales data.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</a:rPr>
              <a:t>Key question to ask: How many rows? How many columns? That tells you the shape of the array.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</a:rPr>
              <a:t>THE BIG IDEA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Vectorization — Why NumPy is Fast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3931920" cy="2377440"/>
          </a:xfrm>
          <a:prstGeom prst="rect">
            <a:avLst/>
          </a:prstGeom>
          <a:solidFill>
            <a:srgbClr val="14081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3931920" cy="38404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🐢  Slow Approach (Loop)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9A8A8"/>
                </a:solidFill>
              </a:rPr>
              <a:t>Imagine you are a cashier.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9A8A8"/>
                </a:solidFill>
              </a:rPr>
              <a:t>For every item on the belt, you pick it up,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9A8A8"/>
                </a:solidFill>
              </a:rPr>
              <a:t>check the price, add it manually, put it down,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9A8A8"/>
                </a:solidFill>
              </a:rPr>
              <a:t>then move to the next item.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9A8A8"/>
                </a:solidFill>
              </a:rPr>
              <a:t>One. Item. At. A. Time.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2148840"/>
            <a:ext cx="502920" cy="502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37760" y="1170432"/>
            <a:ext cx="3931920" cy="2377440"/>
          </a:xfrm>
          <a:prstGeom prst="rect">
            <a:avLst/>
          </a:prstGeom>
          <a:solidFill>
            <a:srgbClr val="081A0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170432"/>
            <a:ext cx="39319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Fast Approach (Vectorized)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16002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7F3D0"/>
                </a:solidFill>
              </a:rPr>
              <a:t>Now imagine a barcode scanner.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7F3D0"/>
                </a:solidFill>
              </a:rPr>
              <a:t>You pass the entire trolley through in one motion.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7F3D0"/>
                </a:solidFill>
              </a:rPr>
              <a:t>The scanner reads ALL items simultaneously.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7F3D0"/>
                </a:solidFill>
              </a:rPr>
              <a:t>Result instantly. No waiting.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3703320"/>
            <a:ext cx="8595360" cy="914400"/>
          </a:xfrm>
          <a:prstGeom prst="rect">
            <a:avLst/>
          </a:prstGeom>
          <a:solidFill>
            <a:srgbClr val="33415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370332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04488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584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The Insight: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05840" y="409651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NumPy sends your entire array to highly optimized C code underneath Python. You write simple commands in Python; C does the heavy lifting at machine speed.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6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</a:rPr>
              <a:t>Vectorization = doing math on the whole dataset at once, not item by item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</a:rPr>
              <a:t>DATA TYPE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Why an Array Only Holds One Type of Data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1051560"/>
          </a:xfrm>
          <a:prstGeom prst="rect">
            <a:avLst/>
          </a:prstGeom>
          <a:solidFill>
            <a:srgbClr val="33415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The Cashier Analogy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 cashier handling only currency notes works fast — they know every item is the same format, same size. If you mix in coins, stamps, and vouchers, every item needs special handling. Speed drops instantly.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2103120" cy="2148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23160"/>
            <a:ext cx="21031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5420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Integer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(int64)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Whole numbers only.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No decimal point.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For counts, IDs, ages.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423160"/>
            <a:ext cx="2103120" cy="2148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2423160"/>
            <a:ext cx="21031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2542032" y="25420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</a:rPr>
              <a:t>Float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</a:rPr>
              <a:t>(float64)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2032" y="3200400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Numbers with decimals.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For prices, percentages,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scores, measurements.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2423160"/>
            <a:ext cx="2103120" cy="2148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423160"/>
            <a:ext cx="21031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718304" y="25420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Boolean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(bool)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18304" y="3200400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True or False only.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For filters: who passed?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whose salary is above X?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03136" y="2423160"/>
            <a:ext cx="2103120" cy="2148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2423160"/>
            <a:ext cx="2103120" cy="7315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3" name="Text 21"/>
          <p:cNvSpPr/>
          <p:nvPr/>
        </p:nvSpPr>
        <p:spPr>
          <a:xfrm>
            <a:off x="6894576" y="25420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3F5E"/>
                </a:solidFill>
              </a:rPr>
              <a:t>String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3F5E"/>
                </a:solidFill>
              </a:rPr>
              <a:t>(object)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94576" y="3200400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Text data.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Names, cities, labels.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Not ideal for math.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</a:rPr>
              <a:t>NumPy automatically chooses the best type — but you can always specify it yourself for precision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46E5"/>
                </a:solidFill>
              </a:rPr>
              <a:t>ADVANCED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Broadcasting — Math Across Different Shapes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868680"/>
          </a:xfrm>
          <a:prstGeom prst="rect">
            <a:avLst/>
          </a:prstGeom>
          <a:solidFill>
            <a:srgbClr val="33415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4864" cy="8686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Scenario:  You have 100 student scores. The teacher wants to add 5 bonus marks to everyone.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2926080" cy="6858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240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[85,  92,  78,  95,  88]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9443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100 scores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</a:rPr>
              <a:t>+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931920" y="2240280"/>
            <a:ext cx="1097280" cy="6858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22402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31920" y="29443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one number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22860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</a:rPr>
              <a:t>=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760720" y="2240280"/>
            <a:ext cx="3108960" cy="685800"/>
          </a:xfrm>
          <a:prstGeom prst="rect">
            <a:avLst/>
          </a:prstGeom>
          <a:solidFill>
            <a:srgbClr val="081A1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2240280"/>
            <a:ext cx="3108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22402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[90,  97,  83,  100,  93]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29443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all 100 scores updated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8595360" cy="1261872"/>
          </a:xfrm>
          <a:prstGeom prst="rect">
            <a:avLst/>
          </a:prstGeom>
          <a:solidFill>
            <a:srgbClr val="0A081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64992"/>
            <a:ext cx="54864" cy="12618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410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</a:rPr>
              <a:t>What NumPy Did Automatically: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NumPy saw that you want to add 5 to an array of 100 numbers. Instead of requiring you to create an array of 100 fives, it stretched (broadcasted) the single number 5 across all 100 positions automatically. This is broadcasting.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</a:rPr>
              <a:t>Broadcasting: NumPy's ability to apply a single value across an entire array — intelligently and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STATISTICS CONCEPTS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the Numbers Actually Tell You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7772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399032"/>
            <a:ext cx="1188720" cy="4572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399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Mean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27632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9488"/>
                </a:solidFill>
              </a:rPr>
              <a:t>— The Fair Share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27632" y="1636776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If everyone in the class pooled their marks and divided equally, each person would get the mean. It represents the 'typical' value of the group.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30552"/>
            <a:ext cx="8595360" cy="7772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30552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" y="2295144"/>
            <a:ext cx="1188720" cy="457200"/>
          </a:xfrm>
          <a:prstGeom prst="rect">
            <a:avLst/>
          </a:prstGeom>
          <a:solidFill>
            <a:srgbClr val="38BDF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22951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Median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27632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38BDF8"/>
                </a:solidFill>
              </a:rPr>
              <a:t>— The Middle Person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27632" y="2532888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Line everyone up by their marks from lowest to highest. The median is the person standing exactly in the middle. Not affected by one student scoring 0 or 100.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26664"/>
            <a:ext cx="8595360" cy="7772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26664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" y="3191256"/>
            <a:ext cx="1188720" cy="4572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" y="31912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Std Dev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27632" y="3136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</a:rPr>
              <a:t>— How Spread 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27632" y="3429000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 low std dev means most scores are clustered near the mean — consistent class. A high std dev means scores are spread wide — mixed ability group.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22776"/>
            <a:ext cx="8595360" cy="7772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22776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" y="4087368"/>
            <a:ext cx="1188720" cy="4572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" y="40873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Min / Max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27632" y="40325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0B981"/>
                </a:solidFill>
              </a:rPr>
              <a:t>— The Boundaries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27632" y="4325112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The lowest and highest values in your data. Together with mean, they tell you the full range of your dataset — from worst case to best case.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</a:rPr>
              <a:t>Statistics summarize large datasets into single meaningful numbers — the language of data analysis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3F5E"/>
                </a:solidFill>
              </a:rPr>
              <a:t>THE BIGGER PICTURE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Where NumPy Sits in Data Science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59436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Your Analysis &amp; Insights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What you present to stakeholders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694944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18653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Matplotlib / Seaborn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13969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Charts and visualizations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37360" y="2487168"/>
            <a:ext cx="5669280" cy="5943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25237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Pandas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279806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DataFrames — working with tables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77440" y="3145536"/>
            <a:ext cx="4389120" cy="594360"/>
          </a:xfrm>
          <a:prstGeom prst="rect">
            <a:avLst/>
          </a:prstGeom>
          <a:solidFill>
            <a:srgbClr val="4F46E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3182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NumPy  ← YOU ARE HERE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34564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Arrays and mathematics — TODAY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0" y="3803904"/>
            <a:ext cx="3108960" cy="594360"/>
          </a:xfrm>
          <a:prstGeom prst="rect">
            <a:avLst/>
          </a:prstGeom>
          <a:solidFill>
            <a:srgbClr val="33415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5468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</a:rPr>
              <a:t>Python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4114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The language foundation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498848"/>
            <a:ext cx="859536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</a:rPr>
              <a:t>Pandas is built on NumPy. Scikit-Learn (ML) is built on NumPy. Master this — everything else becomes easier.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</a:rPr>
              <a:t>TODAY'S LEARNING 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From Theory to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307592"/>
            <a:ext cx="502920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30759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Creating Arrays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How to build arrays from scratch, from lists, using ranges, zeros, ones, and random values. Understanding shape and size.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20240"/>
            <a:ext cx="54864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" y="2039112"/>
            <a:ext cx="502920" cy="42062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0391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Indexing &amp; Slicing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How to access specific elements, rows, columns, and sub-sections of an array. Boolean filtering — selecting data by condition.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859536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51760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" y="2770632"/>
            <a:ext cx="502920" cy="4206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7706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Mathematical Operations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Addition, subtraction, multiplication across entire arrays at once. How arithmetic between arrays works element by element.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859536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83280"/>
            <a:ext cx="54864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" y="3502152"/>
            <a:ext cx="502920" cy="4206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5021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Statistics Functions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749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Computing mean, median, standard deviation, min, max — for the whole array or row by row, column by column using axis.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14800"/>
            <a:ext cx="54864" cy="6583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" y="4233672"/>
            <a:ext cx="502920" cy="4206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42336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</a:rPr>
              <a:t>Reshaping &amp; Sorting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Changing the shape of arrays, flattening, stacking, finding unique values, sorting, and using conditions to replace values.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10B981"/>
                </a:solidFill>
              </a:rPr>
              <a:t>Open the Jupyter Notebook now — all code, examples, and exercises are waiting for you there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Remember These Three Things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CF0EB"/>
                </a:solidFill>
              </a:rPr>
              <a:t>Before you open the notebook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31720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87168"/>
            <a:ext cx="420624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49631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An array is not a list. It is an organized mathematical container. One type, one shape, full power.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00400"/>
            <a:ext cx="54864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355848"/>
            <a:ext cx="420624" cy="4206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36499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Vectorization means: write the operation once — NumPy applies it to every element at machine speed.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74980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69080"/>
            <a:ext cx="54864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24528"/>
            <a:ext cx="420624" cy="4206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423367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NumPy is the foundation. Pandas, Matplotlib, and Machine Learning all sit on top of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NAVTTC Data Analytics Using Python  ·  Day 26  ·  NumPy — Numerical Python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1402</Words>
  <Application>Microsoft Office PowerPoint</Application>
  <PresentationFormat>On-screen Show (16:9)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— Conceptual Theory</dc:title>
  <dc:subject>PptxGenJS Presentation</dc:subject>
  <dc:creator>NAVTTC Data Analytics Program</dc:creator>
  <cp:lastModifiedBy>kamil khan</cp:lastModifiedBy>
  <cp:revision>3</cp:revision>
  <dcterms:created xsi:type="dcterms:W3CDTF">2026-03-10T08:02:46Z</dcterms:created>
  <dcterms:modified xsi:type="dcterms:W3CDTF">2026-03-10T08:25:11Z</dcterms:modified>
</cp:coreProperties>
</file>