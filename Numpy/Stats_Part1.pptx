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56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Salary (PKR '000)</c:v>
                </c:pt>
              </c:strCache>
            </c:strRef>
          </c:tx>
          <c:spPr>
            <a:solidFill>
              <a:srgbClr val="1A3A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18E-4EEC-B00D-D12374416BE6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D18E-4EEC-B00D-D12374416BE6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D18E-4EEC-B00D-D12374416BE6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D18E-4EEC-B00D-D12374416BE6}"/>
              </c:ext>
            </c:extLst>
          </c:dPt>
          <c:dPt>
            <c:idx val="4"/>
            <c:invertIfNegative val="0"/>
            <c:bubble3D val="0"/>
            <c:spPr>
              <a:solidFill>
                <a:srgbClr val="F43F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18E-4EEC-B00D-D12374416BE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PK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Ahmed</c:v>
                </c:pt>
                <c:pt idx="1">
                  <c:v>Bilal</c:v>
                </c:pt>
                <c:pt idx="2">
                  <c:v>Fatima</c:v>
                </c:pt>
                <c:pt idx="3">
                  <c:v>Sara</c:v>
                </c:pt>
                <c:pt idx="4">
                  <c:v>Hassan (CEO)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38</c:v>
                </c:pt>
                <c:pt idx="2">
                  <c:v>40</c:v>
                </c:pt>
                <c:pt idx="3">
                  <c:v>42</c:v>
                </c:pt>
                <c:pt idx="4">
                  <c:v>300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D18E-4EEC-B00D-D12374416BE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PK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S1</c:v>
                </c:pt>
                <c:pt idx="1">
                  <c:v>S2</c:v>
                </c:pt>
                <c:pt idx="2">
                  <c:v>S3</c:v>
                </c:pt>
                <c:pt idx="3">
                  <c:v>S4</c:v>
                </c:pt>
                <c:pt idx="4">
                  <c:v>S5</c:v>
                </c:pt>
                <c:pt idx="5">
                  <c:v>S6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68</c:v>
                </c:pt>
                <c:pt idx="1">
                  <c:v>69</c:v>
                </c:pt>
                <c:pt idx="2">
                  <c:v>70</c:v>
                </c:pt>
                <c:pt idx="3">
                  <c:v>71</c:v>
                </c:pt>
                <c:pt idx="4">
                  <c:v>71</c:v>
                </c:pt>
                <c:pt idx="5">
                  <c:v>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9A-465C-884D-8580E8B7058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PK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S1</c:v>
                </c:pt>
                <c:pt idx="1">
                  <c:v>S2</c:v>
                </c:pt>
                <c:pt idx="2">
                  <c:v>S3</c:v>
                </c:pt>
                <c:pt idx="3">
                  <c:v>S4</c:v>
                </c:pt>
                <c:pt idx="4">
                  <c:v>S5</c:v>
                </c:pt>
                <c:pt idx="5">
                  <c:v>S6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50</c:v>
                </c:pt>
                <c:pt idx="2">
                  <c:v>70</c:v>
                </c:pt>
                <c:pt idx="3">
                  <c:v>85</c:v>
                </c:pt>
                <c:pt idx="4">
                  <c:v>90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27-4996-B778-FF6209875E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Frequency</c:v>
                </c:pt>
              </c:strCache>
            </c:strRef>
          </c:tx>
          <c:spPr>
            <a:ln w="22225" cap="rnd">
              <a:solidFill>
                <a:schemeClr val="accent1"/>
              </a:solidFill>
            </a:ln>
            <a:effectLst>
              <a:glow rad="139700">
                <a:schemeClr val="accent1">
                  <a:satMod val="175000"/>
                  <a:alpha val="14000"/>
                </a:schemeClr>
              </a:glow>
            </a:effectLst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-3σ</c:v>
                </c:pt>
                <c:pt idx="1">
                  <c:v>-2.5σ</c:v>
                </c:pt>
                <c:pt idx="2">
                  <c:v>-2σ</c:v>
                </c:pt>
                <c:pt idx="3">
                  <c:v>-1.5σ</c:v>
                </c:pt>
                <c:pt idx="4">
                  <c:v>-1σ</c:v>
                </c:pt>
                <c:pt idx="5">
                  <c:v>-0.5σ</c:v>
                </c:pt>
                <c:pt idx="6">
                  <c:v>μ</c:v>
                </c:pt>
                <c:pt idx="7">
                  <c:v>0.5σ</c:v>
                </c:pt>
                <c:pt idx="8">
                  <c:v>1σ</c:v>
                </c:pt>
                <c:pt idx="9">
                  <c:v>1.5σ</c:v>
                </c:pt>
                <c:pt idx="10">
                  <c:v>2σ</c:v>
                </c:pt>
                <c:pt idx="11">
                  <c:v>2.5σ</c:v>
                </c:pt>
                <c:pt idx="12">
                  <c:v>3σ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0.02</c:v>
                </c:pt>
                <c:pt idx="1">
                  <c:v>0.08</c:v>
                </c:pt>
                <c:pt idx="2">
                  <c:v>0.27</c:v>
                </c:pt>
                <c:pt idx="3">
                  <c:v>0.65</c:v>
                </c:pt>
                <c:pt idx="4">
                  <c:v>1.2</c:v>
                </c:pt>
                <c:pt idx="5">
                  <c:v>1.76</c:v>
                </c:pt>
                <c:pt idx="6">
                  <c:v>2</c:v>
                </c:pt>
                <c:pt idx="7">
                  <c:v>1.76</c:v>
                </c:pt>
                <c:pt idx="8">
                  <c:v>1.2</c:v>
                </c:pt>
                <c:pt idx="9">
                  <c:v>0.65</c:v>
                </c:pt>
                <c:pt idx="10">
                  <c:v>0.27</c:v>
                </c:pt>
                <c:pt idx="11">
                  <c:v>0.08</c:v>
                </c:pt>
                <c:pt idx="12">
                  <c:v>0.02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C43-4518-BB02-2E54966A48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75000"/>
                      <a:lumOff val="25000"/>
                    </a:schemeClr>
                  </a:gs>
                  <a:gs pos="0">
                    <a:schemeClr val="dk1">
                      <a:lumMod val="65000"/>
                      <a:lumOff val="35000"/>
                    </a:schemeClr>
                  </a:gs>
                </a:gsLst>
                <a:lin ang="5400000" scaled="0"/>
              </a:gra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75000"/>
                      <a:lumOff val="25000"/>
                    </a:schemeClr>
                  </a:gs>
                  <a:gs pos="0">
                    <a:schemeClr val="dk1">
                      <a:lumMod val="65000"/>
                      <a:lumOff val="35000"/>
                    </a:schemeClr>
                  </a:gs>
                </a:gsLst>
                <a:lin ang="5400000" scaled="0"/>
              </a:gra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chemeClr val="dk1">
        <a:lumMod val="75000"/>
        <a:lumOff val="25000"/>
      </a:schemeClr>
    </a:soli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PK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&lt;50</c:v>
                </c:pt>
                <c:pt idx="1">
                  <c:v>50-60</c:v>
                </c:pt>
                <c:pt idx="2">
                  <c:v>60-70</c:v>
                </c:pt>
                <c:pt idx="3">
                  <c:v>70-80</c:v>
                </c:pt>
                <c:pt idx="4">
                  <c:v>80-90</c:v>
                </c:pt>
                <c:pt idx="5">
                  <c:v>90-100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3</c:v>
                </c:pt>
                <c:pt idx="2">
                  <c:v>5</c:v>
                </c:pt>
                <c:pt idx="3">
                  <c:v>12</c:v>
                </c:pt>
                <c:pt idx="4">
                  <c:v>28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069-4E2B-AEAB-486AFC18AF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3A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E3A5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&lt;50</c:v>
                </c:pt>
                <c:pt idx="1">
                  <c:v>50-60</c:v>
                </c:pt>
                <c:pt idx="2">
                  <c:v>60-70</c:v>
                </c:pt>
                <c:pt idx="3">
                  <c:v>70-80</c:v>
                </c:pt>
                <c:pt idx="4">
                  <c:v>80-90</c:v>
                </c:pt>
                <c:pt idx="5">
                  <c:v>90-100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10</c:v>
                </c:pt>
                <c:pt idx="2">
                  <c:v>25</c:v>
                </c:pt>
                <c:pt idx="3">
                  <c:v>25</c:v>
                </c:pt>
                <c:pt idx="4">
                  <c:v>10</c:v>
                </c:pt>
                <c:pt idx="5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6A-4A17-BD2F-0E5E5616A1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3A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E3A5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&lt;50</c:v>
                </c:pt>
                <c:pt idx="1">
                  <c:v>50-60</c:v>
                </c:pt>
                <c:pt idx="2">
                  <c:v>60-70</c:v>
                </c:pt>
                <c:pt idx="3">
                  <c:v>70-80</c:v>
                </c:pt>
                <c:pt idx="4">
                  <c:v>80-90</c:v>
                </c:pt>
                <c:pt idx="5">
                  <c:v>90-100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28</c:v>
                </c:pt>
                <c:pt idx="2">
                  <c:v>12</c:v>
                </c:pt>
                <c:pt idx="3">
                  <c:v>5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E5-4BB0-8D4F-48527B885C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3A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E3A5F"/>
    </a:solidFill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6">
  <cs:axisTitle>
    <cs:lnRef idx="0"/>
    <cs:fillRef idx="0"/>
    <cs:effectRef idx="0"/>
    <cs:fontRef idx="minor">
      <a:schemeClr val="lt1">
        <a:lumMod val="75000"/>
      </a:schemeClr>
    </cs:fontRef>
    <cs:defRPr sz="1197" b="1" kern="1200"/>
  </cs:axisTitle>
  <cs:categoryAxis>
    <cs:lnRef idx="0"/>
    <cs:fillRef idx="0"/>
    <cs:effectRef idx="0"/>
    <cs:fontRef idx="minor">
      <a:schemeClr val="lt1">
        <a:lumMod val="75000"/>
      </a:schemeClr>
    </cs:fontRef>
    <cs:defRPr sz="1197" kern="1200"/>
  </cs:categoryAxis>
  <cs:chartArea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>
        <a:lumMod val="75000"/>
      </a:schemeClr>
    </cs:fontRef>
    <cs:defRPr sz="1197" kern="1200"/>
  </cs:dataLabel>
  <cs:dataLabelCallout>
    <cs:lnRef idx="0"/>
    <cs:fillRef idx="0"/>
    <cs:effectRef idx="0"/>
    <cs:fontRef idx="minor">
      <a:schemeClr val="lt1">
        <a:lumMod val="15000"/>
        <a:lumOff val="85000"/>
      </a:schemeClr>
    </cs:fontRef>
    <cs:spPr>
      <a:solidFill>
        <a:schemeClr val="dk1">
          <a:lumMod val="65000"/>
          <a:lumOff val="35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/>
    <cs:effectRef idx="0">
      <cs:styleClr val="auto"/>
    </cs:effectRef>
    <cs:fontRef idx="minor">
      <a:schemeClr val="dk1"/>
    </cs:fontRef>
    <cs:spPr>
      <a:ln w="9525" cap="flat" cmpd="sng" algn="ctr">
        <a:solidFill>
          <a:schemeClr val="phClr"/>
        </a:solidFill>
        <a:miter lim="800000"/>
      </a:ln>
      <a:effectLst>
        <a:glow rad="63500">
          <a:schemeClr val="phClr">
            <a:satMod val="175000"/>
            <a:alpha val="25000"/>
          </a:schemeClr>
        </a:glow>
      </a:effectLst>
    </cs:spPr>
  </cs:dataPoint>
  <cs:dataPoint3D>
    <cs:lnRef idx="0">
      <cs:styleClr val="auto"/>
    </cs:lnRef>
    <cs:fillRef idx="0">
      <cs:styleClr val="auto"/>
    </cs:fillRef>
    <cs:effectRef idx="0">
      <cs:styleClr val="auto"/>
    </cs:effectRef>
    <cs:fontRef idx="minor">
      <a:schemeClr val="dk1"/>
    </cs:fontRef>
    <cs:spPr>
      <a:ln w="9525" cap="flat" cmpd="sng" algn="ctr">
        <a:solidFill>
          <a:schemeClr val="phClr"/>
        </a:solidFill>
        <a:miter lim="800000"/>
      </a:ln>
      <a:effectLst>
        <a:glow rad="63500">
          <a:schemeClr val="phClr">
            <a:satMod val="175000"/>
            <a:alpha val="25000"/>
          </a:schemeClr>
        </a:glow>
      </a:effectLst>
    </cs:spPr>
  </cs:dataPoint3D>
  <cs:dataPointLine>
    <cs:lnRef idx="0">
      <cs:styleClr val="auto"/>
    </cs:lnRef>
    <cs:fillRef idx="0">
      <cs:styleClr val="auto"/>
    </cs:fillRef>
    <cs:effectRef idx="0">
      <cs:styleClr val="auto"/>
    </cs:effectRef>
    <cs:fontRef idx="minor">
      <a:schemeClr val="dk1"/>
    </cs:fontRef>
    <cs:spPr>
      <a:ln w="22225" cap="rnd">
        <a:solidFill>
          <a:schemeClr val="phClr"/>
        </a:solidFill>
      </a:ln>
      <a:effectLst>
        <a:glow rad="139700">
          <a:schemeClr val="phClr">
            <a:satMod val="175000"/>
            <a:alpha val="14000"/>
          </a:schemeClr>
        </a:glow>
      </a:effectLst>
    </cs:spPr>
  </cs:dataPointLine>
  <cs:dataPointMarker>
    <cs:lnRef idx="0">
      <cs:styleClr val="auto"/>
    </cs:lnRef>
    <cs:fillRef idx="0">
      <cs:styleClr val="auto"/>
    </cs:fillRef>
    <cs:effectRef idx="0">
      <cs:styleClr val="auto"/>
    </cs:effectRef>
    <cs:fontRef idx="minor">
      <a:schemeClr val="dk1"/>
    </cs:fontRef>
    <cs:spPr>
      <a:solidFill>
        <a:schemeClr val="phClr">
          <a:lumMod val="60000"/>
          <a:lumOff val="40000"/>
        </a:schemeClr>
      </a:solidFill>
      <a:effectLst>
        <a:glow rad="63500">
          <a:schemeClr val="phClr">
            <a:satMod val="175000"/>
            <a:alpha val="25000"/>
          </a:schemeClr>
        </a:glow>
      </a:effectLst>
    </cs:spPr>
  </cs:dataPointMarker>
  <cs:dataPointMarkerLayout symbol="circle" size="4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75000"/>
      </a:schemeClr>
    </cs:fontRef>
    <cs:spPr>
      <a:ln w="9525">
        <a:solidFill>
          <a:schemeClr val="dk1">
            <a:lumMod val="50000"/>
            <a:lumOff val="50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75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75000"/>
                <a:lumOff val="25000"/>
              </a:schemeClr>
            </a:gs>
            <a:gs pos="0">
              <a:schemeClr val="dk1">
                <a:lumMod val="65000"/>
                <a:lumOff val="3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75000"/>
                <a:lumOff val="25000"/>
                <a:alpha val="25000"/>
              </a:schemeClr>
            </a:gs>
            <a:gs pos="0">
              <a:schemeClr val="dk1">
                <a:lumMod val="65000"/>
                <a:lumOff val="35000"/>
                <a:alpha val="2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leaderLine>
  <cs:legend>
    <cs:lnRef idx="0"/>
    <cs:fillRef idx="0"/>
    <cs:effectRef idx="0"/>
    <cs:fontRef idx="minor">
      <a:schemeClr val="lt1">
        <a:lumMod val="7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lt1">
        <a:lumMod val="7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lt1">
            <a:lumMod val="50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85000"/>
      </a:schemeClr>
    </cs:fontRef>
    <cs:defRPr sz="1862" b="1" kern="1200" cap="none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25400" cap="rnd">
        <a:solidFill>
          <a:schemeClr val="phClr">
            <a:alpha val="50000"/>
          </a:schemeClr>
        </a:solidFill>
      </a:ln>
    </cs:spPr>
  </cs:trendline>
  <cs:trendlineLabel>
    <cs:lnRef idx="0"/>
    <cs:fillRef idx="0"/>
    <cs:effectRef idx="0"/>
    <cs:fontRef idx="minor">
      <a:schemeClr val="lt1">
        <a:lumMod val="7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85000"/>
        </a:schemeClr>
      </a:solidFill>
      <a:ln w="9525">
        <a:solidFill>
          <a:schemeClr val="dk1">
            <a:lumMod val="50000"/>
          </a:schemeClr>
        </a:solidFill>
        <a:round/>
      </a:ln>
    </cs:spPr>
  </cs:upBar>
  <cs:valueAxis>
    <cs:lnRef idx="0"/>
    <cs:fillRef idx="0"/>
    <cs:effectRef idx="0"/>
    <cs:fontRef idx="minor">
      <a:schemeClr val="lt1">
        <a:lumMod val="7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0988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7.xml"/><Relationship Id="rId4" Type="http://schemas.openxmlformats.org/officeDocument/2006/relationships/chart" Target="../charts/char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1">
            <a:extLst>
              <a:ext uri="{FF2B5EF4-FFF2-40B4-BE49-F238E27FC236}">
                <a16:creationId xmlns:a16="http://schemas.microsoft.com/office/drawing/2014/main" id="{905862D7-4154-0E1A-B4FD-BB5650B25CD9}"/>
              </a:ext>
            </a:extLst>
          </p:cNvPr>
          <p:cNvSpPr/>
          <p:nvPr/>
        </p:nvSpPr>
        <p:spPr>
          <a:xfrm>
            <a:off x="4061456" y="738378"/>
            <a:ext cx="2865900" cy="278434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0" y="-699516"/>
            <a:ext cx="3110537" cy="3127248"/>
          </a:xfrm>
          <a:prstGeom prst="ellipse">
            <a:avLst/>
          </a:prstGeom>
          <a:solidFill>
            <a:schemeClr val="tx1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1843" y="4300687"/>
            <a:ext cx="8979408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20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NAVTTC  ·  Data Analytics Using Python</a:t>
            </a: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65760" y="77724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</a:t>
            </a:r>
            <a:endParaRPr lang="en-US" sz="5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65760" y="3070653"/>
            <a:ext cx="369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—  Understanding Data Before You 		</a:t>
            </a:r>
            <a:r>
              <a:rPr lang="en-US" sz="1600" i="1" dirty="0" err="1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3916162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91616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Data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03120" y="3908275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03120" y="391616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Tendency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840480" y="3908275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0" y="391616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&amp; Variability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577840" y="3908275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391616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Distribution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15200" y="3916162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83929" y="3908275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Skewness</a:t>
            </a:r>
            <a:endParaRPr lang="en-US" sz="95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B287178-7B5E-7CA2-3137-B6F5AACC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96"/>
          <a:stretch>
            <a:fillRect/>
          </a:stretch>
        </p:blipFill>
        <p:spPr>
          <a:xfrm>
            <a:off x="7283929" y="-118242"/>
            <a:ext cx="2088343" cy="1880873"/>
          </a:xfrm>
          <a:prstGeom prst="rect">
            <a:avLst/>
          </a:prstGeom>
          <a:effectLst>
            <a:softEdge rad="0"/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FC4D04-C4D3-948F-371D-4AD387A49B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899600"/>
            <a:ext cx="2426001" cy="2392240"/>
          </a:xfrm>
          <a:prstGeom prst="rect">
            <a:avLst/>
          </a:prstGeom>
        </p:spPr>
      </p:pic>
      <p:sp>
        <p:nvSpPr>
          <p:cNvPr id="25" name="Text 6">
            <a:extLst>
              <a:ext uri="{FF2B5EF4-FFF2-40B4-BE49-F238E27FC236}">
                <a16:creationId xmlns:a16="http://schemas.microsoft.com/office/drawing/2014/main" id="{A46C4A26-44C8-D736-5226-087767789A99}"/>
              </a:ext>
            </a:extLst>
          </p:cNvPr>
          <p:cNvSpPr/>
          <p:nvPr/>
        </p:nvSpPr>
        <p:spPr>
          <a:xfrm>
            <a:off x="428822" y="4456135"/>
            <a:ext cx="369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Muhammad Kamil</a:t>
            </a:r>
          </a:p>
          <a:p>
            <a:pPr marL="0" indent="0">
              <a:buNone/>
            </a:pPr>
            <a:r>
              <a:rPr lang="en-US" sz="16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DIP LAB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524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STATISTICS — AND WHY DO YOU NEED IT?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68680"/>
            <a:ext cx="5029200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868680"/>
            <a:ext cx="4937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is the science of collecting, organising, analysing, and interpreting data to make better decisions.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74320" y="182880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Supermarket Analogy 🛒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224028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supermarket tracks 10,000 daily sales receipts.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brain can read 10,000 receipts.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compresses those 10,000 numbers into 3 facts: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Average spend per customer: Rs. 850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Most bought item: Bread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Biggest revenue day: Friday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compression IS statistics.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745480" y="960120"/>
            <a:ext cx="33832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15000" y="960120"/>
            <a:ext cx="91440" cy="11155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00928" y="10332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Describe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00928" y="1362456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what happened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data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745480" y="2258568"/>
            <a:ext cx="33832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15000" y="2258568"/>
            <a:ext cx="91440" cy="11155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00928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Infer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00928" y="2660904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conclusions about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group from a sample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45480" y="3557016"/>
            <a:ext cx="33832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15000" y="3557016"/>
            <a:ext cx="91440" cy="11155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00928" y="36301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00928" y="3959352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past data to forecast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outcomes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189C2A2-161D-0DF8-C3BB-6534E30C5A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2967229"/>
            <a:ext cx="3233928" cy="18179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BRANCHES OF STATISTICS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0" y="777240"/>
            <a:ext cx="0" cy="4114800"/>
          </a:xfrm>
          <a:prstGeom prst="line">
            <a:avLst/>
          </a:prstGeom>
          <a:noFill/>
          <a:ln w="19050">
            <a:solidFill>
              <a:srgbClr val="E2E8F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28600" y="804672"/>
            <a:ext cx="411480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804672"/>
            <a:ext cx="4114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DESCRIPTIVE STATISTICS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" y="1286846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&amp; summarises data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" y="1983864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19472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Mean, median, mode of exam scores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" y="2330645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229122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deviation of sales data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4802" y="2656449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624635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chart of monthly revenue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6032" y="2925003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5" y="29085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of customers over 30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" y="4224528"/>
            <a:ext cx="3840480" cy="384048"/>
          </a:xfrm>
          <a:prstGeom prst="roundRect">
            <a:avLst/>
          </a:prstGeom>
          <a:solidFill>
            <a:srgbClr val="E0FDF4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024" y="4209083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You will use this EVERY day as an analyst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00600" y="804672"/>
            <a:ext cx="4114800" cy="475488"/>
          </a:xfrm>
          <a:prstGeom prst="rect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804672"/>
            <a:ext cx="4114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INFERENTIAL STATISTICS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13716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conclusions about 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group from a small sample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28032" y="2029968"/>
            <a:ext cx="201168" cy="201168"/>
          </a:xfrm>
          <a:prstGeom prst="ellipse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02352" y="19933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drug effective for all patients?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28032" y="2333244"/>
            <a:ext cx="201168" cy="201168"/>
          </a:xfrm>
          <a:prstGeom prst="ellipse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02352" y="22966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next month's sales exceed target?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28032" y="2621280"/>
            <a:ext cx="201168" cy="201168"/>
          </a:xfrm>
          <a:prstGeom prst="ellipse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11497" y="259156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marketing affect purchase rate?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37760" y="4224528"/>
            <a:ext cx="3840480" cy="38404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422452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Covered in coming sections — Hypothesis Testing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2C7849FB-DE40-0C96-A3A5-57FCBFE5C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7463" y="2203320"/>
            <a:ext cx="1927377" cy="1857450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39" name="Shape 26">
            <a:extLst>
              <a:ext uri="{FF2B5EF4-FFF2-40B4-BE49-F238E27FC236}">
                <a16:creationId xmlns:a16="http://schemas.microsoft.com/office/drawing/2014/main" id="{331669F8-B303-8048-3F81-DAF79617863E}"/>
              </a:ext>
            </a:extLst>
          </p:cNvPr>
          <p:cNvSpPr/>
          <p:nvPr/>
        </p:nvSpPr>
        <p:spPr>
          <a:xfrm>
            <a:off x="4831080" y="2923032"/>
            <a:ext cx="201168" cy="201168"/>
          </a:xfrm>
          <a:prstGeom prst="ellipse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40" name="Text 27">
            <a:extLst>
              <a:ext uri="{FF2B5EF4-FFF2-40B4-BE49-F238E27FC236}">
                <a16:creationId xmlns:a16="http://schemas.microsoft.com/office/drawing/2014/main" id="{FA547B48-8A94-5019-FD58-03C98A6C7447}"/>
              </a:ext>
            </a:extLst>
          </p:cNvPr>
          <p:cNvSpPr/>
          <p:nvPr/>
        </p:nvSpPr>
        <p:spPr>
          <a:xfrm>
            <a:off x="5102352" y="28620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test: which ad performs better?</a:t>
            </a:r>
            <a:endParaRPr lang="en-US" sz="110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EE8FC37-9FD3-ED2C-4B98-4220CAF4A09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400" t="21414" b="23921"/>
          <a:stretch>
            <a:fillRect/>
          </a:stretch>
        </p:blipFill>
        <p:spPr>
          <a:xfrm>
            <a:off x="7307517" y="2020874"/>
            <a:ext cx="1836483" cy="19993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DATA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2004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analysis, always ask: what kind of data am I looking at?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01168" y="1078992"/>
            <a:ext cx="425196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1168" y="1078992"/>
            <a:ext cx="4251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7899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NUMERICAL (Quantitative)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92608" y="14996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that mean something mathematically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92608" y="179222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25, 30, 45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Salary: Rs. 45,000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Temperature: 37°C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Score: 78/100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92608" y="2542032"/>
            <a:ext cx="4069080" cy="274320"/>
          </a:xfrm>
          <a:prstGeom prst="rect">
            <a:avLst/>
          </a:prstGeom>
          <a:solidFill>
            <a:srgbClr val="1A3A6E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" y="25420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You CAN calculate average, sum, std dev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681728" y="1078992"/>
            <a:ext cx="425196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1728" y="1078992"/>
            <a:ext cx="425196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07899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CATEGORICAL (Qualitative)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73168" y="14996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Labels, groups, names — no math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73168" y="1792224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City: Karachi, Lahore, Islamabad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Gender: Male / Female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Pass / Fail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Group: A, B, O, AB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73168" y="2542032"/>
            <a:ext cx="4069080" cy="274320"/>
          </a:xfrm>
          <a:prstGeom prst="rect">
            <a:avLst/>
          </a:prstGeom>
          <a:solidFill>
            <a:srgbClr val="1A3A6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5420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You CANNOT average categories — average of Karachi + Lahore = ???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01168" y="3072384"/>
            <a:ext cx="425196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01168" y="3072384"/>
            <a:ext cx="4251960" cy="3840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307238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📶  ORDINAL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92608" y="34930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with a clear ORDER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92608" y="3785616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Rating: 1★ 2★ 3★ 4★ 5★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Education: Matric → F.Sc → BS → MS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Small → Medium → Large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Satisfaction: Poor / OK / Good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2608" y="4535424"/>
            <a:ext cx="4069080" cy="274320"/>
          </a:xfrm>
          <a:prstGeom prst="rect">
            <a:avLst/>
          </a:prstGeom>
          <a:solidFill>
            <a:srgbClr val="1A3A6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" y="453542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Order matters but gaps between ranks are NOT equal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81728" y="3072384"/>
            <a:ext cx="425196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81728" y="3072384"/>
            <a:ext cx="425196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307238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 DISCRETE vs CONTINUOUS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73168" y="34930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sub-types of Numerical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73168" y="3785616"/>
            <a:ext cx="4069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count of students (1,2,3…)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can't have 2.5 students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Continuous: height, weight, time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can be 1.75m, 68.3kg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73168" y="4535424"/>
            <a:ext cx="4069080" cy="274320"/>
          </a:xfrm>
          <a:prstGeom prst="rect">
            <a:avLst/>
          </a:prstGeom>
          <a:solidFill>
            <a:srgbClr val="1A3A6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3168" y="453542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Different charts and tests apply to each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CENTRAL TENDENCY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804672"/>
            <a:ext cx="8686800" cy="566928"/>
          </a:xfrm>
          <a:prstGeom prst="rect">
            <a:avLst/>
          </a:prstGeom>
          <a:solidFill>
            <a:srgbClr val="E0FDF4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804672"/>
            <a:ext cx="8686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Tendency answers one question:  </a:t>
            </a:r>
            <a:r>
              <a:rPr lang="en-US" sz="13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TYPICAL value in my data?"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28600" y="150876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Scenario: 7 Students' Exam Scores (out of 100)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6032" y="1874520"/>
            <a:ext cx="10789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6032" y="1874520"/>
            <a:ext cx="10789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63040" y="1874520"/>
            <a:ext cx="10789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463040" y="1874520"/>
            <a:ext cx="10789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670048" y="1874520"/>
            <a:ext cx="10789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670048" y="1874520"/>
            <a:ext cx="10789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877056" y="1874520"/>
            <a:ext cx="1078992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77056" y="1874520"/>
            <a:ext cx="10789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77056" y="2587752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Median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84064" y="1874520"/>
            <a:ext cx="10789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84064" y="1874520"/>
            <a:ext cx="10789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91072" y="1874520"/>
            <a:ext cx="10789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291072" y="1874520"/>
            <a:ext cx="10789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498080" y="1874520"/>
            <a:ext cx="1078992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0" y="1874520"/>
            <a:ext cx="10789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" y="288950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= 497  ÷  7  =  71.0  (Mean)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28600" y="3273552"/>
            <a:ext cx="2788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28600" y="3273552"/>
            <a:ext cx="278892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" y="3273552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÷ Count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28600" y="391363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71.0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01752" y="43342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Pulled by extreme values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172968" y="3273552"/>
            <a:ext cx="2788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172968" y="3273552"/>
            <a:ext cx="27889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72968" y="3273552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264408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value (sorted)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172968" y="391363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246120" y="43342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Not affected by extremes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117336" y="3273552"/>
            <a:ext cx="2788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117336" y="3273552"/>
            <a:ext cx="2788920" cy="32918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17336" y="3273552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208776" y="36576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frequent value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17336" y="391363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here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(all unique)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190488" y="43342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Great for categories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vs MEDIAN — When Each One Lies to You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2004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decision in descriptive statistics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01168" y="932688"/>
            <a:ext cx="4224528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" y="932688"/>
            <a:ext cx="4224528" cy="40233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" y="932688"/>
            <a:ext cx="42245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WHEN MEAN MISLEADS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92608" y="1417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employees' monthly salaries (PKR):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" y="1737360"/>
            <a:ext cx="4023360" cy="32004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1737360"/>
            <a:ext cx="40233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 35,000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2608" y="2121408"/>
            <a:ext cx="4023360" cy="32004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2121408"/>
            <a:ext cx="40233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 38,000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2608" y="2505456"/>
            <a:ext cx="4023360" cy="32004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2505456"/>
            <a:ext cx="40233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 40,000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2608" y="2889504"/>
            <a:ext cx="4023360" cy="32004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2889504"/>
            <a:ext cx="40233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 42,000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2608" y="3273552"/>
            <a:ext cx="4023360" cy="320040"/>
          </a:xfrm>
          <a:prstGeom prst="rect">
            <a:avLst/>
          </a:prstGeom>
          <a:solidFill>
            <a:srgbClr val="7F1D1D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" y="3273552"/>
            <a:ext cx="40233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 3,00,000 ← CEO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2608" y="3694176"/>
            <a:ext cx="4023360" cy="384048"/>
          </a:xfrm>
          <a:prstGeom prst="rect">
            <a:avLst/>
          </a:prstGeom>
          <a:solidFill>
            <a:srgbClr val="7F1D1D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2608" y="3694176"/>
            <a:ext cx="4023360" cy="38404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Rs. 91,000  →  NOBODY earns near this!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= Rs. 40,000  →  MUCH more honest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92608" y="41330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Rule: Use MEDIAN when data has extreme outliers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(income, house prices, viral posts)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932688"/>
            <a:ext cx="4224528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932688"/>
            <a:ext cx="4224528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932688"/>
            <a:ext cx="42245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WHEN MEAN IS PERFECT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54880" y="1417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students' exam scores: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1737360"/>
            <a:ext cx="4023360" cy="292608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1737360"/>
            <a:ext cx="4023360" cy="2926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084832"/>
            <a:ext cx="4023360" cy="292608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2084832"/>
            <a:ext cx="4023360" cy="2926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2432304"/>
            <a:ext cx="4023360" cy="292608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2432304"/>
            <a:ext cx="4023360" cy="2926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2779776"/>
            <a:ext cx="4023360" cy="292608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2779776"/>
            <a:ext cx="4023360" cy="2926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3127248"/>
            <a:ext cx="4023360" cy="292608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3127248"/>
            <a:ext cx="4023360" cy="2926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3474720"/>
            <a:ext cx="4023360" cy="292608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3474720"/>
            <a:ext cx="4023360" cy="2926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54880" y="3822192"/>
            <a:ext cx="4023360" cy="292608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3822192"/>
            <a:ext cx="4023360" cy="2926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54880" y="4133088"/>
            <a:ext cx="4023360" cy="384048"/>
          </a:xfrm>
          <a:prstGeom prst="rect">
            <a:avLst/>
          </a:prstGeom>
          <a:solidFill>
            <a:srgbClr val="14532D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4133088"/>
            <a:ext cx="4023360" cy="38404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71.4  Median = 72  → Both tell same story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outliers → Mean is reliable ✅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CHART: MEAN vs MEDIAN WITH AN OUTLIER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228600" y="777240"/>
          <a:ext cx="530352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384048" y="2084832"/>
            <a:ext cx="5138928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40233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91k →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84048" y="3063240"/>
            <a:ext cx="5138928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3749040" y="2816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= 40k →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0" y="804672"/>
            <a:ext cx="3154680" cy="1115568"/>
          </a:xfrm>
          <a:prstGeom prst="rect">
            <a:avLst/>
          </a:prstGeom>
          <a:solidFill>
            <a:srgbClr val="FFF1F2"/>
          </a:solidFill>
          <a:ln w="12700">
            <a:solidFill>
              <a:srgbClr val="F43F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852160" y="8412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The Problem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852160" y="1133856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 (CEO) earns Rs. 300,000 — 7× more than others.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number drags the mean to Rs. 91,000.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760720" y="2029968"/>
            <a:ext cx="3154680" cy="100584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852160" y="20665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The Solution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852160" y="235915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= Rs. 40,000 — ignores the outlier.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a typical employee actually earns.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0" y="3145536"/>
            <a:ext cx="3154680" cy="1371600"/>
          </a:xfrm>
          <a:prstGeom prst="rect">
            <a:avLst/>
          </a:prstGeom>
          <a:solidFill>
            <a:srgbClr val="F0F9F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852160" y="31821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Examples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Median wins: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852160" y="3657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House prices in a city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852160" y="39319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Household incomes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SPREAD — How Scattered Is the Data?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804672"/>
            <a:ext cx="8686800" cy="621792"/>
          </a:xfrm>
          <a:prstGeom prst="rect">
            <a:avLst/>
          </a:prstGeom>
          <a:solidFill>
            <a:srgbClr val="FEF9C3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804672"/>
            <a:ext cx="8686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both have Mean = 70.  </a:t>
            </a: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the same?  </a:t>
            </a: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No! You need SPREAD to know the full story.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153619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 — Mean: 70  (All students similar)</a:t>
            </a:r>
            <a:endParaRPr lang="en-US" sz="10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228600" y="1828800"/>
          <a:ext cx="41605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913632"/>
            <a:ext cx="4160520" cy="411480"/>
          </a:xfrm>
          <a:prstGeom prst="roundRect">
            <a:avLst/>
          </a:prstGeom>
          <a:solidFill>
            <a:srgbClr val="E0FDF4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8600" y="3913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 ≈ 1.0  →  Very consistent class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09160" y="15361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 — Mean: 70  (Very mixed performance)</a:t>
            </a:r>
            <a:endParaRPr lang="en-US" sz="1050" dirty="0"/>
          </a:p>
        </p:txBody>
      </p:sp>
      <p:graphicFrame>
        <p:nvGraphicFramePr>
          <p:cNvPr id="12" name="Chart 1"/>
          <p:cNvGraphicFramePr/>
          <p:nvPr/>
        </p:nvGraphicFramePr>
        <p:xfrm>
          <a:off x="4709160" y="1828800"/>
          <a:ext cx="420624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Shape 9"/>
          <p:cNvSpPr/>
          <p:nvPr/>
        </p:nvSpPr>
        <p:spPr>
          <a:xfrm>
            <a:off x="4709160" y="3913632"/>
            <a:ext cx="4206240" cy="41148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709160" y="391363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Dev ≈ 23.0  →  Highly inconsistent class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· VARIANCE · STANDARD DEVIATION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2004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measure how spread out your data is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28600" y="960120"/>
            <a:ext cx="86868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960120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Zara's 6 monthly sales (units sold) → 10, 14, 20, 24, 28, 32   |   Mean = 21.3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1168" y="1444752"/>
            <a:ext cx="2834640" cy="3429000"/>
          </a:xfrm>
          <a:prstGeom prst="rect">
            <a:avLst/>
          </a:prstGeom>
          <a:solidFill>
            <a:srgbClr val="1E3A5F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1444752"/>
            <a:ext cx="2834640" cy="3840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" y="1444752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RANGE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8836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− Min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2608" y="2194560"/>
            <a:ext cx="2651760" cy="27432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32 − 10 = 22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2608" y="254203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distance from lowest to highest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608" y="294436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Very easy to calculate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2608" y="32004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Breaks with just ONE outlier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2608" y="3493008"/>
            <a:ext cx="2651760" cy="45720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" y="3493008"/>
            <a:ext cx="265176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If Zara sold 300 units one month (special event),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= 290 — misleading!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82112" y="1444752"/>
            <a:ext cx="2834640" cy="34290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82112" y="1444752"/>
            <a:ext cx="283464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82112" y="1444752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VARIANCE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73552" y="18836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of squared differences from mean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73552" y="2194560"/>
            <a:ext cx="2651760" cy="27432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73552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Σ(x − x̄)²  ÷  n  ≈  52.6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73552" y="254203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each point is from the mean, on average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73552" y="294436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Uses ALL data points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73552" y="32004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Units are squared (sales² — meaningless!)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73552" y="3493008"/>
            <a:ext cx="2651760" cy="45720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73552" y="3493008"/>
            <a:ext cx="265176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Variance of 52.6 units² — hard to interpret in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language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163056" y="1444752"/>
            <a:ext cx="2834640" cy="3429000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63056" y="1444752"/>
            <a:ext cx="283464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63056" y="1444752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STD DEVIATION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54496" y="18836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√Variance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54496" y="2194560"/>
            <a:ext cx="2651760" cy="27432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54496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√52.6  ≈  7.25 units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54496" y="254203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distance from the mean — same units as data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54496" y="294436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Interpretable, same unit as original data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54496" y="32004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Slightly complex to calculate manually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54496" y="3493008"/>
            <a:ext cx="2651760" cy="45720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54496" y="3493008"/>
            <a:ext cx="265176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"Sales typically vary by ±7 units from the average"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manager understands this!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— INTERQUARTILE RANGE &amp; QUARTILES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804672"/>
            <a:ext cx="8686800" cy="512064"/>
          </a:xfrm>
          <a:prstGeom prst="rect">
            <a:avLst/>
          </a:prstGeom>
          <a:solidFill>
            <a:srgbClr val="F3E8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804672"/>
            <a:ext cx="8686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= Q3 − Q1  →  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spread of the MIDDLE 50% of your data. Resistant to outliers.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28600" y="14264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data: 10, 14, 18, 22, 26, 30, 34, 38, 42, 50, 95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084832"/>
            <a:ext cx="822960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" y="1975104"/>
            <a:ext cx="201168" cy="201168"/>
          </a:xfrm>
          <a:prstGeom prst="ellipse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-201168" y="22128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76272" y="1975104"/>
            <a:ext cx="201168" cy="20116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22128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87952" y="1975104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22192" y="22128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1975104"/>
            <a:ext cx="201168" cy="20116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3872" y="22128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211312" y="1975104"/>
            <a:ext cx="201168" cy="201168"/>
          </a:xfrm>
          <a:prstGeom prst="ellipse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45552" y="22128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176272" y="1627632"/>
            <a:ext cx="4206240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76272" y="162763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IQR = Q3 − Q1 = 42 − 18 = 24 →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56032" y="2834640"/>
            <a:ext cx="2029968" cy="9144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56032" y="2834640"/>
            <a:ext cx="2029968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2834640"/>
            <a:ext cx="2029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Q0→Q1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(0%–25%)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6032" y="3145536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quarter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values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432304" y="2834640"/>
            <a:ext cx="2029968" cy="914400"/>
          </a:xfrm>
          <a:prstGeom prst="rect">
            <a:avLst/>
          </a:prstGeom>
          <a:solidFill>
            <a:srgbClr val="FAFAFA"/>
          </a:solidFill>
          <a:ln w="12700">
            <a:solidFill>
              <a:srgbClr val="D8B4F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432304" y="2834640"/>
            <a:ext cx="2029968" cy="274320"/>
          </a:xfrm>
          <a:prstGeom prst="rect">
            <a:avLst/>
          </a:prstGeom>
          <a:solidFill>
            <a:srgbClr val="D8B4FE"/>
          </a:solidFill>
          <a:ln w="12700">
            <a:solidFill>
              <a:srgbClr val="D8B4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32304" y="2834640"/>
            <a:ext cx="2029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Q1→Q2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(25%–50%)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432304" y="3145536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Lower-middle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08576" y="2834640"/>
            <a:ext cx="2029968" cy="914400"/>
          </a:xfrm>
          <a:prstGeom prst="rect">
            <a:avLst/>
          </a:prstGeom>
          <a:solidFill>
            <a:srgbClr val="FAFAFA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08576" y="2834640"/>
            <a:ext cx="2029968" cy="2743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08576" y="2834640"/>
            <a:ext cx="2029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Q2→Q3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(50%–75%)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08576" y="3145536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Upper-middle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84848" y="2834640"/>
            <a:ext cx="2029968" cy="91440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784848" y="2834640"/>
            <a:ext cx="2029968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84848" y="2834640"/>
            <a:ext cx="20299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Q3→Q4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(75%–100%)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784848" y="3145536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quarter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values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3858768"/>
            <a:ext cx="8686800" cy="914400"/>
          </a:xfrm>
          <a:prstGeom prst="rect">
            <a:avLst/>
          </a:prstGeom>
          <a:solidFill>
            <a:srgbClr val="F0F9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8953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IQR matters for Data Analysts: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65760" y="416966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Outlier Detection: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value below Q1 − 1.5×IQR  or above Q3 + 1.5×IQR is flagged as an outlier
</a:t>
            </a:r>
            <a:r>
              <a:rPr lang="en-US" sz="10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Box Plots: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IQR is the box in a box plot — you will draw these in Seaborn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NORMAL DISTRIBUTION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2004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called the Bell Curve — the most important shape in statistics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700307210"/>
              </p:ext>
            </p:extLst>
          </p:nvPr>
        </p:nvGraphicFramePr>
        <p:xfrm>
          <a:off x="228600" y="896112"/>
          <a:ext cx="530352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228600" y="4059936"/>
            <a:ext cx="5303520" cy="347472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28600" y="4059936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−3σ    −2σ    −1σ     μ (Mean)     +1σ    +2σ    +3σ →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87568" y="8961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68–95–99.7 Rule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(Empirical Rule)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87568" y="1481328"/>
            <a:ext cx="3246120" cy="73152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42432" y="15270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565392" y="15544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data falls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1σ of mean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687568" y="2304288"/>
            <a:ext cx="3246120" cy="73152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742432" y="23500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565392" y="23774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data falls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2σ of mean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87568" y="3127248"/>
            <a:ext cx="3246120" cy="731520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742432" y="317296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565392" y="32004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data falls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3σ of mean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87568" y="3931920"/>
            <a:ext cx="324612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56148" y="3950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examples of Normal Distribution: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728716" y="41879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Exam scores in a large class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760720" y="44348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Heights of adults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760720" y="46451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Product weights in manufacturing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760720" y="49743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🌡️ Body temperatures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228600" y="4462272"/>
            <a:ext cx="5303520" cy="347472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28600" y="4462272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In a Normal Distribution →  Mean = Median = Mode  |  Perfectly symmetric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EMPIRICAL RULE — Applied to Real Data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804672"/>
            <a:ext cx="8686800" cy="512064"/>
          </a:xfrm>
          <a:prstGeom prst="rect">
            <a:avLst/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804672"/>
            <a:ext cx="8686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NAVTTC exam scores are Normally distributed.  Mean (μ) = 70  ·  Std Dev (σ) = 10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2304288"/>
            <a:ext cx="8595360" cy="0"/>
          </a:xfrm>
          <a:prstGeom prst="line">
            <a:avLst/>
          </a:prstGeom>
          <a:noFill/>
          <a:ln w="25400">
            <a:solidFill>
              <a:srgbClr val="0F20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7744" y="2212848"/>
            <a:ext cx="73152" cy="1828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-228600" y="24231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(μ−3σ)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73352" y="2212848"/>
            <a:ext cx="73152" cy="1828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24231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(μ−2σ)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108960" y="2212848"/>
            <a:ext cx="73152" cy="1828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42616" y="24231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(μ−1σ)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35424" y="2212848"/>
            <a:ext cx="73152" cy="1828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69080" y="24231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(μ)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971032" y="2212848"/>
            <a:ext cx="73152" cy="1828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04688" y="24231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(μ+1σ)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97496" y="2212848"/>
            <a:ext cx="73152" cy="1828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31152" y="24231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(μ+2σ)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833104" y="2212848"/>
            <a:ext cx="73152" cy="18288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66760" y="242316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(μ+3σ)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1389888"/>
            <a:ext cx="8595360" cy="27432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138988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  →  Score between 40 and 100  (virtually everyone)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709928" y="1700784"/>
            <a:ext cx="5724144" cy="274320"/>
          </a:xfrm>
          <a:prstGeom prst="rect">
            <a:avLst/>
          </a:prstGeom>
          <a:solidFill>
            <a:srgbClr val="BAE6FD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09928" y="1700784"/>
            <a:ext cx="5724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 →  Score between 50 and 90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145536" y="2011680"/>
            <a:ext cx="2862072" cy="274320"/>
          </a:xfrm>
          <a:prstGeom prst="rect">
            <a:avLst/>
          </a:prstGeom>
          <a:solidFill>
            <a:srgbClr val="38BDF8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5536" y="2011680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  →  Score between 60 and 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108960"/>
            <a:ext cx="283464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28600" y="3108960"/>
            <a:ext cx="283464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31089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0040" y="349300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Ahmed scored 85 — how rare is that?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0040" y="4005072"/>
            <a:ext cx="2651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40416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He's in the top 16% of students.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84% of the class.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00400" y="3124726"/>
            <a:ext cx="283464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0" y="3108960"/>
            <a:ext cx="2834640" cy="329184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0" y="31089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291840" y="349300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Fatima scored 45 — is that unusual?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91840" y="4005072"/>
            <a:ext cx="2651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1840" y="40416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Yes — below μ−2σ.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~2.5% score this low.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172200" y="3108960"/>
            <a:ext cx="283464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72200" y="3108960"/>
            <a:ext cx="283464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31089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263640" y="349300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students scored between...?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4005072"/>
            <a:ext cx="2651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63640" y="40416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Between 60 and 80.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 of all students land here.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SKEWNESS — When Data Is Not Symmetric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200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 is almost never perfectly normal — you need to recognise the shape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01168" y="896112"/>
            <a:ext cx="2834640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43F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01168" y="93268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SKEW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(Left-Skewed)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246888" y="1481328"/>
          <a:ext cx="274320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3127248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on the LEFT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&lt; Median &lt; Mode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74320" y="3593592"/>
            <a:ext cx="2688336" cy="0"/>
          </a:xfrm>
          <a:prstGeom prst="line">
            <a:avLst/>
          </a:prstGeom>
          <a:noFill/>
          <a:ln w="12700">
            <a:solidFill>
              <a:srgbClr val="1A3A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4320" y="3621024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Exam where most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score very high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74320" y="4114800"/>
            <a:ext cx="2688336" cy="36576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4320" y="4114800"/>
            <a:ext cx="2688336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Mean is pulled LEFT by the few low scorers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182112" y="896112"/>
            <a:ext cx="2834640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182112" y="93268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(Symmetric)</a:t>
            </a:r>
            <a:endParaRPr lang="en-US" sz="1050" dirty="0"/>
          </a:p>
        </p:txBody>
      </p:sp>
      <p:graphicFrame>
        <p:nvGraphicFramePr>
          <p:cNvPr id="14" name="Chart 1"/>
          <p:cNvGraphicFramePr/>
          <p:nvPr/>
        </p:nvGraphicFramePr>
        <p:xfrm>
          <a:off x="3227832" y="1481328"/>
          <a:ext cx="274320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 11"/>
          <p:cNvSpPr/>
          <p:nvPr/>
        </p:nvSpPr>
        <p:spPr>
          <a:xfrm>
            <a:off x="3255264" y="3127248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Median = Mode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255264" y="3593592"/>
            <a:ext cx="2688336" cy="0"/>
          </a:xfrm>
          <a:prstGeom prst="line">
            <a:avLst/>
          </a:prstGeom>
          <a:noFill/>
          <a:ln w="12700">
            <a:solidFill>
              <a:srgbClr val="1A3A6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255264" y="3621024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Typical heights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large population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3255264" y="4114800"/>
            <a:ext cx="2688336" cy="36576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255264" y="4114800"/>
            <a:ext cx="2688336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Mean and Median both describe the centre well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163056" y="896112"/>
            <a:ext cx="2834640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6163056" y="93268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SKEW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(Right-Skewed)</a:t>
            </a:r>
            <a:endParaRPr lang="en-US" sz="1050" dirty="0"/>
          </a:p>
        </p:txBody>
      </p:sp>
      <p:graphicFrame>
        <p:nvGraphicFramePr>
          <p:cNvPr id="22" name="Chart 2"/>
          <p:cNvGraphicFramePr/>
          <p:nvPr/>
        </p:nvGraphicFramePr>
        <p:xfrm>
          <a:off x="6208776" y="1481328"/>
          <a:ext cx="274320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3" name="Text 18"/>
          <p:cNvSpPr/>
          <p:nvPr/>
        </p:nvSpPr>
        <p:spPr>
          <a:xfrm>
            <a:off x="6236208" y="3127248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on the RIGHT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&lt; Median &lt; Mean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236208" y="3593592"/>
            <a:ext cx="2688336" cy="0"/>
          </a:xfrm>
          <a:prstGeom prst="line">
            <a:avLst/>
          </a:prstGeom>
          <a:noFill/>
          <a:ln w="12700">
            <a:solidFill>
              <a:srgbClr val="1A3A6E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236208" y="3621024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Income data —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earn low, few earn huge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6236208" y="4114800"/>
            <a:ext cx="2688336" cy="365760"/>
          </a:xfrm>
          <a:prstGeom prst="rect">
            <a:avLst/>
          </a:prstGeom>
          <a:solidFill>
            <a:srgbClr val="1A3A6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236208" y="4114800"/>
            <a:ext cx="2688336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Mean is pulled RIGHT by the very high earners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61772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SUMMARY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219456" cy="21945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7132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72237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Statistics is — Descriptive vs Inferential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1115568"/>
            <a:ext cx="219456" cy="21945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15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112471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Data — Numerical, Categorical, Ordinal, Discrete, Continuous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517904"/>
            <a:ext cx="219456" cy="21945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517904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15270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Tendency — Mean, Median, Mode and when each is correct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1920240"/>
            <a:ext cx="219456" cy="21945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9202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" y="19293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vs Median — how outliers distort the mean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322576"/>
            <a:ext cx="219456" cy="21945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322576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85800" y="23317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Spread — Range, Variance, Standard Deviation, IQR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724912"/>
            <a:ext cx="219456" cy="21945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273405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Normal Distribution — the bell curve and the 68–95–99.7 rule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127248"/>
            <a:ext cx="219456" cy="21945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1272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85800" y="313639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Skewness — Positive, Negative, and Symmetric distributions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0" y="548640"/>
            <a:ext cx="3154680" cy="384048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760720" y="548640"/>
            <a:ext cx="3154680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548640"/>
            <a:ext cx="3154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Coming Next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852160" y="102412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Z-scores — standard position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52160" y="14081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Sampling — population vs sample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52160" y="179222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Correlation — r coefficient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52160" y="217627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Hypothesis Testing intro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52160" y="25603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p-values explained simply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5852160" y="29443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— comparing two groups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5852160" y="332841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Chi-squared test for categories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5852160" y="371246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Intervals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7" name="Text 35"/>
          <p:cNvSpPr/>
          <p:nvPr/>
        </p:nvSpPr>
        <p:spPr>
          <a:xfrm>
            <a:off x="365760" y="4526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4901184"/>
            <a:ext cx="9144000" cy="242316"/>
          </a:xfrm>
          <a:prstGeom prst="rect">
            <a:avLst/>
          </a:prstGeom>
          <a:solidFill>
            <a:srgbClr val="1A3A6E"/>
          </a:solidFill>
          <a:ln w="12700">
            <a:solidFill>
              <a:srgbClr val="1A3A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82880" y="4901184"/>
            <a:ext cx="877824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for Data Analysis  ·  Part 1  ·  NAVTTC — Data Analytics Using Python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1844</Words>
  <Application>Microsoft Office PowerPoint</Application>
  <PresentationFormat>On-screen Show (16:9)</PresentationFormat>
  <Paragraphs>329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Statistics for Data Analysis — Part 1</dc:title>
  <dc:subject>PptxGenJS Presentation</dc:subject>
  <dc:creator>PptxGenJS</dc:creator>
  <cp:lastModifiedBy>kamil khan</cp:lastModifiedBy>
  <cp:revision>7</cp:revision>
  <dcterms:created xsi:type="dcterms:W3CDTF">2026-03-13T16:15:40Z</dcterms:created>
  <dcterms:modified xsi:type="dcterms:W3CDTF">2026-03-15T21:54:58Z</dcterms:modified>
</cp:coreProperties>
</file>