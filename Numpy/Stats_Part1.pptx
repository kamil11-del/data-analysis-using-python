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Salary (PKR '000)</c:v>
                </c:pt>
              </c:strCache>
            </c:strRef>
          </c:tx>
          <c:spPr>
            <a:solidFill>
              <a:srgbClr val="1A3A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18E-4EEC-B00D-D12374416BE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18E-4EEC-B00D-D12374416BE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18E-4EEC-B00D-D12374416BE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18E-4EEC-B00D-D12374416BE6}"/>
              </c:ext>
            </c:extLst>
          </c:dPt>
          <c:dPt>
            <c:idx val="4"/>
            <c:invertIfNegative val="0"/>
            <c:bubble3D val="0"/>
            <c:spPr>
              <a:solidFill>
                <a:srgbClr val="F43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18E-4EEC-B00D-D12374416BE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Ahmed</c:v>
                </c:pt>
                <c:pt idx="1">
                  <c:v>Bilal</c:v>
                </c:pt>
                <c:pt idx="2">
                  <c:v>Fatima</c:v>
                </c:pt>
                <c:pt idx="3">
                  <c:v>Sara</c:v>
                </c:pt>
                <c:pt idx="4">
                  <c:v>Hassan (CEO)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38</c:v>
                </c:pt>
                <c:pt idx="2">
                  <c:v>40</c:v>
                </c:pt>
                <c:pt idx="3">
                  <c:v>42</c:v>
                </c:pt>
                <c:pt idx="4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18E-4EEC-B00D-D12374416B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</c:v>
                </c:pt>
                <c:pt idx="1">
                  <c:v>69</c:v>
                </c:pt>
                <c:pt idx="2">
                  <c:v>70</c:v>
                </c:pt>
                <c:pt idx="3">
                  <c:v>71</c:v>
                </c:pt>
                <c:pt idx="4">
                  <c:v>71</c:v>
                </c:pt>
                <c:pt idx="5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9A-465C-884D-8580E8B705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50</c:v>
                </c:pt>
                <c:pt idx="2">
                  <c:v>70</c:v>
                </c:pt>
                <c:pt idx="3">
                  <c:v>85</c:v>
                </c:pt>
                <c:pt idx="4">
                  <c:v>90</c:v>
                </c:pt>
                <c:pt idx="5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27-4996-B778-FF6209875E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ln w="508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-3σ</c:v>
                </c:pt>
                <c:pt idx="1">
                  <c:v>-2.5σ</c:v>
                </c:pt>
                <c:pt idx="2">
                  <c:v>-2σ</c:v>
                </c:pt>
                <c:pt idx="3">
                  <c:v>-1.5σ</c:v>
                </c:pt>
                <c:pt idx="4">
                  <c:v>-1σ</c:v>
                </c:pt>
                <c:pt idx="5">
                  <c:v>-0.5σ</c:v>
                </c:pt>
                <c:pt idx="6">
                  <c:v>μ</c:v>
                </c:pt>
                <c:pt idx="7">
                  <c:v>0.5σ</c:v>
                </c:pt>
                <c:pt idx="8">
                  <c:v>1σ</c:v>
                </c:pt>
                <c:pt idx="9">
                  <c:v>1.5σ</c:v>
                </c:pt>
                <c:pt idx="10">
                  <c:v>2σ</c:v>
                </c:pt>
                <c:pt idx="11">
                  <c:v>2.5σ</c:v>
                </c:pt>
                <c:pt idx="12">
                  <c:v>3σ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0.02</c:v>
                </c:pt>
                <c:pt idx="1">
                  <c:v>0.08</c:v>
                </c:pt>
                <c:pt idx="2">
                  <c:v>0.27</c:v>
                </c:pt>
                <c:pt idx="3">
                  <c:v>0.65</c:v>
                </c:pt>
                <c:pt idx="4">
                  <c:v>1.2</c:v>
                </c:pt>
                <c:pt idx="5">
                  <c:v>1.76</c:v>
                </c:pt>
                <c:pt idx="6">
                  <c:v>2</c:v>
                </c:pt>
                <c:pt idx="7">
                  <c:v>1.76</c:v>
                </c:pt>
                <c:pt idx="8">
                  <c:v>1.2</c:v>
                </c:pt>
                <c:pt idx="9">
                  <c:v>0.65</c:v>
                </c:pt>
                <c:pt idx="10">
                  <c:v>0.27</c:v>
                </c:pt>
                <c:pt idx="11">
                  <c:v>0.08</c:v>
                </c:pt>
                <c:pt idx="12">
                  <c:v>0.02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C43-4518-BB02-2E54966A48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A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3A6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&lt;50</c:v>
                </c:pt>
                <c:pt idx="1">
                  <c:v>50-60</c:v>
                </c:pt>
                <c:pt idx="2">
                  <c:v>60-70</c:v>
                </c:pt>
                <c:pt idx="3">
                  <c:v>70-80</c:v>
                </c:pt>
                <c:pt idx="4">
                  <c:v>80-90</c:v>
                </c:pt>
                <c:pt idx="5">
                  <c:v>90-100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12</c:v>
                </c:pt>
                <c:pt idx="4">
                  <c:v>28</c:v>
                </c:pt>
                <c:pt idx="5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69-4E2B-AEAB-486AFC18AF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&lt;50</c:v>
                </c:pt>
                <c:pt idx="1">
                  <c:v>50-60</c:v>
                </c:pt>
                <c:pt idx="2">
                  <c:v>60-70</c:v>
                </c:pt>
                <c:pt idx="3">
                  <c:v>70-80</c:v>
                </c:pt>
                <c:pt idx="4">
                  <c:v>80-90</c:v>
                </c:pt>
                <c:pt idx="5">
                  <c:v>90-100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10</c:v>
                </c:pt>
                <c:pt idx="2">
                  <c:v>25</c:v>
                </c:pt>
                <c:pt idx="3">
                  <c:v>25</c:v>
                </c:pt>
                <c:pt idx="4">
                  <c:v>10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6A-4A17-BD2F-0E5E5616A1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&lt;50</c:v>
                </c:pt>
                <c:pt idx="1">
                  <c:v>50-60</c:v>
                </c:pt>
                <c:pt idx="2">
                  <c:v>60-70</c:v>
                </c:pt>
                <c:pt idx="3">
                  <c:v>70-80</c:v>
                </c:pt>
                <c:pt idx="4">
                  <c:v>80-90</c:v>
                </c:pt>
                <c:pt idx="5">
                  <c:v>90-100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28</c:v>
                </c:pt>
                <c:pt idx="2">
                  <c:v>12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E5-4BB0-8D4F-48527B885C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988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">
            <a:extLst>
              <a:ext uri="{FF2B5EF4-FFF2-40B4-BE49-F238E27FC236}">
                <a16:creationId xmlns:a16="http://schemas.microsoft.com/office/drawing/2014/main" id="{905862D7-4154-0E1A-B4FD-BB5650B25CD9}"/>
              </a:ext>
            </a:extLst>
          </p:cNvPr>
          <p:cNvSpPr/>
          <p:nvPr/>
        </p:nvSpPr>
        <p:spPr>
          <a:xfrm>
            <a:off x="4061456" y="738378"/>
            <a:ext cx="2865900" cy="27843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-699516"/>
            <a:ext cx="3110537" cy="3127248"/>
          </a:xfrm>
          <a:prstGeom prst="ellipse">
            <a:avLst/>
          </a:prstGeom>
          <a:solidFill>
            <a:schemeClr val="tx1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1843" y="4300687"/>
            <a:ext cx="897940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NAVTTC  ·  Data Analytics Using Python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3070653"/>
            <a:ext cx="3695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—  Understanding Data Before You 		</a:t>
            </a:r>
            <a:r>
              <a:rPr lang="en-US" sz="1600" i="1" dirty="0" err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16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916162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91616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Data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03120" y="3908275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391616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0" y="3908275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391616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&amp; Variability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7840" y="3908275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391616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0" y="3916162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83929" y="3908275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9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B287178-7B5E-7CA2-3137-B6F5AACC2E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96"/>
          <a:stretch>
            <a:fillRect/>
          </a:stretch>
        </p:blipFill>
        <p:spPr>
          <a:xfrm>
            <a:off x="7283929" y="-118242"/>
            <a:ext cx="2088343" cy="1880873"/>
          </a:xfrm>
          <a:prstGeom prst="rect">
            <a:avLst/>
          </a:prstGeom>
          <a:effectLst>
            <a:softEdge rad="0"/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4FC4D04-C4D3-948F-371D-4AD387A49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899600"/>
            <a:ext cx="2426001" cy="2392240"/>
          </a:xfrm>
          <a:prstGeom prst="rect">
            <a:avLst/>
          </a:prstGeom>
        </p:spPr>
      </p:pic>
      <p:sp>
        <p:nvSpPr>
          <p:cNvPr id="25" name="Text 6">
            <a:extLst>
              <a:ext uri="{FF2B5EF4-FFF2-40B4-BE49-F238E27FC236}">
                <a16:creationId xmlns:a16="http://schemas.microsoft.com/office/drawing/2014/main" id="{A46C4A26-44C8-D736-5226-087767789A99}"/>
              </a:ext>
            </a:extLst>
          </p:cNvPr>
          <p:cNvSpPr/>
          <p:nvPr/>
        </p:nvSpPr>
        <p:spPr>
          <a:xfrm>
            <a:off x="428822" y="4456135"/>
            <a:ext cx="3695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Muhammad Kamil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DIP LAB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STATISTICS — AND WHY DO YOU NEED IT?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68680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is the science of collecting, organising, analysing, and interpreting data to make better decisions.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Supermarket Analogy 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supermarket tracks 10,000 daily sales receipts.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brain can read 10,000 receipts.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compresses those 10,000 numbers into 3 facts: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Average spend per customer: Rs. 850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Most bought item: Bread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Biggest revenue day: Friday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compression IS statistics.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40680" y="960120"/>
            <a:ext cx="33832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40680" y="960120"/>
            <a:ext cx="9144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96128" y="10332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Describe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96128" y="1362456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what happened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40680" y="2258568"/>
            <a:ext cx="33832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40680" y="2258568"/>
            <a:ext cx="9144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2331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Infer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96128" y="2660904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conclusions about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group from a sample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40680" y="3557016"/>
            <a:ext cx="33832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0680" y="3557016"/>
            <a:ext cx="9144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96128" y="36301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Predict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96128" y="395935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past data to forecast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outcomes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BRANCHES OF STATISTICS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777240"/>
            <a:ext cx="0" cy="411480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28600" y="804672"/>
            <a:ext cx="41148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04672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DESCRIPTIVE STATISTICS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" y="128684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&amp; summarises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9838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47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mode of exam scores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2330645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9122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of sales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4802" y="2656449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624635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chart of monthly revenue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925003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5" y="29085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customers over 30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" y="4224528"/>
            <a:ext cx="3840480" cy="384048"/>
          </a:xfrm>
          <a:prstGeom prst="roundRect">
            <a:avLst/>
          </a:prstGeom>
          <a:solidFill>
            <a:srgbClr val="E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" y="4209083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You will use this EVERY day as an analyst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804672"/>
            <a:ext cx="4114800" cy="47548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804672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INFERENTIAL STATISTICS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371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conclusions about 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group from a small sample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28032" y="2029968"/>
            <a:ext cx="201168" cy="201168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1993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drug effective for all patients?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28032" y="2333244"/>
            <a:ext cx="201168" cy="201168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22966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next month's sales exceed target?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28032" y="2621280"/>
            <a:ext cx="201168" cy="201168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11497" y="259156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marketing affect purchase rate?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4224528"/>
            <a:ext cx="384048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2245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Covered in coming sections — Hypothesis Testing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C7849FB-DE40-0C96-A3A5-57FCBFE5C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463" y="2203320"/>
            <a:ext cx="1927377" cy="1857450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39" name="Shape 26">
            <a:extLst>
              <a:ext uri="{FF2B5EF4-FFF2-40B4-BE49-F238E27FC236}">
                <a16:creationId xmlns:a16="http://schemas.microsoft.com/office/drawing/2014/main" id="{331669F8-B303-8048-3F81-DAF79617863E}"/>
              </a:ext>
            </a:extLst>
          </p:cNvPr>
          <p:cNvSpPr/>
          <p:nvPr/>
        </p:nvSpPr>
        <p:spPr>
          <a:xfrm>
            <a:off x="4831080" y="2923032"/>
            <a:ext cx="201168" cy="201168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FA547B48-8A94-5019-FD58-03C98A6C7447}"/>
              </a:ext>
            </a:extLst>
          </p:cNvPr>
          <p:cNvSpPr/>
          <p:nvPr/>
        </p:nvSpPr>
        <p:spPr>
          <a:xfrm>
            <a:off x="5102352" y="2862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test: which ad performs better?</a:t>
            </a:r>
            <a:endParaRPr lang="en-US" sz="11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EE8FC37-9FD3-ED2C-4B98-4220CAF4A0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400" t="21414" b="23921"/>
          <a:stretch>
            <a:fillRect/>
          </a:stretch>
        </p:blipFill>
        <p:spPr>
          <a:xfrm>
            <a:off x="7307517" y="2020874"/>
            <a:ext cx="1836483" cy="19993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DATA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analysis, always ask: what kind of data am I looking at?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1168" y="1078992"/>
            <a:ext cx="425196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078992"/>
            <a:ext cx="4251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NUMERICAL (Quantitative)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" y="14996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that mean something mathematically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" y="179222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25, 30, 45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Rs. 45,000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37°C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Score: 78/100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" y="2542032"/>
            <a:ext cx="406908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5420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You CAN calculate average, sum, std dev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81728" y="1078992"/>
            <a:ext cx="425196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078992"/>
            <a:ext cx="42519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789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CATEGORICAL (Qualitative)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73168" y="14996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Labels, groups, names — no math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73168" y="179222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City: Karachi, Lahore, Islamabad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 Male / Female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Pass / Fail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Group: A, B, O, AB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73168" y="2542032"/>
            <a:ext cx="406908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5420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You CANNOT average categories — average of Karachi + Lahore = ???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" y="3072384"/>
            <a:ext cx="425196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3072384"/>
            <a:ext cx="425196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723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 ORDINAL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" y="34930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with a clear ORDER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2608" y="378561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Rating: 1★ 2★ 3★ 4★ 5★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Education: Matric → F.Sc → BS → MS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Small → Medium → Large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Satisfaction: Poor / OK / Good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2608" y="4535424"/>
            <a:ext cx="406908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45354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Order matters but gaps between ranks are NOT equal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81728" y="3072384"/>
            <a:ext cx="425196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3072384"/>
            <a:ext cx="42519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0723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DISCRETE vs CONTINUOUS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73168" y="34930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sub-types of Numerical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378561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Discrete: count of students (1,2,3…)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can't have 2.5 students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Continuous: height, weight, time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can be 1.75m, 68.3kg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73168" y="4535424"/>
            <a:ext cx="406908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45354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Different charts and tests apply to each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OF CENTRAL TENDENCY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8686800" cy="566928"/>
          </a:xfrm>
          <a:prstGeom prst="rect">
            <a:avLst/>
          </a:prstGeom>
          <a:solidFill>
            <a:srgbClr val="E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 answers one question:  </a:t>
            </a:r>
            <a:r>
              <a:rPr lang="en-US" sz="13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TYPICAL value in my data?"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28600" y="1508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Scenario: 7 Students' Exam Scores (out of 100)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6032" y="1874520"/>
            <a:ext cx="10789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87452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63040" y="1874520"/>
            <a:ext cx="10789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63040" y="187452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670048" y="1874520"/>
            <a:ext cx="10789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70048" y="187452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877056" y="1874520"/>
            <a:ext cx="107899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77056" y="187452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77056" y="25877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Median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84064" y="1874520"/>
            <a:ext cx="10789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84064" y="187452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91072" y="1874520"/>
            <a:ext cx="10789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91072" y="187452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498080" y="1874520"/>
            <a:ext cx="10789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0" y="187452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" y="28895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= 497  ÷  7  =  71.0  (Mean)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273552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273552"/>
            <a:ext cx="27889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27355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3657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÷ Count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8600" y="39136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01752" y="4334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Pulled by extreme values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72968" y="3273552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72968" y="3273552"/>
            <a:ext cx="27889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72968" y="327355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64408" y="3657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value (sorted)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72968" y="39136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246120" y="4334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Not affected by extremes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17336" y="3273552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17336" y="3273552"/>
            <a:ext cx="278892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17336" y="327355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08776" y="3657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value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17336" y="39136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here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unique)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190488" y="4334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Great for categories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vs MEDIAN — When Each One Lies to You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decision in descriptive statistics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01168" y="932688"/>
            <a:ext cx="4224528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932688"/>
            <a:ext cx="4224528" cy="40233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932688"/>
            <a:ext cx="4224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WHEN MEAN MISLEADS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92608" y="1417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employees' monthly salaries (PKR):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" y="1737360"/>
            <a:ext cx="4023360" cy="32004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737360"/>
            <a:ext cx="4023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35,000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2608" y="2121408"/>
            <a:ext cx="4023360" cy="32004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121408"/>
            <a:ext cx="4023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38,000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" y="2505456"/>
            <a:ext cx="4023360" cy="32004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505456"/>
            <a:ext cx="4023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40,000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" y="2889504"/>
            <a:ext cx="4023360" cy="32004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889504"/>
            <a:ext cx="4023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42,000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3273552"/>
            <a:ext cx="4023360" cy="320040"/>
          </a:xfrm>
          <a:prstGeom prst="rect">
            <a:avLst/>
          </a:prstGeom>
          <a:solidFill>
            <a:srgbClr val="7F1D1D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3273552"/>
            <a:ext cx="40233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3,00,000 ← CEO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608" y="3694176"/>
            <a:ext cx="4023360" cy="384048"/>
          </a:xfrm>
          <a:prstGeom prst="rect">
            <a:avLst/>
          </a:prstGeom>
          <a:solidFill>
            <a:srgbClr val="7F1D1D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3694176"/>
            <a:ext cx="402336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Rs. 91,000  →  NOBODY earns near this!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= Rs. 40,000  →  MUCH more honest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" y="41330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Rule: Use MEDIAN when data has extreme outliers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(income, house prices, viral posts)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932688"/>
            <a:ext cx="4224528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932688"/>
            <a:ext cx="4224528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932688"/>
            <a:ext cx="4224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WHEN MEAN IS PERFECT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1417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students' exam scores: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737360"/>
            <a:ext cx="4023360" cy="29260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737360"/>
            <a:ext cx="402336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084832"/>
            <a:ext cx="4023360" cy="29260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084832"/>
            <a:ext cx="402336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432304"/>
            <a:ext cx="4023360" cy="29260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432304"/>
            <a:ext cx="402336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779776"/>
            <a:ext cx="4023360" cy="29260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779776"/>
            <a:ext cx="402336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127248"/>
            <a:ext cx="4023360" cy="29260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127248"/>
            <a:ext cx="402336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474720"/>
            <a:ext cx="4023360" cy="29260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474720"/>
            <a:ext cx="402336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822192"/>
            <a:ext cx="4023360" cy="29260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822192"/>
            <a:ext cx="402336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4133088"/>
            <a:ext cx="4023360" cy="384048"/>
          </a:xfrm>
          <a:prstGeom prst="rect">
            <a:avLst/>
          </a:prstGeom>
          <a:solidFill>
            <a:srgbClr val="1453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4133088"/>
            <a:ext cx="402336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71.4  Median = 72  → Both tell same story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outliers → Mean is reliable ✅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MEAN vs MEDIAN WITH AN OUTLIER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228600" y="77724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384048" y="2084832"/>
            <a:ext cx="513892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402336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91k →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4048" y="3063240"/>
            <a:ext cx="513892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3749040" y="2816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= 40k →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60720" y="804672"/>
            <a:ext cx="3154680" cy="1115568"/>
          </a:xfrm>
          <a:prstGeom prst="rect">
            <a:avLst/>
          </a:prstGeom>
          <a:solidFill>
            <a:srgbClr val="FFF1F2"/>
          </a:solidFill>
          <a:ln w="1270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52160" y="8412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The Problem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852160" y="1133856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(CEO) earns Rs. 300,000 — 7× more than others.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number drags the mean to Rs. 91,000.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60720" y="2029968"/>
            <a:ext cx="315468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52160" y="20665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The Solution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852160" y="23591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= Rs. 40,000 — ignores the outlier.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a typical employee actually earns.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60720" y="3145536"/>
            <a:ext cx="3154680" cy="1371600"/>
          </a:xfrm>
          <a:prstGeom prst="rect">
            <a:avLst/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852160" y="31821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Median wins: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852160" y="3657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House prices in a city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852160" y="3931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Household incomes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852160" y="4206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App session lengths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OF SPREAD — How Scattered Is the Data?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8686800" cy="621792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 both have Mean = 70.  </a:t>
            </a: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the same?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No! You need SPREAD to know the full story.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5361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 — Mean: 70  (All students similar)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28600" y="1828800"/>
          <a:ext cx="41605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913632"/>
            <a:ext cx="4160520" cy="411480"/>
          </a:xfrm>
          <a:prstGeom prst="roundRect">
            <a:avLst/>
          </a:prstGeom>
          <a:solidFill>
            <a:srgbClr val="E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39136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≈ 1.0  →  Very consistent class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09160" y="1536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 — Mean: 70  (Very mixed performance)</a:t>
            </a:r>
            <a:endParaRPr lang="en-US" sz="105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4709160" y="1828800"/>
          <a:ext cx="42062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4709160" y="3913632"/>
            <a:ext cx="4206240" cy="41148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09160" y="39136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≈ 23.0  →  Highly inconsistent class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· VARIANCE · STANDARD DEVIATION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measure how spread out your data is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6012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Zara's 6 monthly sales (units sold) → 10, 14, 20, 24, 28, 32   |   Mean = 21.3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444752"/>
            <a:ext cx="2834640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444752"/>
            <a:ext cx="283464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4447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1883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− Min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" y="2194560"/>
            <a:ext cx="265176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32 − 10 = 22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" y="2542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distance from lowest to highest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" y="29443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Very easy to calculate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32004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Breaks with just ONE outlier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" y="3493008"/>
            <a:ext cx="2651760" cy="45720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493008"/>
            <a:ext cx="265176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If Zara sold 300 units one month (special event),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= 290 — misleading!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82112" y="1444752"/>
            <a:ext cx="2834640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1444752"/>
            <a:ext cx="28346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14447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VARIANCE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73552" y="1883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squared differences from mean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73552" y="2194560"/>
            <a:ext cx="265176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Σ(x − x̄)²  ÷  n  ≈  52.6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73552" y="2542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each point is from the mean, on average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73552" y="29443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Uses ALL data points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73552" y="32004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Units are squared (sales² — meaningless!)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73552" y="3493008"/>
            <a:ext cx="2651760" cy="45720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3493008"/>
            <a:ext cx="265176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Variance of 52.6 units² — hard to interpret 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language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63056" y="1444752"/>
            <a:ext cx="2834640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63056" y="1444752"/>
            <a:ext cx="28346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14447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STD DEVIATION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54496" y="1883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√Variance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54496" y="2194560"/>
            <a:ext cx="265176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√52.6  ≈  7.25 units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54496" y="25420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distance from the mean — same units as data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54496" y="29443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Interpretable, same unit as original data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54496" y="32004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Slightly complex to calculate manually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54496" y="3493008"/>
            <a:ext cx="2651760" cy="45720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3493008"/>
            <a:ext cx="265176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"Sales typically vary by ±7 units from the average"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manager understands this!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— INTERQUARTILE RANGE &amp; QUARTILES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8686800" cy="512064"/>
          </a:xfrm>
          <a:prstGeom prst="rect">
            <a:avLst/>
          </a:prstGeom>
          <a:solidFill>
            <a:srgbClr val="F3E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868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Q3 − Q1  →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of the MIDDLE 50% of your data. Resistant to outliers.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8600" y="14264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data: 10, 14, 18, 22, 26, 30, 34, 38, 42, 50, 95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084832"/>
            <a:ext cx="82296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1975104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-201168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76272" y="1975104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0512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87952" y="197510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1975104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11312" y="1975104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5552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76272" y="1627632"/>
            <a:ext cx="4206240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76272" y="16276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IQR = Q3 − Q1 = 42 − 18 = 24 →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2834640"/>
            <a:ext cx="2029968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834640"/>
            <a:ext cx="2029968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8346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Q0→Q1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(0%–25%)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6032" y="3145536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quarter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values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32304" y="2834640"/>
            <a:ext cx="2029968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D8B4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32304" y="2834640"/>
            <a:ext cx="2029968" cy="274320"/>
          </a:xfrm>
          <a:prstGeom prst="rect">
            <a:avLst/>
          </a:prstGeom>
          <a:solidFill>
            <a:srgbClr val="D8B4FE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32304" y="28346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Q1→Q2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(25%–50%)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32304" y="3145536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Lower-middle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08576" y="2834640"/>
            <a:ext cx="2029968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08576" y="2834640"/>
            <a:ext cx="2029968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08576" y="28346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Q2→Q3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(50%–75%)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08576" y="3145536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Upper-middle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84848" y="2834640"/>
            <a:ext cx="2029968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84848" y="2834640"/>
            <a:ext cx="2029968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84848" y="28346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Q3→Q4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(75%–100%)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84848" y="3145536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quarter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values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3858768"/>
            <a:ext cx="8686800" cy="914400"/>
          </a:xfrm>
          <a:prstGeom prst="rect">
            <a:avLst/>
          </a:prstGeom>
          <a:solidFill>
            <a:srgbClr val="F0F9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895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IQR matters for Data Analysts: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1696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Outlier Detection: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below Q1 − 1.5×IQR  or above Q3 + 1.5×IQR is flagged as an outlier
</a:t>
            </a: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Box Plots: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IQR is the box in a box plot — you will draw these in Seaborn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DISTRIBUTION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Bell Curve — the most important shape in statistics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896112"/>
          <a:ext cx="53035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059936"/>
            <a:ext cx="5303520" cy="347472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05993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−3σ    −2σ    −1σ     μ (Mean)     +1σ    +2σ    +3σ →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687568" y="8961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68–95–99.7 Rule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(Empirical Rule)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87568" y="1481328"/>
            <a:ext cx="32461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42432" y="152704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65392" y="15544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falls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1σ of mean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87568" y="2304288"/>
            <a:ext cx="32461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42432" y="23500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565392" y="2377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falls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2σ of mean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87568" y="3127248"/>
            <a:ext cx="32461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42432" y="31729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65392" y="32004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falls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3σ of mean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87568" y="4041648"/>
            <a:ext cx="32461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40782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 of Normal Distribution: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60720" y="43708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Exam scores in a large class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60720" y="4572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Heights of adults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60720" y="47731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Product weights in manufacturing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760720" y="49743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Body temperatures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28600" y="4462272"/>
            <a:ext cx="5303520" cy="347472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8600" y="44622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In a Normal Distribution →  Mean = Median = Mode  |  Perfectly symmetric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EMPIRICAL RULE — Applied to Real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8686800" cy="512064"/>
          </a:xfrm>
          <a:prstGeom prst="rect">
            <a:avLst/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868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NAVTTC exam scores are Normally distributed.  Mean (μ) = 70  ·  Std Dev (σ) = 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304288"/>
            <a:ext cx="8595360" cy="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" y="2212848"/>
            <a:ext cx="73152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-228600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(μ−3σ)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73352" y="2212848"/>
            <a:ext cx="73152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(μ−2σ)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2212848"/>
            <a:ext cx="73152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42616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(μ−1σ)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35424" y="2212848"/>
            <a:ext cx="73152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71032" y="2212848"/>
            <a:ext cx="73152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4688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(μ+1σ)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97496" y="2212848"/>
            <a:ext cx="73152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(μ+2σ)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833104" y="2212848"/>
            <a:ext cx="73152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(μ+3σ)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389888"/>
            <a:ext cx="85953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3898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  →  Score between 40 and 100  (virtually everyone)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09928" y="1700784"/>
            <a:ext cx="5724144" cy="274320"/>
          </a:xfrm>
          <a:prstGeom prst="rect">
            <a:avLst/>
          </a:prstGeom>
          <a:solidFill>
            <a:srgbClr val="BAE6FD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09928" y="1700784"/>
            <a:ext cx="5724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 →  Score between 50 and 90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45536" y="2011680"/>
            <a:ext cx="2862072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45536" y="201168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 →  Score between 60 and 80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108960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108960"/>
            <a:ext cx="283464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108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" y="3493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Ahmed scored 85 — how rare is that?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005072"/>
            <a:ext cx="2651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416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He's in the top 16% of students.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84% of the class.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0" y="3108960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108960"/>
            <a:ext cx="2834640" cy="32918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3108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91840" y="3493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Fatima scored 45 — is that unusual?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91840" y="4005072"/>
            <a:ext cx="2651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40416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Yes — below μ−2σ.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~2.5% score this low.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72200" y="3108960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72200" y="3108960"/>
            <a:ext cx="28346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3108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63640" y="3493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scored between...?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63640" y="4005072"/>
            <a:ext cx="2651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40416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Between 60 and 80.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all students land here.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— When Data Is Not Symmetric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is almost never perfectly normal — you need to recognise the shape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283464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93268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SKEW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(Left-Skewed)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46888" y="1481328"/>
          <a:ext cx="27432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127248"/>
            <a:ext cx="2688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on the LEFT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&lt; Median &lt; Mode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74320" y="3593592"/>
            <a:ext cx="2688336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362102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Exam where most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score very high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4320" y="4114800"/>
            <a:ext cx="2688336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114800"/>
            <a:ext cx="2688336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Mean is pulled LEFT by the few low scorers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82112" y="896112"/>
            <a:ext cx="283464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182112" y="93268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(Symmetric)</a:t>
            </a:r>
            <a:endParaRPr lang="en-US" sz="105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3227832" y="1481328"/>
          <a:ext cx="27432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/>
          <p:nvPr/>
        </p:nvSpPr>
        <p:spPr>
          <a:xfrm>
            <a:off x="3255264" y="3127248"/>
            <a:ext cx="2688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Median = Mode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55264" y="3593592"/>
            <a:ext cx="2688336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55264" y="362102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Typical heights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large population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255264" y="4114800"/>
            <a:ext cx="2688336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55264" y="4114800"/>
            <a:ext cx="2688336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Mean and Median both describe the centre well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163056" y="896112"/>
            <a:ext cx="283464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163056" y="93268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SKEW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(Right-Skewed)</a:t>
            </a:r>
            <a:endParaRPr lang="en-US" sz="1050" dirty="0"/>
          </a:p>
        </p:txBody>
      </p:sp>
      <p:graphicFrame>
        <p:nvGraphicFramePr>
          <p:cNvPr id="22" name="Chart 2"/>
          <p:cNvGraphicFramePr/>
          <p:nvPr/>
        </p:nvGraphicFramePr>
        <p:xfrm>
          <a:off x="6208776" y="1481328"/>
          <a:ext cx="27432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Text 18"/>
          <p:cNvSpPr/>
          <p:nvPr/>
        </p:nvSpPr>
        <p:spPr>
          <a:xfrm>
            <a:off x="6236208" y="3127248"/>
            <a:ext cx="2688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on the RIGHT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&lt; Median &lt; Mean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6208" y="3593592"/>
            <a:ext cx="2688336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36208" y="362102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Income data —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earn low, few earn huge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236208" y="4114800"/>
            <a:ext cx="2688336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236208" y="4114800"/>
            <a:ext cx="2688336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Mean is pulled RIGHT by the very high earners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132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72237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Statistics is — Descriptive vs Inferential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155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1247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Data — Numerical, Categorical, Ordinal, Discrete, Continuous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1790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15270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 — Mean, Median, Mode and when each is correct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202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19293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vs Median — how outliers distort the mean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2257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225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23317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of Spread — Range, Variance, Standard Deviation, IQR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72491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249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27340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Distribution — the bell curve and the 68–95–99.7 rule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12724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1272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31363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— Positive, Negative, and Symmetric distributions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0" y="548640"/>
            <a:ext cx="3154680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0" y="548640"/>
            <a:ext cx="315468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54864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Coming Next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10241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Z-scores — standard position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52160" y="14081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Sampling — population vs sample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2160" y="17922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Correlation — r coefficient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21762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Hypothesis Testing intro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0" y="25603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p-values explained simply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2944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t-test — comparing two groups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52160" y="33284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Chi-squared test for categories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37124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Confidence Intervals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526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Open your Jupyter notebook — let's code these concepts now!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1  ·  NAVTTC — Data Analytics Using Python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1860</Words>
  <Application>Microsoft Office PowerPoint</Application>
  <PresentationFormat>On-screen Show (16:9)</PresentationFormat>
  <Paragraphs>331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for Data Analysis — Part 1</dc:title>
  <dc:subject>PptxGenJS Presentation</dc:subject>
  <dc:creator>PptxGenJS</dc:creator>
  <cp:lastModifiedBy>kamil khan</cp:lastModifiedBy>
  <cp:revision>4</cp:revision>
  <dcterms:created xsi:type="dcterms:W3CDTF">2026-03-13T16:15:40Z</dcterms:created>
  <dcterms:modified xsi:type="dcterms:W3CDTF">2026-03-13T22:15:40Z</dcterms:modified>
</cp:coreProperties>
</file>