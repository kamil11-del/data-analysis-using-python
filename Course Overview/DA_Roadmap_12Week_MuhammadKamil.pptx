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-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932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10" Type="http://schemas.openxmlformats.org/officeDocument/2006/relationships/image" Target="../media/image1.png"/><Relationship Id="rId4" Type="http://schemas.openxmlformats.org/officeDocument/2006/relationships/image" Target="../media/image17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4.png"/><Relationship Id="rId4" Type="http://schemas.openxmlformats.org/officeDocument/2006/relationships/image" Target="../media/image16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1E3A5F">
              <a:alpha val="5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2743200"/>
            <a:ext cx="2194560" cy="2194560"/>
          </a:xfrm>
          <a:prstGeom prst="ellipse">
            <a:avLst/>
          </a:prstGeom>
          <a:solidFill>
            <a:srgbClr val="0891B2">
              <a:alpha val="2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3657600"/>
            <a:ext cx="1371600" cy="1371600"/>
          </a:xfrm>
          <a:prstGeom prst="ellipse">
            <a:avLst/>
          </a:prstGeom>
          <a:solidFill>
            <a:srgbClr val="0891B2">
              <a:alpha val="3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66928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ANALYTICS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12-WEEK COURSE ROADMAP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" y="1938528"/>
            <a:ext cx="530352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29968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Foundations to Job-Ready Skills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Professional Learning Journey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907792"/>
            <a:ext cx="475488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999232"/>
            <a:ext cx="475488" cy="4754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98448" y="2971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298448" y="32369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Muhammad Kamil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66928" y="3931920"/>
            <a:ext cx="192024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" y="393192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4005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66928" y="4389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15768" y="3931920"/>
            <a:ext cx="192024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15768" y="393192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15768" y="4005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2715768" y="4389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64608" y="3931920"/>
            <a:ext cx="192024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64608" y="393192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64608" y="4005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40+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4864608" y="4389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013448" y="3931920"/>
            <a:ext cx="192024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13448" y="393192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13448" y="4005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7013448" y="4389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0" y="4809744"/>
            <a:ext cx="9144000" cy="3337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65760" y="481888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12-Week Roadmap  |  Professional Course Series  |  Instructor: Muhammad Kamil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1E3A5F">
              <a:alpha val="4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0891B2">
              <a:alpha val="2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DATA ANALYTICS?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runs on data. Your future runs on this skill.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2633472" cy="2148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508760"/>
            <a:ext cx="26334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912" y="1645920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2176272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$120K+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94360" y="281635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" y="310896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Data Analysts (US)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55848" y="1508760"/>
            <a:ext cx="2633472" cy="2148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55848" y="1508760"/>
            <a:ext cx="26334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645920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47288" y="2176272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2.5 QB</a:t>
            </a:r>
            <a:endParaRPr lang="en-US" sz="3200" dirty="0"/>
          </a:p>
        </p:txBody>
      </p:sp>
      <p:sp>
        <p:nvSpPr>
          <p:cNvPr id="17" name="Text 13"/>
          <p:cNvSpPr/>
          <p:nvPr/>
        </p:nvSpPr>
        <p:spPr>
          <a:xfrm>
            <a:off x="3447288" y="281635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Created Daily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447288" y="310896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worldwide, every single day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208776" y="1508760"/>
            <a:ext cx="2633472" cy="2148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08776" y="1508760"/>
            <a:ext cx="26334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8" y="1645920"/>
            <a:ext cx="475488" cy="4754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0216" y="2176272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11.5M+</a:t>
            </a:r>
            <a:endParaRPr lang="en-US" sz="3200" dirty="0"/>
          </a:p>
        </p:txBody>
      </p:sp>
      <p:sp>
        <p:nvSpPr>
          <p:cNvPr id="23" name="Text 18"/>
          <p:cNvSpPr/>
          <p:nvPr/>
        </p:nvSpPr>
        <p:spPr>
          <a:xfrm>
            <a:off x="6300216" y="281635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Jobs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300216" y="310896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by 2026 globally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02920" y="3749040"/>
            <a:ext cx="8138160" cy="749808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840480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15568" y="3794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 is the new oil — and those who know how to refine it will lead the world."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0" y="4864608"/>
            <a:ext cx="347472" cy="2788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57200" y="487375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Roadmap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0024" y="338328"/>
            <a:ext cx="2743200" cy="2743200"/>
          </a:xfrm>
          <a:prstGeom prst="ellipse">
            <a:avLst/>
          </a:prstGeom>
          <a:solidFill>
            <a:srgbClr val="1E3A5F">
              <a:alpha val="50000"/>
            </a:srgbClr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4320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53312" y="2743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FUTURE STARTS HERE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66928" y="1042416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just 12 weeks, you will transform from a beginner into a confident,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job-ready Data Analyst. Here's what that journey looks like: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8912" y="1810512"/>
            <a:ext cx="27432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38912" y="1810512"/>
            <a:ext cx="2743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0352" y="1901952"/>
            <a:ext cx="77724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19019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7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90195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" y="2194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Ignite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30352" y="2496312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data, statistics, and the analyst mindset. Learn what makes data powerful.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346704" y="1810512"/>
            <a:ext cx="27432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346704" y="1810512"/>
            <a:ext cx="2743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38144" y="1901952"/>
            <a:ext cx="77724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38144" y="19019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7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9552" y="190195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38144" y="2194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438144" y="2496312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SQL and Python basics — the two languages every data professional must know.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254496" y="1810512"/>
            <a:ext cx="27432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54496" y="1810512"/>
            <a:ext cx="2743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345936" y="1901952"/>
            <a:ext cx="77724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345936" y="19019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7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190195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45936" y="2194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Explore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345936" y="2496312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 deep into Exploratory Data Analysis. Find hidden stories inside messy datasets.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38912" y="3227832"/>
            <a:ext cx="27432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8912" y="3227832"/>
            <a:ext cx="2743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30352" y="3319272"/>
            <a:ext cx="77724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30352" y="33192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7–8</a:t>
            </a:r>
            <a:endParaRPr lang="en-US" sz="75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0" y="3319272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30352" y="3611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530352" y="3913632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numbers into stunning dashboards with Tableau and Power BI.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3346704" y="3227832"/>
            <a:ext cx="27432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346704" y="3227832"/>
            <a:ext cx="2743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3438144" y="3319272"/>
            <a:ext cx="77724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3438144" y="33192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9–10</a:t>
            </a:r>
            <a:endParaRPr lang="en-US" sz="75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9552" y="3319272"/>
            <a:ext cx="347472" cy="34747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3438144" y="3611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3438144" y="3913632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machine learning to forecast trends and build real predictive models.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6254496" y="3227832"/>
            <a:ext cx="27432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6254496" y="3227832"/>
            <a:ext cx="2743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6345936" y="3319272"/>
            <a:ext cx="77724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6345936" y="33192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11–12</a:t>
            </a:r>
            <a:endParaRPr lang="en-US" sz="750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7344" y="3319272"/>
            <a:ext cx="347472" cy="347472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6345936" y="3611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Launch</a:t>
            </a:r>
            <a:endParaRPr lang="en-US" sz="1400" dirty="0"/>
          </a:p>
        </p:txBody>
      </p:sp>
      <p:sp>
        <p:nvSpPr>
          <p:cNvPr id="48" name="Text 39"/>
          <p:cNvSpPr/>
          <p:nvPr/>
        </p:nvSpPr>
        <p:spPr>
          <a:xfrm>
            <a:off x="6345936" y="3913632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 capstone project, build your portfolio, and step into your data career.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0" y="4864608"/>
            <a:ext cx="347472" cy="2788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457200" y="487375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Roadmap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ANALYTICS IS EVERYWHERE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industry in the world needs Data Analysts. This skill has no boundaries.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1993392" cy="1444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44752"/>
            <a:ext cx="1993392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57276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93192" y="201168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93192" y="2322576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patient readmission risks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450592" y="1444752"/>
            <a:ext cx="1993392" cy="1444752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50592" y="1444752"/>
            <a:ext cx="1993392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157276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23744" y="201168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23744" y="2322576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&amp; investment modelling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581144" y="1444752"/>
            <a:ext cx="1993392" cy="1444752"/>
          </a:xfrm>
          <a:prstGeom prst="rect">
            <a:avLst/>
          </a:prstGeom>
          <a:solidFill>
            <a:srgbClr val="0D4C6E"/>
          </a:solidFill>
          <a:ln w="12700">
            <a:solidFill>
              <a:srgbClr val="0D4C6E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81144" y="1444752"/>
            <a:ext cx="1993392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572768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54296" y="201168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654296" y="2322576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engines &amp; sales forecasting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711696" y="1444752"/>
            <a:ext cx="1993392" cy="14447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711696" y="1444752"/>
            <a:ext cx="1993392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9792" y="1572768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84848" y="201168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784848" y="2322576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ROI analysis &amp; customer segmentation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320040" y="3017520"/>
            <a:ext cx="1993392" cy="14447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" y="3017520"/>
            <a:ext cx="1993392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136" y="3145536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3192" y="35844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93192" y="3895344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tracking &amp; dropout prediction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2450592" y="3017520"/>
            <a:ext cx="1993392" cy="14447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2450592" y="3017520"/>
            <a:ext cx="1993392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8688" y="3145536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523744" y="35844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2523744" y="3895344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analytics &amp; public resource allocation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4581144" y="3017520"/>
            <a:ext cx="1993392" cy="144475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581144" y="3017520"/>
            <a:ext cx="1993392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9240" y="3145536"/>
            <a:ext cx="384048" cy="38404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654296" y="35844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4654296" y="3895344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&amp; supply chain analytics</a:t>
            </a:r>
            <a:endParaRPr lang="en-US" sz="850" dirty="0"/>
          </a:p>
        </p:txBody>
      </p:sp>
      <p:sp>
        <p:nvSpPr>
          <p:cNvPr id="41" name="Shape 32"/>
          <p:cNvSpPr/>
          <p:nvPr/>
        </p:nvSpPr>
        <p:spPr>
          <a:xfrm>
            <a:off x="6711696" y="3017520"/>
            <a:ext cx="1993392" cy="14447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6711696" y="3017520"/>
            <a:ext cx="1993392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79792" y="3145536"/>
            <a:ext cx="384048" cy="38404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784848" y="35844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6784848" y="3895344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performance analytics &amp; game strategy</a:t>
            </a:r>
            <a:endParaRPr lang="en-US" sz="850" dirty="0"/>
          </a:p>
        </p:txBody>
      </p:sp>
      <p:sp>
        <p:nvSpPr>
          <p:cNvPr id="46" name="Shape 3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0" y="4864608"/>
            <a:ext cx="347472" cy="2788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457200" y="487375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Roadmap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6032"/>
            <a:ext cx="621792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256032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ANALYST MINDSET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66928" y="9875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in data analytics isn't just about tools — it's about how you THINK.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508760"/>
            <a:ext cx="402336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508760"/>
            <a:ext cx="64008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167335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97280" y="18562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ask 'Why?' and 'What does this mean?' Great analysts question everything.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754880" y="1508760"/>
            <a:ext cx="402336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54880" y="1508760"/>
            <a:ext cx="64008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167335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49240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to Detail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349240" y="18562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wrong formula can mislead an entire company. Precision matters in every dataset.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02920" y="2423160"/>
            <a:ext cx="402336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02920" y="2423160"/>
            <a:ext cx="64008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2587752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7280" y="25146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Thinking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97280" y="27706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complex problems into smaller, manageable analytical steps.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754880" y="2423160"/>
            <a:ext cx="402336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54880" y="2423160"/>
            <a:ext cx="64008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896" y="2587752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349240" y="25146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349240" y="27706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without context is just numbers. Learn to craft insights that drive action.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502920" y="3337560"/>
            <a:ext cx="402336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502920" y="3337560"/>
            <a:ext cx="64008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" y="3502152"/>
            <a:ext cx="384048" cy="38404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97280" y="34290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Results-Oriented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1097280" y="36850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isn't analysis for its own sake — it's delivering decisions that create value.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4754880" y="3337560"/>
            <a:ext cx="402336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4754880" y="3337560"/>
            <a:ext cx="64008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2896" y="3502152"/>
            <a:ext cx="384048" cy="38404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349240" y="34290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Mindset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5349240" y="36850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bug, every failed query, every mistake is a stepping stone to mastery.</a:t>
            </a:r>
            <a:endParaRPr lang="en-US" sz="950" dirty="0"/>
          </a:p>
        </p:txBody>
      </p:sp>
      <p:sp>
        <p:nvSpPr>
          <p:cNvPr id="37" name="Shape 28"/>
          <p:cNvSpPr/>
          <p:nvPr/>
        </p:nvSpPr>
        <p:spPr>
          <a:xfrm>
            <a:off x="502920" y="4206240"/>
            <a:ext cx="8138160" cy="502920"/>
          </a:xfrm>
          <a:prstGeom prst="rect">
            <a:avLst/>
          </a:prstGeom>
          <a:solidFill>
            <a:srgbClr val="0D2240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4279392"/>
            <a:ext cx="320040" cy="32004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051560" y="422452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Kamil  —  "Every expert was once a beginner. Your only job today is to start."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0" y="4864608"/>
            <a:ext cx="347472" cy="2788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457200" y="487375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Roadmap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12-WEEK COURSE ROADMAP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2697480"/>
            <a:ext cx="8449056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87552"/>
            <a:ext cx="1344168" cy="1627632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87552"/>
            <a:ext cx="1344168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00584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20624" y="169164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0624" y="21031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96112" y="2624328"/>
            <a:ext cx="246888" cy="2468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2871216"/>
            <a:ext cx="1344168" cy="19385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926080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Stats</a:t>
            </a:r>
            <a:endParaRPr lang="en-US" sz="9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Literacy</a:t>
            </a:r>
            <a:endParaRPr lang="en-US" sz="9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Setup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10512" y="987552"/>
            <a:ext cx="1344168" cy="1627632"/>
          </a:xfrm>
          <a:prstGeom prst="rect">
            <a:avLst/>
          </a:prstGeom>
          <a:solidFill>
            <a:srgbClr val="0D4C6E"/>
          </a:solidFill>
          <a:ln w="12700">
            <a:solidFill>
              <a:srgbClr val="0D4C6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10512" y="987552"/>
            <a:ext cx="1344168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47088" y="100584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847088" y="169164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SKILLS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47088" y="21031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3–4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322576" y="2624328"/>
            <a:ext cx="246888" cy="2468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10512" y="2871216"/>
            <a:ext cx="1344168" cy="19385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01952" y="2926080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Basics</a:t>
            </a:r>
            <a:endParaRPr lang="en-US" sz="9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Python/Pandas</a:t>
            </a:r>
            <a:endParaRPr lang="en-US" sz="9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36976" y="987552"/>
            <a:ext cx="1344168" cy="16276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36976" y="987552"/>
            <a:ext cx="1344168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73552" y="100584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3273552" y="169164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73552" y="21031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5–6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749040" y="2624328"/>
            <a:ext cx="246888" cy="2468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36976" y="2871216"/>
            <a:ext cx="1344168" cy="19385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2926080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Analysis</a:t>
            </a:r>
            <a:endParaRPr lang="en-US" sz="9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9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987552"/>
            <a:ext cx="1344168" cy="16276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987552"/>
            <a:ext cx="1344168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016" y="100584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4700016" y="169164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00016" y="21031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7–8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175504" y="2624328"/>
            <a:ext cx="246888" cy="2468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871216"/>
            <a:ext cx="1344168" cy="19385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926080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9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89904" y="987552"/>
            <a:ext cx="1344168" cy="16276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89904" y="987552"/>
            <a:ext cx="1344168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100584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6126480" y="169164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26480" y="21031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9–10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601968" y="2624328"/>
            <a:ext cx="246888" cy="2468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89904" y="2871216"/>
            <a:ext cx="1344168" cy="19385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81344" y="2926080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Basics</a:t>
            </a:r>
            <a:endParaRPr lang="en-US" sz="9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</a:t>
            </a:r>
            <a:endParaRPr lang="en-US" sz="9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516368" y="987552"/>
            <a:ext cx="1344168" cy="16276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516368" y="987552"/>
            <a:ext cx="1344168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52944" y="100584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3600" dirty="0"/>
          </a:p>
        </p:txBody>
      </p:sp>
      <p:sp>
        <p:nvSpPr>
          <p:cNvPr id="49" name="Text 47"/>
          <p:cNvSpPr/>
          <p:nvPr/>
        </p:nvSpPr>
        <p:spPr>
          <a:xfrm>
            <a:off x="7552944" y="169164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552944" y="21031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11–12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028432" y="2624328"/>
            <a:ext cx="246888" cy="2468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16368" y="2871216"/>
            <a:ext cx="1344168" cy="19385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07808" y="2926080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Project</a:t>
            </a:r>
            <a:endParaRPr lang="en-US" sz="9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9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864608"/>
            <a:ext cx="347472" cy="2788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87375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Roadmap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96012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FOUNDATIONS OF DATA ANALYTICS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040880" y="201168"/>
            <a:ext cx="18288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201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 –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078992"/>
            <a:ext cx="4224528" cy="1874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78992"/>
            <a:ext cx="422452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07008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1188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&amp; Statistics Basics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" y="1682496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" y="1627632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stats: mean, median, mode, variance, std dev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8912" y="1993392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216" y="1938528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fundamentals and distributions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38912" y="2304288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5216" y="2249424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vs. causation — understanding relationships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8912" y="2615184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5216" y="2560320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 and the Central Limit Theorem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36592" y="1078992"/>
            <a:ext cx="4224528" cy="1874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36592" y="1078992"/>
            <a:ext cx="422452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207008"/>
            <a:ext cx="320040" cy="3200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85232" y="1188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Literacy &amp; Core Concepts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901184" y="1682496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047488" y="1627632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data: structured, semi-structured, unstructured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901184" y="1993392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047488" y="1938528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accuracy, completeness, consistency, timeliness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901184" y="2304288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47488" y="2249424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DIKW hierarchy: Data → Information → Knowledge → Wisdom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901184" y="2615184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047488" y="2560320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data-driven decision-making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274320" y="3063240"/>
            <a:ext cx="4224528" cy="1874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274320" y="3063240"/>
            <a:ext cx="422452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191256"/>
            <a:ext cx="320040" cy="32004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22960" y="31729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 Tools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38912" y="3666744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85216" y="3611880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/ Google Sheets fundamentals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438912" y="397764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85216" y="3922776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Python with Anaconda &amp; Jupyter Notebooks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438912" y="4288536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85216" y="4233672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databases and the RDBMS model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438912" y="4599432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85216" y="4544568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data analyst workflow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4736592" y="3063240"/>
            <a:ext cx="4224528" cy="1874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4736592" y="3063240"/>
            <a:ext cx="422452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191256"/>
            <a:ext cx="320040" cy="32004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5285232" y="31729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Analyst Role &amp; Career</a:t>
            </a:r>
            <a:endParaRPr lang="en-US" sz="1200" dirty="0"/>
          </a:p>
        </p:txBody>
      </p:sp>
      <p:sp>
        <p:nvSpPr>
          <p:cNvPr id="48" name="Shape 42"/>
          <p:cNvSpPr/>
          <p:nvPr/>
        </p:nvSpPr>
        <p:spPr>
          <a:xfrm>
            <a:off x="4901184" y="3666744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5047488" y="3611880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paths: Analyst, Scientist, Engineer, BI Developer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4901184" y="397764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5047488" y="3922776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applications: finance, healthcare, marketing, retail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4901184" y="4288536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5047488" y="4233672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skills: critical thinking, communication, storytelling</a:t>
            </a:r>
            <a:endParaRPr lang="en-US" sz="1000" dirty="0"/>
          </a:p>
        </p:txBody>
      </p:sp>
      <p:sp>
        <p:nvSpPr>
          <p:cNvPr id="54" name="Shape 48"/>
          <p:cNvSpPr/>
          <p:nvPr/>
        </p:nvSpPr>
        <p:spPr>
          <a:xfrm>
            <a:off x="4901184" y="4599432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5047488" y="4544568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structure, tools, and expectations overview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0" y="4864608"/>
            <a:ext cx="347472" cy="2788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457200" y="487375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Roadmap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960120"/>
          </a:xfrm>
          <a:prstGeom prst="rect">
            <a:avLst/>
          </a:prstGeom>
          <a:solidFill>
            <a:srgbClr val="0D4C6E"/>
          </a:solidFill>
          <a:ln w="12700">
            <a:solidFill>
              <a:srgbClr val="0D4C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DATA SKILLS — SQL &amp; PYTHON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040880" y="201168"/>
            <a:ext cx="18288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201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 – 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024128"/>
            <a:ext cx="4206240" cy="38221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24128"/>
            <a:ext cx="42062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133856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" y="11338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Database Fundamentals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02336" y="1664208"/>
            <a:ext cx="6400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162763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FROM, WHERE, ORDER BY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18745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sorting, and limiting result sets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02336" y="2176272"/>
            <a:ext cx="6400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13969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Aggregate Functions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23865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AVG, MIN, MAX in action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02336" y="2688336"/>
            <a:ext cx="6400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26517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(INNER, LEFT, RIGHT, FULL)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48640" y="28986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data across multiple tables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02336" y="3200400"/>
            <a:ext cx="6400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316382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and Common Table Expressions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3410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efficient, readable nested queries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02336" y="3712464"/>
            <a:ext cx="6400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367588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48640" y="39227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RANK, ROW_NUMBER, LAG, LEAD for analytics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02336" y="4224528"/>
            <a:ext cx="6400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41879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Basics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48640" y="44348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Normalization, primary &amp; foreign keys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663440" y="1024128"/>
            <a:ext cx="4206240" cy="38221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63440" y="1024128"/>
            <a:ext cx="420624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1133856"/>
            <a:ext cx="365760" cy="36576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266944" y="11338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Analytics</a:t>
            </a:r>
            <a:endParaRPr lang="en-US" sz="1350" dirty="0"/>
          </a:p>
        </p:txBody>
      </p:sp>
      <p:sp>
        <p:nvSpPr>
          <p:cNvPr id="34" name="Shape 30"/>
          <p:cNvSpPr/>
          <p:nvPr/>
        </p:nvSpPr>
        <p:spPr>
          <a:xfrm>
            <a:off x="4791456" y="1664208"/>
            <a:ext cx="64008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37760" y="162763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Basics &amp; Syntax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4937760" y="18745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loops, functions, file I/O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791456" y="2176272"/>
            <a:ext cx="64008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937760" y="213969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Array Operations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4937760" y="23865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computing, vectorized operations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4791456" y="2688336"/>
            <a:ext cx="64008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937760" y="26517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DataFrames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4937760" y="28986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Merging, filtering, groupby, pivot tables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4791456" y="3200400"/>
            <a:ext cx="64008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937760" y="316382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Techniques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4937760" y="3410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Nulls, duplicates, outliers, type casting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4791456" y="3712464"/>
            <a:ext cx="64008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937760" y="367588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Writing Data</a:t>
            </a:r>
            <a:endParaRPr lang="en-US" sz="1050" dirty="0"/>
          </a:p>
        </p:txBody>
      </p:sp>
      <p:sp>
        <p:nvSpPr>
          <p:cNvPr id="48" name="Text 44"/>
          <p:cNvSpPr/>
          <p:nvPr/>
        </p:nvSpPr>
        <p:spPr>
          <a:xfrm>
            <a:off x="4937760" y="39227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Excel, JSON, APIs, SQL connections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4791456" y="4224528"/>
            <a:ext cx="64008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937760" y="41879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Scripting</a:t>
            </a:r>
            <a:endParaRPr lang="en-US" sz="1050" dirty="0"/>
          </a:p>
        </p:txBody>
      </p:sp>
      <p:sp>
        <p:nvSpPr>
          <p:cNvPr id="51" name="Text 47"/>
          <p:cNvSpPr/>
          <p:nvPr/>
        </p:nvSpPr>
        <p:spPr>
          <a:xfrm>
            <a:off x="4937760" y="44348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repetitive data preparation tasks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0" y="4864608"/>
            <a:ext cx="347472" cy="2788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457200" y="487375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Roadmap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STATISTICAL ANALYSIS &amp; EDA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040880" y="201168"/>
            <a:ext cx="18288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201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 – 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" y="1005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 — 6-Step Process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" y="1389888"/>
            <a:ext cx="1353312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40817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Inspect</a:t>
            </a:r>
            <a:endParaRPr lang="en-US" sz="8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719072"/>
            <a:ext cx="164592" cy="16459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737360" y="1389888"/>
            <a:ext cx="1353312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92224" y="140817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810512" y="16916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Missing Values</a:t>
            </a:r>
            <a:endParaRPr lang="en-US" sz="8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1719072"/>
            <a:ext cx="164592" cy="16459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182112" y="1389888"/>
            <a:ext cx="1353312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36976" y="140817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255264" y="16916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8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1719072"/>
            <a:ext cx="164592" cy="16459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626864" y="1389888"/>
            <a:ext cx="1353312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681728" y="140817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700016" y="16916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8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76" y="1719072"/>
            <a:ext cx="164592" cy="16459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071616" y="1389888"/>
            <a:ext cx="1353312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126480" y="140817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144768" y="16916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Outliers</a:t>
            </a:r>
            <a:endParaRPr lang="en-US" sz="85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1719072"/>
            <a:ext cx="164592" cy="164592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7516368" y="1389888"/>
            <a:ext cx="1353312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7571232" y="140817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7589520" y="16916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Insights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274320" y="2240280"/>
            <a:ext cx="4206240" cy="2633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274320" y="2240280"/>
            <a:ext cx="420624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359152"/>
            <a:ext cx="347472" cy="34747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50392" y="23591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Techniques</a:t>
            </a:r>
            <a:endParaRPr lang="en-US" sz="12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734056"/>
            <a:ext cx="164592" cy="16459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1792" y="2706624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Stats: central tendency &amp; spread measures</a:t>
            </a:r>
            <a:endParaRPr lang="en-US" sz="10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044952"/>
            <a:ext cx="164592" cy="16459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21792" y="301752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Inferential Statistics: population estimation from samples</a:t>
            </a:r>
            <a:endParaRPr lang="en-US" sz="10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355848"/>
            <a:ext cx="164592" cy="164592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21792" y="3328416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Testing: t-test, chi-square, ANOVA</a:t>
            </a:r>
            <a:endParaRPr lang="en-US" sz="100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666744"/>
            <a:ext cx="164592" cy="16459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21792" y="3639312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 and p-value interpretation</a:t>
            </a:r>
            <a:endParaRPr lang="en-US" sz="1000" dirty="0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977640"/>
            <a:ext cx="164592" cy="164592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621792" y="3950208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Analysis: Pearson &amp; Spearman coefficients</a:t>
            </a:r>
            <a:endParaRPr lang="en-US" sz="100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288536"/>
            <a:ext cx="164592" cy="164592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621792" y="4261104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Multiple Linear Regression</a:t>
            </a:r>
            <a:endParaRPr lang="en-US" sz="1000" dirty="0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599432"/>
            <a:ext cx="164592" cy="164592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621792" y="457200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methodology and interpretation</a:t>
            </a:r>
            <a:endParaRPr lang="en-US" sz="1000" dirty="0"/>
          </a:p>
        </p:txBody>
      </p:sp>
      <p:sp>
        <p:nvSpPr>
          <p:cNvPr id="50" name="Shape 35"/>
          <p:cNvSpPr/>
          <p:nvPr/>
        </p:nvSpPr>
        <p:spPr>
          <a:xfrm>
            <a:off x="4663440" y="2240280"/>
            <a:ext cx="4206240" cy="2633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1" name="Shape 36"/>
          <p:cNvSpPr/>
          <p:nvPr/>
        </p:nvSpPr>
        <p:spPr>
          <a:xfrm>
            <a:off x="4663440" y="2240280"/>
            <a:ext cx="4206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359152"/>
            <a:ext cx="347472" cy="347472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5239512" y="23591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Libraries &amp; Techniques</a:t>
            </a:r>
            <a:endParaRPr lang="en-US" sz="1200" dirty="0"/>
          </a:p>
        </p:txBody>
      </p:sp>
      <p:sp>
        <p:nvSpPr>
          <p:cNvPr id="54" name="Shape 38"/>
          <p:cNvSpPr/>
          <p:nvPr/>
        </p:nvSpPr>
        <p:spPr>
          <a:xfrm>
            <a:off x="4773168" y="2770632"/>
            <a:ext cx="82296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Text 39"/>
          <p:cNvSpPr/>
          <p:nvPr/>
        </p:nvSpPr>
        <p:spPr>
          <a:xfrm>
            <a:off x="4773168" y="27706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SciPy</a:t>
            </a:r>
            <a:endParaRPr lang="en-US" sz="900" dirty="0"/>
          </a:p>
        </p:txBody>
      </p:sp>
      <p:sp>
        <p:nvSpPr>
          <p:cNvPr id="56" name="Text 40"/>
          <p:cNvSpPr/>
          <p:nvPr/>
        </p:nvSpPr>
        <p:spPr>
          <a:xfrm>
            <a:off x="5669280" y="277063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tests &amp; distributions</a:t>
            </a:r>
            <a:endParaRPr lang="en-US" sz="950" dirty="0"/>
          </a:p>
        </p:txBody>
      </p:sp>
      <p:sp>
        <p:nvSpPr>
          <p:cNvPr id="57" name="Shape 41"/>
          <p:cNvSpPr/>
          <p:nvPr/>
        </p:nvSpPr>
        <p:spPr>
          <a:xfrm>
            <a:off x="4773168" y="3136392"/>
            <a:ext cx="82296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8" name="Text 42"/>
          <p:cNvSpPr/>
          <p:nvPr/>
        </p:nvSpPr>
        <p:spPr>
          <a:xfrm>
            <a:off x="4773168" y="31363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Statsmodels</a:t>
            </a:r>
            <a:endParaRPr lang="en-US" sz="900" dirty="0"/>
          </a:p>
        </p:txBody>
      </p:sp>
      <p:sp>
        <p:nvSpPr>
          <p:cNvPr id="59" name="Text 43"/>
          <p:cNvSpPr/>
          <p:nvPr/>
        </p:nvSpPr>
        <p:spPr>
          <a:xfrm>
            <a:off x="5669280" y="313639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regression, ARIMA, time-series</a:t>
            </a:r>
            <a:endParaRPr lang="en-US" sz="950" dirty="0"/>
          </a:p>
        </p:txBody>
      </p:sp>
      <p:sp>
        <p:nvSpPr>
          <p:cNvPr id="60" name="Shape 44"/>
          <p:cNvSpPr/>
          <p:nvPr/>
        </p:nvSpPr>
        <p:spPr>
          <a:xfrm>
            <a:off x="4773168" y="3502152"/>
            <a:ext cx="82296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Text 45"/>
          <p:cNvSpPr/>
          <p:nvPr/>
        </p:nvSpPr>
        <p:spPr>
          <a:xfrm>
            <a:off x="4773168" y="35021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Profiling</a:t>
            </a:r>
            <a:endParaRPr lang="en-US" sz="900" dirty="0"/>
          </a:p>
        </p:txBody>
      </p:sp>
      <p:sp>
        <p:nvSpPr>
          <p:cNvPr id="62" name="Text 46"/>
          <p:cNvSpPr/>
          <p:nvPr/>
        </p:nvSpPr>
        <p:spPr>
          <a:xfrm>
            <a:off x="5669280" y="35021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EDA reports in one line</a:t>
            </a:r>
            <a:endParaRPr lang="en-US" sz="950" dirty="0"/>
          </a:p>
        </p:txBody>
      </p:sp>
      <p:sp>
        <p:nvSpPr>
          <p:cNvPr id="63" name="Shape 47"/>
          <p:cNvSpPr/>
          <p:nvPr/>
        </p:nvSpPr>
        <p:spPr>
          <a:xfrm>
            <a:off x="4773168" y="3867912"/>
            <a:ext cx="82296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4" name="Text 48"/>
          <p:cNvSpPr/>
          <p:nvPr/>
        </p:nvSpPr>
        <p:spPr>
          <a:xfrm>
            <a:off x="4773168" y="38679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Seaborn &amp; Matplotlib</a:t>
            </a:r>
            <a:endParaRPr lang="en-US" sz="900" dirty="0"/>
          </a:p>
        </p:txBody>
      </p:sp>
      <p:sp>
        <p:nvSpPr>
          <p:cNvPr id="65" name="Text 49"/>
          <p:cNvSpPr/>
          <p:nvPr/>
        </p:nvSpPr>
        <p:spPr>
          <a:xfrm>
            <a:off x="5669280" y="386791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visualizations</a:t>
            </a:r>
            <a:endParaRPr lang="en-US" sz="950" dirty="0"/>
          </a:p>
        </p:txBody>
      </p:sp>
      <p:sp>
        <p:nvSpPr>
          <p:cNvPr id="66" name="Shape 50"/>
          <p:cNvSpPr/>
          <p:nvPr/>
        </p:nvSpPr>
        <p:spPr>
          <a:xfrm>
            <a:off x="4773168" y="4233672"/>
            <a:ext cx="82296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7" name="Text 51"/>
          <p:cNvSpPr/>
          <p:nvPr/>
        </p:nvSpPr>
        <p:spPr>
          <a:xfrm>
            <a:off x="4773168" y="42336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Pingouin</a:t>
            </a:r>
            <a:endParaRPr lang="en-US" sz="900" dirty="0"/>
          </a:p>
        </p:txBody>
      </p:sp>
      <p:sp>
        <p:nvSpPr>
          <p:cNvPr id="68" name="Text 52"/>
          <p:cNvSpPr/>
          <p:nvPr/>
        </p:nvSpPr>
        <p:spPr>
          <a:xfrm>
            <a:off x="5669280" y="423367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ANOVA, correlations, normality tests</a:t>
            </a:r>
            <a:endParaRPr lang="en-US" sz="950" dirty="0"/>
          </a:p>
        </p:txBody>
      </p:sp>
      <p:sp>
        <p:nvSpPr>
          <p:cNvPr id="69" name="Shape 53"/>
          <p:cNvSpPr/>
          <p:nvPr/>
        </p:nvSpPr>
        <p:spPr>
          <a:xfrm>
            <a:off x="4773168" y="4599432"/>
            <a:ext cx="82296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0" name="Text 54"/>
          <p:cNvSpPr/>
          <p:nvPr/>
        </p:nvSpPr>
        <p:spPr>
          <a:xfrm>
            <a:off x="4773168" y="45994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71" name="Text 55"/>
          <p:cNvSpPr/>
          <p:nvPr/>
        </p:nvSpPr>
        <p:spPr>
          <a:xfrm>
            <a:off x="5669280" y="459943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feature analysis</a:t>
            </a:r>
            <a:endParaRPr lang="en-US" sz="950" dirty="0"/>
          </a:p>
        </p:txBody>
      </p:sp>
      <p:sp>
        <p:nvSpPr>
          <p:cNvPr id="72" name="Shape 5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3" name="Shape 57"/>
          <p:cNvSpPr/>
          <p:nvPr/>
        </p:nvSpPr>
        <p:spPr>
          <a:xfrm>
            <a:off x="0" y="4864608"/>
            <a:ext cx="347472" cy="2788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4" name="Text 58"/>
          <p:cNvSpPr/>
          <p:nvPr/>
        </p:nvSpPr>
        <p:spPr>
          <a:xfrm>
            <a:off x="457200" y="487375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Roadmap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VISUALIZATION &amp; STORYTELLING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040880" y="201168"/>
            <a:ext cx="18288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201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 – 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" y="1005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Selection &amp; Best Practices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" y="1371600"/>
            <a:ext cx="2779776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4264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Column Charts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2336" y="17190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categories &amp; rankings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9544" y="1371600"/>
            <a:ext cx="2779776" cy="658368"/>
          </a:xfrm>
          <a:prstGeom prst="rect">
            <a:avLst/>
          </a:prstGeom>
          <a:solidFill>
            <a:srgbClr val="0D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4264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19272" y="17190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trends &amp; changes over 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779776" cy="658368"/>
          </a:xfrm>
          <a:prstGeom prst="rect">
            <a:avLst/>
          </a:prstGeom>
          <a:solidFill>
            <a:srgbClr val="0D4C6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4264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36208" y="17190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pattern detection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" y="2121408"/>
            <a:ext cx="2779776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1762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02336" y="246888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Density, correlation matrices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9544" y="2121408"/>
            <a:ext cx="2779776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21762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&amp; Violin Plots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19272" y="246888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outlier detection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121408"/>
            <a:ext cx="2779776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21762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KPIs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36208" y="246888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Multi-metric business overviews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" y="29443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Tools Covered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2608" y="3310128"/>
            <a:ext cx="1636776" cy="155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92608" y="3310128"/>
            <a:ext cx="1636776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383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4048" y="3803904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Python plotting library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48256" y="3310128"/>
            <a:ext cx="1636776" cy="1554480"/>
          </a:xfrm>
          <a:prstGeom prst="rect">
            <a:avLst/>
          </a:prstGeom>
          <a:solidFill>
            <a:srgbClr val="0D4C6E"/>
          </a:solidFill>
          <a:ln w="12700">
            <a:solidFill>
              <a:srgbClr val="0D4C6E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048256" y="3310128"/>
            <a:ext cx="1636776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39696" y="3383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139696" y="3803904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visualizations in Python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03904" y="3310128"/>
            <a:ext cx="1636776" cy="1554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803904" y="3310128"/>
            <a:ext cx="1636776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95344" y="3383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895344" y="3803904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 &amp; web dashboards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59552" y="3310128"/>
            <a:ext cx="1636776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559552" y="3310128"/>
            <a:ext cx="1636776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50992" y="3383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650992" y="3803904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BI with drag-drop dashboards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0" y="3310128"/>
            <a:ext cx="1636776" cy="1554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315200" y="3310128"/>
            <a:ext cx="1636776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6640" y="3383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406640" y="3803904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business intelligence platform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4864608"/>
            <a:ext cx="347472" cy="2788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87375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Roadmap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960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ANALYTICS &amp; MACHINE LEARNING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040880" y="201168"/>
            <a:ext cx="182880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201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 –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024128"/>
            <a:ext cx="2834640" cy="3840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24128"/>
            <a:ext cx="28346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133856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11338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Basics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84048" y="1636776"/>
            <a:ext cx="6400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" y="157276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vs Unsupervised Learning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4048" y="2039112"/>
            <a:ext cx="6400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" y="197510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/ Validation split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84048" y="2441448"/>
            <a:ext cx="6400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" y="23774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(predictive modeling)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84048" y="2843784"/>
            <a:ext cx="6400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277977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(classification)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84048" y="3246120"/>
            <a:ext cx="6400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2064" y="318211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&amp; Random Forests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84048" y="3648456"/>
            <a:ext cx="6400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2064" y="358444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84048" y="4050792"/>
            <a:ext cx="6400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064" y="39867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evaluation: RMSE, Accuracy, F1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84048" y="4453128"/>
            <a:ext cx="6400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2064" y="43891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&amp; overfitting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218688" y="1024128"/>
            <a:ext cx="2834640" cy="3840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218688" y="1024128"/>
            <a:ext cx="2834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133856"/>
            <a:ext cx="347472" cy="34747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3785616" y="11338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&amp; Cloud Tools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3346704" y="1636776"/>
            <a:ext cx="640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474720" y="157276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Big Data concepts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3346704" y="2039112"/>
            <a:ext cx="640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474720" y="197510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and MapReduce overview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3346704" y="2441448"/>
            <a:ext cx="640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474720" y="23774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fundamentals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3346704" y="2843784"/>
            <a:ext cx="640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474720" y="277977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platforms: AWS, GCP, Azure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3346704" y="3246120"/>
            <a:ext cx="640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474720" y="318211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BigQuery for analytics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3346704" y="3648456"/>
            <a:ext cx="640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474720" y="358444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Lakes vs Data Warehouses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3346704" y="4050792"/>
            <a:ext cx="640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474720" y="39867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vs ELT pipelines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3346704" y="4453128"/>
            <a:ext cx="640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3474720" y="43891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introduction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6181344" y="1024128"/>
            <a:ext cx="2834640" cy="3840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6181344" y="1024128"/>
            <a:ext cx="28346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1133856"/>
            <a:ext cx="347472" cy="347472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6748272" y="11338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&amp; Automation</a:t>
            </a:r>
            <a:endParaRPr lang="en-US" sz="1150" dirty="0"/>
          </a:p>
        </p:txBody>
      </p:sp>
      <p:sp>
        <p:nvSpPr>
          <p:cNvPr id="52" name="Shape 47"/>
          <p:cNvSpPr/>
          <p:nvPr/>
        </p:nvSpPr>
        <p:spPr>
          <a:xfrm>
            <a:off x="6309360" y="1636776"/>
            <a:ext cx="6400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437376" y="157276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ML pipelines</a:t>
            </a:r>
            <a:endParaRPr lang="en-US" sz="950" dirty="0"/>
          </a:p>
        </p:txBody>
      </p:sp>
      <p:sp>
        <p:nvSpPr>
          <p:cNvPr id="54" name="Shape 49"/>
          <p:cNvSpPr/>
          <p:nvPr/>
        </p:nvSpPr>
        <p:spPr>
          <a:xfrm>
            <a:off x="6309360" y="2039112"/>
            <a:ext cx="6400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6437376" y="197510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techniques</a:t>
            </a:r>
            <a:endParaRPr lang="en-US" sz="950" dirty="0"/>
          </a:p>
        </p:txBody>
      </p:sp>
      <p:sp>
        <p:nvSpPr>
          <p:cNvPr id="56" name="Shape 51"/>
          <p:cNvSpPr/>
          <p:nvPr/>
        </p:nvSpPr>
        <p:spPr>
          <a:xfrm>
            <a:off x="6309360" y="2441448"/>
            <a:ext cx="6400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6437376" y="23774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(PCA)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6309360" y="2843784"/>
            <a:ext cx="6400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6437376" y="277977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basics</a:t>
            </a:r>
            <a:endParaRPr lang="en-US" sz="950" dirty="0"/>
          </a:p>
        </p:txBody>
      </p:sp>
      <p:sp>
        <p:nvSpPr>
          <p:cNvPr id="60" name="Shape 55"/>
          <p:cNvSpPr/>
          <p:nvPr/>
        </p:nvSpPr>
        <p:spPr>
          <a:xfrm>
            <a:off x="6309360" y="3246120"/>
            <a:ext cx="6400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6437376" y="318211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APIs: data collection &amp; integration</a:t>
            </a:r>
            <a:endParaRPr lang="en-US" sz="950" dirty="0"/>
          </a:p>
        </p:txBody>
      </p:sp>
      <p:sp>
        <p:nvSpPr>
          <p:cNvPr id="62" name="Shape 57"/>
          <p:cNvSpPr/>
          <p:nvPr/>
        </p:nvSpPr>
        <p:spPr>
          <a:xfrm>
            <a:off x="6309360" y="3648456"/>
            <a:ext cx="6400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6437376" y="358444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with BeautifulSoup</a:t>
            </a:r>
            <a:endParaRPr lang="en-US" sz="950" dirty="0"/>
          </a:p>
        </p:txBody>
      </p:sp>
      <p:sp>
        <p:nvSpPr>
          <p:cNvPr id="64" name="Shape 59"/>
          <p:cNvSpPr/>
          <p:nvPr/>
        </p:nvSpPr>
        <p:spPr>
          <a:xfrm>
            <a:off x="6309360" y="4050792"/>
            <a:ext cx="6400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6437376" y="39867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 scripting</a:t>
            </a:r>
            <a:endParaRPr lang="en-US" sz="950" dirty="0"/>
          </a:p>
        </p:txBody>
      </p:sp>
      <p:sp>
        <p:nvSpPr>
          <p:cNvPr id="66" name="Shape 61"/>
          <p:cNvSpPr/>
          <p:nvPr/>
        </p:nvSpPr>
        <p:spPr>
          <a:xfrm>
            <a:off x="6309360" y="4453128"/>
            <a:ext cx="6400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6437376" y="43891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version control</a:t>
            </a:r>
            <a:endParaRPr lang="en-US" sz="950" dirty="0"/>
          </a:p>
        </p:txBody>
      </p:sp>
      <p:sp>
        <p:nvSpPr>
          <p:cNvPr id="68" name="Shape 6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0" y="4864608"/>
            <a:ext cx="347472" cy="2788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0" name="Text 65"/>
          <p:cNvSpPr/>
          <p:nvPr/>
        </p:nvSpPr>
        <p:spPr>
          <a:xfrm>
            <a:off x="457200" y="487375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Roadmap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CAPSTONE PROJECT &amp; PORTFOLIO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040880" y="201168"/>
            <a:ext cx="18288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201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 –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024128"/>
            <a:ext cx="5120640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24128"/>
            <a:ext cx="512064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133856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6112" y="113385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Phases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93192" y="1618488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68096" y="158191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68096" y="1819656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real-world dataset and define the analytical question to solve.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93192" y="2139696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3192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68096" y="21031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Cleaning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68096" y="2340864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data from APIs/databases. Clean, validate, and prepare for analysis.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93192" y="2660904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3192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68096" y="262432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68096" y="286207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full EDA — visualize distributions, detect outliers, find patterns.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93192" y="3182112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93192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68096" y="314553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/ ML Analysis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68096" y="3383280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tests or ML models. Validate assumptions and evaluate performance.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93192" y="370332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93192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68096" y="366674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Dashboard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68096" y="3904488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dashboards in Tableau or Power BI with clear visuals.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93192" y="4224528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93192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68096" y="418795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Portfolio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68096" y="4425696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findings to class. Upload to GitHub. Build LinkedIn portfolio.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577840" y="1024128"/>
            <a:ext cx="3291840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577840" y="1024128"/>
            <a:ext cx="32918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133856"/>
            <a:ext cx="384048" cy="384048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6190488" y="11338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Career Tools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87568" y="1581912"/>
            <a:ext cx="3044952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673352"/>
            <a:ext cx="274320" cy="27432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108192" y="162763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6108192" y="185623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notebooks, and README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5687568" y="2203704"/>
            <a:ext cx="3044952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2295144"/>
            <a:ext cx="274320" cy="27432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6108192" y="224942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6108192" y="247802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interactive dashboards</a:t>
            </a:r>
            <a:endParaRPr lang="en-US" sz="900" dirty="0"/>
          </a:p>
        </p:txBody>
      </p:sp>
      <p:sp>
        <p:nvSpPr>
          <p:cNvPr id="48" name="Shape 42"/>
          <p:cNvSpPr/>
          <p:nvPr/>
        </p:nvSpPr>
        <p:spPr>
          <a:xfrm>
            <a:off x="5687568" y="2825496"/>
            <a:ext cx="3044952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2916936"/>
            <a:ext cx="274320" cy="274320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6108192" y="287121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Profile</a:t>
            </a:r>
            <a:endParaRPr lang="en-US" sz="1100" dirty="0"/>
          </a:p>
        </p:txBody>
      </p:sp>
      <p:sp>
        <p:nvSpPr>
          <p:cNvPr id="51" name="Text 44"/>
          <p:cNvSpPr/>
          <p:nvPr/>
        </p:nvSpPr>
        <p:spPr>
          <a:xfrm>
            <a:off x="6108192" y="309981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certifications, skills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5687568" y="3447288"/>
            <a:ext cx="3044952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3538728"/>
            <a:ext cx="274320" cy="274320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6108192" y="34930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Profile</a:t>
            </a:r>
            <a:endParaRPr lang="en-US" sz="1100" dirty="0"/>
          </a:p>
        </p:txBody>
      </p:sp>
      <p:sp>
        <p:nvSpPr>
          <p:cNvPr id="55" name="Text 47"/>
          <p:cNvSpPr/>
          <p:nvPr/>
        </p:nvSpPr>
        <p:spPr>
          <a:xfrm>
            <a:off x="6108192" y="37216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Competitions and public notebooks</a:t>
            </a:r>
            <a:endParaRPr lang="en-US" sz="900" dirty="0"/>
          </a:p>
        </p:txBody>
      </p:sp>
      <p:sp>
        <p:nvSpPr>
          <p:cNvPr id="56" name="Shape 48"/>
          <p:cNvSpPr/>
          <p:nvPr/>
        </p:nvSpPr>
        <p:spPr>
          <a:xfrm>
            <a:off x="5687568" y="4069080"/>
            <a:ext cx="3044952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0720" y="4160520"/>
            <a:ext cx="274320" cy="274320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6108192" y="41148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Portfolio</a:t>
            </a:r>
            <a:endParaRPr lang="en-US" sz="1100" dirty="0"/>
          </a:p>
        </p:txBody>
      </p:sp>
      <p:sp>
        <p:nvSpPr>
          <p:cNvPr id="59" name="Text 50"/>
          <p:cNvSpPr/>
          <p:nvPr/>
        </p:nvSpPr>
        <p:spPr>
          <a:xfrm>
            <a:off x="6108192" y="43434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with all case studies</a:t>
            </a:r>
            <a:endParaRPr lang="en-US" sz="900" dirty="0"/>
          </a:p>
        </p:txBody>
      </p:sp>
      <p:sp>
        <p:nvSpPr>
          <p:cNvPr id="60" name="Shape 5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Shape 52"/>
          <p:cNvSpPr/>
          <p:nvPr/>
        </p:nvSpPr>
        <p:spPr>
          <a:xfrm>
            <a:off x="0" y="4864608"/>
            <a:ext cx="347472" cy="2788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2" name="Text 53"/>
          <p:cNvSpPr/>
          <p:nvPr/>
        </p:nvSpPr>
        <p:spPr>
          <a:xfrm>
            <a:off x="457200" y="487375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Roadmap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&amp; TECHNOLOGIES ECOSYSTEM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2779776" cy="186537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2779776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338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4048" y="1591056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91056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719072" y="1591056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19072" y="1591056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2139696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139696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719072" y="2139696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19072" y="2139696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82112" y="1024128"/>
            <a:ext cx="2779776" cy="1865376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82112" y="1024128"/>
            <a:ext cx="2779776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1338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91840" y="1591056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591056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26864" y="1591056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1591056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91840" y="2139696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139696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26864" y="2139696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6864" y="2139696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89904" y="1024128"/>
            <a:ext cx="2779776" cy="1865376"/>
          </a:xfrm>
          <a:prstGeom prst="rect">
            <a:avLst/>
          </a:prstGeom>
          <a:solidFill>
            <a:srgbClr val="0D4C6E"/>
          </a:solidFill>
          <a:ln w="12700">
            <a:solidFill>
              <a:srgbClr val="0D4C6E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9904" y="1024128"/>
            <a:ext cx="2779776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11338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99632" y="1591056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1591056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534656" y="1591056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34656" y="1591056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99632" y="2139696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2139696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534656" y="2139696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34656" y="2139696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3017520"/>
            <a:ext cx="2779776" cy="18653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3017520"/>
            <a:ext cx="2779776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3127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384048" y="3584448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358444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719072" y="3584448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19072" y="358444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4048" y="4133088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413308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719072" y="4133088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19072" y="413308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182112" y="3017520"/>
            <a:ext cx="2779776" cy="18653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182112" y="3017520"/>
            <a:ext cx="2779776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0" y="3127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3291840" y="3584448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91840" y="358444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626864" y="3584448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26864" y="358444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291840" y="4133088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91840" y="413308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626864" y="4133088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26864" y="413308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089904" y="3017520"/>
            <a:ext cx="2779776" cy="18653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089904" y="3017520"/>
            <a:ext cx="2779776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99632" y="3127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AI Tools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6199632" y="3584448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99632" y="358444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7534656" y="3584448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34656" y="358444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199632" y="4133088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99632" y="413308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534656" y="4133088"/>
            <a:ext cx="126187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34656" y="413308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0" y="4864608"/>
            <a:ext cx="347472" cy="2788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" y="487375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Roadmap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ASSESSMENTS &amp; LEARNING OUTCOMES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206240" cy="3840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42062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3385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11338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Structure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02336" y="1591056"/>
            <a:ext cx="5029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2336" y="15910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5840" y="16002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Quizzes (×12)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05840" y="181965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Concept-check quizzes each week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02336" y="2103120"/>
            <a:ext cx="5029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2336" y="21031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05840" y="211226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Assignments (×5)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05840" y="23317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coding &amp; SQL exercises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02336" y="2615184"/>
            <a:ext cx="5029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2336" y="261518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05840" y="26243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Project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05840" y="284378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report on a provided dataset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02336" y="3127248"/>
            <a:ext cx="5029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2336" y="31272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05840" y="313639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Task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005840" y="335584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 Tableau or Power BI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02336" y="3639312"/>
            <a:ext cx="5029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02336" y="363931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05840" y="364845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005840" y="386791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project + presentation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02336" y="4151376"/>
            <a:ext cx="5029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02336" y="415137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005840" y="416052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Participation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005840" y="437997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Discussions, peer review, exercises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663440" y="1024128"/>
            <a:ext cx="4206240" cy="3840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63440" y="1024128"/>
            <a:ext cx="4206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33856"/>
            <a:ext cx="347472" cy="34747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239512" y="11338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30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1655064"/>
            <a:ext cx="201168" cy="20116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047488" y="1591056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transform, and analyze large datasets with Python &amp; SQL</a:t>
            </a:r>
            <a:endParaRPr lang="en-US" sz="95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2057400"/>
            <a:ext cx="201168" cy="201168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047488" y="1993392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full EDA to uncover patterns, trends, and anomalies</a:t>
            </a:r>
            <a:endParaRPr lang="en-US" sz="95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2459736"/>
            <a:ext cx="201168" cy="20116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047488" y="2395728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statistical tests to validate hypotheses and insights</a:t>
            </a:r>
            <a:endParaRPr lang="en-US" sz="95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2862072"/>
            <a:ext cx="201168" cy="20116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047488" y="2798064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compelling interactive dashboards and visualizations</a:t>
            </a:r>
            <a:endParaRPr lang="en-US" sz="950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3264408"/>
            <a:ext cx="201168" cy="20116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5047488" y="320040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predictive models using core ML algorithms</a:t>
            </a:r>
            <a:endParaRPr lang="en-US" sz="95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3666744"/>
            <a:ext cx="201168" cy="20116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047488" y="3602736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insights clearly to non-technical audiences</a:t>
            </a:r>
            <a:endParaRPr lang="en-US" sz="950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069080"/>
            <a:ext cx="201168" cy="201168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5047488" y="4005072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end-to-end analytics projects professionally</a:t>
            </a:r>
            <a:endParaRPr lang="en-US" sz="950" dirty="0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471416"/>
            <a:ext cx="201168" cy="201168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5047488" y="4407408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portfolio that showcases your skills to employers</a:t>
            </a:r>
            <a:endParaRPr lang="en-US" sz="950" dirty="0"/>
          </a:p>
        </p:txBody>
      </p:sp>
      <p:sp>
        <p:nvSpPr>
          <p:cNvPr id="53" name="Shape 4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Shape 42"/>
          <p:cNvSpPr/>
          <p:nvPr/>
        </p:nvSpPr>
        <p:spPr>
          <a:xfrm>
            <a:off x="0" y="4864608"/>
            <a:ext cx="347472" cy="2788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Text 43"/>
          <p:cNvSpPr/>
          <p:nvPr/>
        </p:nvSpPr>
        <p:spPr>
          <a:xfrm>
            <a:off x="457200" y="487375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Roadmap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CAREER PATHWAYS AFTER THIS COURSE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1627632" cy="363931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162763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52144"/>
            <a:ext cx="1444752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52144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$70K–$110K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395728"/>
            <a:ext cx="1444752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8716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706624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Excel, Tableau, Python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3337560"/>
            <a:ext cx="1444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data to support business decisions across all industries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029968" y="1024128"/>
            <a:ext cx="1627632" cy="3639312"/>
          </a:xfrm>
          <a:prstGeom prst="rect">
            <a:avLst/>
          </a:prstGeom>
          <a:solidFill>
            <a:srgbClr val="0D4C6E"/>
          </a:solidFill>
          <a:ln w="12700">
            <a:solidFill>
              <a:srgbClr val="0D4C6E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29968" y="1024128"/>
            <a:ext cx="162763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21408" y="1152144"/>
            <a:ext cx="1444752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21408" y="1152144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$80K–$120K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21408" y="166420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Developer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21408" y="2395728"/>
            <a:ext cx="1444752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21408" y="248716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21408" y="2706624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SQL, ETL, Modeling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121408" y="3337560"/>
            <a:ext cx="1444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BI systems and dashboards for enterprise organisations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785616" y="1024128"/>
            <a:ext cx="1627632" cy="36393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85616" y="1024128"/>
            <a:ext cx="162763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77056" y="1152144"/>
            <a:ext cx="1444752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77056" y="1152144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$95K–$145K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77056" y="166420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877056" y="2395728"/>
            <a:ext cx="1444752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77056" y="248716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77056" y="2706624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ML, Stats, Cloud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77056" y="3337560"/>
            <a:ext cx="1444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predictive models and advanced analytics solutions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541264" y="1024128"/>
            <a:ext cx="1627632" cy="36393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41264" y="1024128"/>
            <a:ext cx="162763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32704" y="1152144"/>
            <a:ext cx="1444752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32704" y="1152144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$100K–$150K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32704" y="166420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32704" y="2395728"/>
            <a:ext cx="1444752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32704" y="248716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32704" y="2706624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Spark, Airflow, Cloud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632704" y="3337560"/>
            <a:ext cx="1444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maintain data pipelines and infrastructure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296912" y="1024128"/>
            <a:ext cx="1627632" cy="363931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96912" y="1024128"/>
            <a:ext cx="162763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88352" y="1152144"/>
            <a:ext cx="1444752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88352" y="1152144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$90K–$140K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388352" y="166420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Consultant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388352" y="2395728"/>
            <a:ext cx="1444752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88352" y="248716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88352" y="2706624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domains + communication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388352" y="3337560"/>
            <a:ext cx="1444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 organisations on data strategy and implementation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4864608"/>
            <a:ext cx="347472" cy="2788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87375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Roadmap  |  Instructor: Muhammad Kamil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E3A5F">
              <a:alpha val="5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7548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400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JOURNEY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BEGINS NOW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5486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99339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12-week roadmap is your complete blueprint to become a confident,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job-ready Data Analyst. Master the skills. Build the portfolio. Own the career.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24128" y="2907792"/>
            <a:ext cx="640080" cy="6400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971800"/>
            <a:ext cx="438912" cy="4389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86968" y="3602736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Python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688336" y="2907792"/>
            <a:ext cx="640080" cy="6400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776" y="2971800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51176" y="3602736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Stats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352544" y="2907792"/>
            <a:ext cx="640080" cy="6400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2971800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15384" y="3602736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016752" y="2907792"/>
            <a:ext cx="640080" cy="6400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192" y="2971800"/>
            <a:ext cx="438912" cy="4389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879592" y="3602736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Basics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7680960" y="2907792"/>
            <a:ext cx="640080" cy="6400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2971800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43800" y="3602736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Projects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566928" y="4005072"/>
            <a:ext cx="594360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" y="4096512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70432" y="404164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begins next — let's build something amazing together.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1170432" y="427939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Muhammad Kamil, Instructor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0" y="4809744"/>
            <a:ext cx="9144000" cy="3337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65760" y="481888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12-Week Roadmap  |  6 Phases  |  40+ Topics  |  Instructor: Muhammad Kamil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1827</Words>
  <Application>Microsoft Office PowerPoint</Application>
  <PresentationFormat>On-screen Show (16:9)</PresentationFormat>
  <Paragraphs>425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– 12-Week Course Roadmap</dc:title>
  <dc:subject>PptxGenJS Presentation</dc:subject>
  <dc:creator>PptxGenJS</dc:creator>
  <cp:lastModifiedBy>kamil khan</cp:lastModifiedBy>
  <cp:revision>2</cp:revision>
  <dcterms:created xsi:type="dcterms:W3CDTF">2026-02-11T14:37:25Z</dcterms:created>
  <dcterms:modified xsi:type="dcterms:W3CDTF">2026-02-12T16:30:47Z</dcterms:modified>
</cp:coreProperties>
</file>